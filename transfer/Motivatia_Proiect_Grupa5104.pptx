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ere" id="{847bcc1b-1c74-bfcb-db8c-3c00c9e7b746}">
          <p14:sldIdLst>
            <p14:sldId id="256"/>
            <p14:sldId id="257"/>
          </p14:sldIdLst>
        </p14:section>
        <p14:section name="Partea 1" id="{c475f42d-8a1b-c4c9-2b78-ed19d68ee12d}">
          <p14:sldIdLst>
            <p14:sldId id="258"/>
            <p14:sldId id="259"/>
            <p14:sldId id="260"/>
            <p14:sldId id="261"/>
            <p14:sldId id="262"/>
            <p14:sldId id="263"/>
          </p14:sldIdLst>
        </p14:section>
        <p14:section name="Partea 2" id="{72e3df1a-6b03-72e7-a703-d06cfca69a92}">
          <p14:sldIdLst>
            <p14:sldId id="264"/>
            <p14:sldId id="265"/>
            <p14:sldId id="266"/>
            <p14:sldId id="267"/>
            <p14:sldId id="268"/>
            <p14:sldId id="269"/>
          </p14:sldIdLst>
        </p14:section>
        <p14:section name="Partea 3" id="{b3b25a3c-da6c-a2ab-a2b6-ccd09884fcfb}">
          <p14:sldIdLst>
            <p14:sldId id="270"/>
            <p14:sldId id="271"/>
            <p14:sldId id="272"/>
            <p14:sldId id="273"/>
            <p14:sldId id="274"/>
            <p14:sldId id="275"/>
          </p14:sldIdLst>
        </p14:section>
        <p14:section name="Partea 4" id="{691f9720-4eef-3b74-5017-f64c47e6f88c}">
          <p14:sldIdLst>
            <p14:sldId id="276"/>
            <p14:sldId id="277"/>
            <p14:sldId id="278"/>
            <p14:sldId id="279"/>
            <p14:sldId id="280"/>
            <p14:sldId id="281"/>
          </p14:sldIdLst>
        </p14:section>
        <p14:section name="Activitate practică" id="{6f93deb8-96dd-ec96-6f63-f4a75cbb1853}">
          <p14:sldIdLst>
            <p14:sldId id="282"/>
            <p14:sldId id="283"/>
          </p14:sldIdLst>
        </p14:section>
        <p14:section name="Încheiere" id="{55e0d48a-bb42-131c-0b29-4bc7140d9736}">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D6D6D"/>
                </a:solidFill>
                <a:latin typeface="+mn-lt"/>
              </a:defRPr>
            </a:pPr>
            <a:r>
              <a:rPr sz="1200" b="0" i="0" u="none" strike="noStrike">
                <a:solidFill>
                  <a:srgbClr val="6D6D6D"/>
                </a:solidFill>
                <a:latin typeface="+mn-lt"/>
              </a:rPr>
              <a:t>Yerkes și Dodson, 1908</a:t>
            </a:r>
          </a:p>
        </c:rich>
      </c:tx>
      <c:layout/>
      <c:overlay val="0"/>
    </c:title>
    <c:autoTitleDeleted val="0"/>
    <c:plotArea>
      <c:layout/>
      <c:lineChart>
        <c:varyColors val="0"/>
        <c:ser>
          <c:idx val="0"/>
          <c:order val="0"/>
          <c:tx>
            <c:strRef>
              <c:f>Sheet1!$B$1</c:f>
              <c:strCache>
                <c:ptCount val="1"/>
                <c:pt idx="0">
                  <c:v>Rezultate</c:v>
                </c:pt>
              </c:strCache>
            </c:strRef>
          </c:tx>
          <c:spPr>
            <a:solidFill>
              <a:srgbClr val="2E7D32"/>
            </a:solidFill>
            <a:ln w="38100" cap="flat">
              <a:solidFill>
                <a:srgbClr val="2E7D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Sheet1!$A$2:$A$12</c:f>
              <c:multiLvlStrCache>
                <c:ptCount val="11"/>
                <c:lvl>
                  <c:pt idx="0">
                    <c:v>puțină</c:v>
                  </c:pt>
                  <c:pt idx="1">
                    <c:v> </c:v>
                  </c:pt>
                  <c:pt idx="2">
                    <c:v> </c:v>
                  </c:pt>
                  <c:pt idx="3">
                    <c:v> </c:v>
                  </c:pt>
                  <c:pt idx="4">
                    <c:v> </c:v>
                  </c:pt>
                  <c:pt idx="5">
                    <c:v>potrivită</c:v>
                  </c:pt>
                  <c:pt idx="6">
                    <c:v> </c:v>
                  </c:pt>
                  <c:pt idx="7">
                    <c:v> </c:v>
                  </c:pt>
                  <c:pt idx="8">
                    <c:v> </c:v>
                  </c:pt>
                  <c:pt idx="9">
                    <c:v> </c:v>
                  </c:pt>
                  <c:pt idx="10">
                    <c:v>prea multă</c:v>
                  </c:pt>
                </c:lvl>
              </c:multiLvlStrCache>
            </c:multiLvlStrRef>
          </c:cat>
          <c:val>
            <c:numRef>
              <c:f>Sheet1!$B$2:$B$12</c:f>
              <c:numCache>
                <c:formatCode>General</c:formatCode>
                <c:ptCount val="11"/>
                <c:pt idx="0">
                  <c:v>4</c:v>
                </c:pt>
                <c:pt idx="1">
                  <c:v>14</c:v>
                </c:pt>
                <c:pt idx="2">
                  <c:v>32</c:v>
                </c:pt>
                <c:pt idx="3">
                  <c:v>61</c:v>
                </c:pt>
                <c:pt idx="4">
                  <c:v>88</c:v>
                </c:pt>
                <c:pt idx="5">
                  <c:v>100</c:v>
                </c:pt>
                <c:pt idx="6">
                  <c:v>88</c:v>
                </c:pt>
                <c:pt idx="7">
                  <c:v>61</c:v>
                </c:pt>
                <c:pt idx="8">
                  <c:v>32</c:v>
                </c:pt>
                <c:pt idx="9">
                  <c:v>14</c:v>
                </c:pt>
                <c:pt idx="10">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D6D6D"/>
                    </a:solidFill>
                    <a:latin typeface="+mn-lt"/>
                  </a:defRPr>
                </a:pPr>
                <a:r>
                  <a:rPr sz="1100" b="0" i="0" u="none" strike="noStrike">
                    <a:solidFill>
                      <a:srgbClr val="6D6D6D"/>
                    </a:solidFill>
                    <a:latin typeface="+mn-lt"/>
                  </a:rPr>
                  <a:t>motivația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9D9D9"/>
              </a:solidFill>
              <a:prstDash val="solid"/>
              <a:round/>
            </a:ln>
          </c:spPr>
        </c:majorGridlines>
        <c:title>
          <c:tx>
            <c:rich>
              <a:bodyPr/>
              <a:lstStyle/>
              <a:p>
                <a:pPr>
                  <a:defRPr sz="1100" b="0" i="0" u="none" strike="noStrike">
                    <a:solidFill>
                      <a:srgbClr val="6D6D6D"/>
                    </a:solidFill>
                    <a:latin typeface="+mn-lt"/>
                  </a:defRPr>
                </a:pPr>
                <a:r>
                  <a:rPr sz="1100" b="0" i="0" u="none" strike="noStrike">
                    <a:solidFill>
                      <a:srgbClr val="6D6D6D"/>
                    </a:solidFill>
                    <a:latin typeface="+mn-lt"/>
                  </a:rPr>
                  <a:t>rezultatele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D6D6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titlu. Completați numele membrilor în dreapta (înlocuiți liniile). Primul vorbitor se prezintă, prezintă echipa și spune în două propoziții ce urmează: patru părți și o activitate practică la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Prezentați pe scurt structura: patru părți teoretice, fiecare susținută de un membru, apoi activitatea practică la care participă toată grupa. Spuneți că la final este bibliografia. Nu intrați în conținut aici, maximum un minut.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tranziție. Membrul 1 preia cuvântul.
Bună ziua. Proiectul nostru e despre motivație: ce este, de ce avem nevoie de ea și cum o folosește un profesor, mai ales la educație fizică. Eu încep cu partea de bază: ce este motivația, din ce e făcută și cum merge. Colegii mei continuă cu teoriile care o explică, cu rolul ei la ore și cu ce poate face concret un profesor la clasă sau în sala de sport. La final vom face împreună o activitate practică.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 pornim de la o situație simplă. Doi elevi din aceeași clasă, cam la fel de bine făcuți, primesc aceeași sarcină: să alerge 800 de metri. Unul termină, celălalt se oprește după două ture. Diferența nu e că unul poate și celălalt nu. Diferența e de motivație. Și de asta contează subiectul: motivația e cea care face dintr-un lucru pe care îl poți un lucru pe care chiar îl faci. Fără ea, orice talent rămâne nefolosit.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Definiția cu care lucrăm e asta: motivația e tot ce ne pune în mișcare din interior, ne dă o direcție și ne ține pe drum. Trei lucruri, deci: ne pornește, ne arată încotro și ne ține acolo când vine greul. Motivația răspunde la întrebarea „de ce” facem ceva, nu la „cum” facem. Un lucru important: motivația nu se vede direct. Nu-i poți lua cuiva motivația ca pe tensiune, cu un aparat. O deducem din ce face: cât efort depune, cât timp rezistă și ce alege când are de 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punct e structura motivațională a personalității. Sună greu, dar înseamnă doar că motivația nu e un singur lucru, ci mai multe, așezate pe niveluri, de la cele simple la cele mari. Așa o descriu Cosmovici și Zlate. La bază stau trebuințele: îți lipsește ceva și simți asta. Trebuința de apă, de hrană, de mișcare, dar și trebuința de apartenență la un grup sau de apreciere. Când îți dai seama ce îți lipsește și te gândești la un lucru anume care ți-ar rezolva lipsa, trebuința devine motiv. Motivul e cel care te împinge efectiv să faci ceva. Mai sus sunt interesele: lucrurile spre care te tragi mereu, unul spre sport, altul spre muzică. Se formează în timp și te țin constant. Apoi convingerile, idei la care ții și pe care le aperi: de exemplu convingerea că munca se răsplătește. Și în vârf, idealurile: cum ai vrea să fii și ce ai vrea să ajungi. Un copil care vrea „să ajungă ca antrenorul lui” are un ideal care îi pune în ordine tot ce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contează asta pentru un profesor? Pentru că fiecare elev e aranjat altfel. Unul vrea să se afirme, altul vrea să se simtă în siguranță, altuia îi place pur și simplu jocul. Același lucru, de exemplu o întrecere, pe primul îl pornește și pe al doilea îl blochează. Un profesor bun învață să citească ce îl mișcă pe fiecare elev.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Motivația face patru lucruri. Unu, activarea: ne scoate din stat și ne dă energie. Doi, orientarea: alege o direcție, un scop. Trei, susținerea: ține efortul în timp, chiar când apar piedici. Patru, reglarea: potrivește efortul după situație. Când un sportiv își dozează puterile într-o cursă lungă, asta e reglarea.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tranziție. Membrul 2 preia cuvântul.
Mulțumesc. Colega mea a explicat ce este motivația. Eu o să arăt cum au explicat-o psihologii, pentru că nu există o singură teorie corectă. Fiecare a prins o bucată din adevăr și fiecare îi dă profesorului altă unealtă. Trec prin cinci: cea behavioristă, cea umanistă, cea cognitivă, teoria autodeterminării și teoria autoeficacității. Le explic pe rând, pe înțeles.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e cea behavioristă, a lui Skinner. Ideea e simplă: un comportament urmat de o recompensă tinde să se repete, iar un comportament urmat de o pedeapsă sau de nimic tinde să dispară. Pentru Skinner, motivația este practic istoricul recompenselor și pedepselor pe care le-a primit cineva. În școală asta înseamnă: laudă, puncte, steluțe, recompense, feedback pe loc. În sala de sport funcționează foarte bine: un „bravo” spus imediat după o execuție corectă întărește execuția. Limita se vede repede: dacă dispare recompensa, dispare și comportamentul. Elevul care face sport doar pentru notă se oprește când nu mai e notă.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doua e cea umanistă, cu Abraham Maslow și piramida lui, pe care sigur ați mai văzut-o. Maslow spune că nevoile omului sunt așezate pe cinci trepte. La bază, trebuințele fiziologice: hrană, apă, somn. Apoi siguranța: fizică și emoțională. Apoi apartenența: să fii acceptat de grup. Apoi stima: respectul celorlalți și respectul de sine. Și în vârf, autorealizarea: să devii ceea ce poți deveni. Regula e că treapta de sus apare abia după ce treptele de jos sunt rezolvate. Pentru profesor, asta înseamnă ceva foarte practic: un elev flămând, nedormit sau speriat nu este disponibil pentru învățare, oricât de bună ar fi lecția. Un copil căruia îi e frică că râd ceilalți de el la ora de sport nu se bagă, pentru că nu se simte în siguranță. Întâi clasa trebuie să fie un loc sigur. Performanța vine după.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treia e cea cognitivă, care se uită la cum gândim despre reușită și eșec. Atkinson spune că în noi se bat două forțe: dorința de a reuși și frica de a greși. Elevii la care e mai tare dorința de a reuși aleg sarcini mijlocii, unde reușita depinde de ei. Cei la care e mai tare frica aleg ori ceva foarte ușor, ori ceva imposibil, pentru că în ambele cazuri nu-i poate învinovăți nimeni. Weiner a dus ideea mai departe cu teoria atribuirii, adică pe cine dai vina. Contează enorm. Dacă elevul își spune „am pierdut pentru că nu m-am antrenat destul”, motivația rămâne, pentru că data viitoare poate schimba ceva. Dacă își spune „n-am talent” sau „arbitrul a fost părtinitor”, motivația moare, pentru că nu mai are ce face. De aici iese o regulă simplă pentru profesor: lauzi efortul, nu talentul.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patra e teoria autodeterminării, a lui Deci și Ryan, probabil cea mai folosită teorie a motivației din ultimii patruzeci de ani. Ei spun că toți oamenii au trei nevoi de bază. Autonomia: să simți că tu alegi, că nu ești împins. Competența: să simți că te descurci, că progresezi. Relaționarea: să te simți legat de ceilalți, acceptat. Când aceste trei nevoi sunt satisfăcute, motivația devine intrinsecă și durabilă. Când nu sunt împlinite, apare ce ei numesc amotivare: elevul nu mai vede rostul. Teoria descrie și o scară: de la lipsa totală de motivație, prin motivația din exterior, până la cea din interior. Profesorul poate urca elevul pe scara asta dându-i de ales, sarcini pe măsura lui și un grup în care se simte acceptat.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cincea e teoria autoeficacității, a lui Albert Bandura. Autoeficacitate înseamnă, simplu, încrederea că „pot face asta”. Bandura a arătat că încrederea asta spune mai bine decât talentul real cât se va strădui cineva și cât timp va rezista. Încrederea asta vine din patru locuri. Cel mai tare: am reușit eu înainte, deci cred că pot din nou. Al doilea: văd pe cineva ca mine că reușește, deci pot și eu. Al treilea: mă încurajează cineva în care am încredere. Al patrulea: cum mă simt fizic, oboseala și emoțiile scad încrederea. Pentru educația fizică asta înseamnă sarcini din ce în ce mai grele, dar cu reușită sigură la început, ca elevul să adune reușite.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tranziție. Membrul 3 preia cuvântul.
Mulțumesc. Până acum am văzut ce este motivația și cum o explică teoriile. Eu vorbesc despre rolul ei în activitatea instructiv-educativă, adică, pe românește, în ce se întâmplă la oră, între profesor, elev și ce e de învățat.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Putem privi lecția ca un triunghi cu trei vârfuri: elevul, profesorul și conținutul. Motivația umblă între ele. Elevul vine la oră cu ce are el: nevoi, interese, frici, păreri despre sine, cum a arătat colega mea în prima parte. Profesorul nu stă pe margine: el face atmosfera și e el însuși un exemplu. Un profesor care vine plictisit la oră transmite plictiseala. Unul căruia îi place ce face transmite și asta, fără să vrea. Iar ce e de învățat, fie că e un exercițiu de gimnastică sau o regulă de joc, place sau nu place în funcție de cum e prezentat. Învățarea adevărată se întâmplă doar unde se întâlnesc toate trei.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 ne uităm mai atent la ce îl face pe elev să învețe. Ioan Neacșu, în cartea lui despre motivație și învățare, descrie mai multe feluri de motive. Cele cognitive: curiozitatea, vrei să înțelegi cum merge ceva. Cele afective: vrei să te aprecieze profesorul, să te accepte colegii. Cele de autorealizare: vrei să fii mai bun, să te depășești. Și, din păcate, cele negative: teama de notă slabă, de pedeapsă, de rușine în fața clasei. Motivele negative merg pe termen scurt, dar au un cost. Elevul învață să evite, nu să caute. Când tot ce îl mișcă este frica, în momentul în care dispare controlul dispare și efortul.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Educația fizică e altfel decât celelalte materii, și Mihai Epuran a scris mult despre asta. În sport, motivația se vede direct, în efort. Nu te poți preface că alergi. De asta sportul e un loc foarte bun ca să vezi motivația și ca să o crești. Alt lucru: copiilor le place să se miște de la natură. Copiii mici aleargă de plăcere. Plăcerea asta se pierde dacă e sufocată de exerciții plictisitoare, de comparații mereu cu alții și de critică. Mulți adolescenți care spun că urăsc sportul au iubit mișcarea la cinci ani. Cineva i-a dezvățat pe drum. Apoi întrecerea: pe unii elevi îi pornește tare, pe alții îi blochează de tot, mai ales pe cei care pierd mereu. Și încă ceva: în sport corpul e la vedere. La adolescenți, rușinea de propriul corp e una dintre cele mai mari frâne, și profesorul trebuie să țină cont de asta când face activitățile.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apare ideea de climat motivațional, de la Carole Ames, dusă în sport de Joan Duda. Climat înseamnă atmosfera de la oră, și profesorul o face, de multe ori fără să-și dea seama, în unul din două feluri. Climatul de măiestrie: reușita înseamnă că ai progresat tu, că te-ai străduit, că ai învățat ceva nou. Climatul de ego: reușita înseamnă că ești mai bun decât ceilalți. Studiile sunt clare. În climatul de măiestrie elevii rezistă mai mult, le place mai mult și au mai puține emoții, toți. Climatul de ego îi pornește doar pe cei câțiva care câștigă mereu, iar pe restul îi învață să se ferească. Asta nu înseamnă că scoatem competiția. Ne întrecem în continuare, dar ce se numără la final este cu cât ai progresat tu față de 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să faci un climat de măiestrie există un model practic, TARGET, de la Epstein și Ames. Fiecare literă e un buton pe care îl are profesorul în mână. T, de la Task, sarcina: sarcini variate, cu dificultate adaptată, ca fiecare să aibă ceva de câștigat. A, de la Authority, autoritate: elevii au un cuvânt de spus, pot alege între variante. R, de la Recognition, recunoaștere: recunoaștem progresul și efortul, de preferat în privat, nu doar pe cei mai buni în fața tuturor. G, de la Grouping, grupare: grupuri mixte, schimbate des, nu „cei buni” și „cei slabi”. E, de la Evaluation, evaluare: raportată la propriul progres, nu la clasament. T, de la Time, timp: timp suficient pentru a învăța, fără grabă. Un profesor care trece prin cele șase litere când își pregătește ora face, aproape fără să vrea, o atmosferă în care elevii vin cu plăcere.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tranziție. Membrul 4 preia cuvântul.
Mulțumesc. Am ajuns la partea cea mai practică: ce face profesorul, concret, ca să motiveze. Prezint cinci lucruri și apoi un caz real. Toate vin din teoriile prezentate de colegii mei și spun la fiecare de unde vine.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lucru e stabilirea obiectivelor. Locke și Latham au arătat că un obiectiv concret, pe care îl poți număra, dă rezultate mult mai bune decât un „fă tot ce poți”. „Săptămâna asta vreau să faci zece flotări corecte” funcționează. „Încearcă mai mult” nu. Obiectivele trebuie să fie și pe azi, și pe luna asta, și pe semestru, ca elevul să vadă legătura dintre ce face azi și ce iese mâine. Greutatea trebuie să fie potrivită: puțin peste ce poate acum, nici prea ușor să se plictisească, nici prea greu să se lase. Vă amintiți de legea optimului și de încrederea despre care vorbea Bandura. Și foarte important: elevul își pune singur o parte din obiective. Asta e nevoia de a alege de la Deci și Ryan, iar un obiectiv pe care l-ai ales tu îl aperi altfel.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lucru e feedbackul, adică ce îi spui elevului după ce a făcut ceva. Feedbackul bun e pe loc, concret și despre ce a făcut, nu despre el ca om. „Genunchii mai sus la săritură” este un feedback. „Mai bine” nu este. Apoi, lăudăm efortul și progresul, nu talentul: „se vede că ai exersat” în loc de „ești talentat”. Carol Dweck a arătat că elevii lăudați pentru talent devin fricoși, pentru că orice greșeală le strică eticheta, iar cei lăudați pentru efort caută lucruri mai grele. E exact teoria atribuirii, pusă în practică. O regulă bună e trei la unu: trei lucruri bune la unul de corectat. Corectatul trebuie să existe, altfel lauda nu mai valorează nimic, dar se aude mai bine după ce ai spus și ce a fost bine. Cât despre recompense, puncte, diplome, premii: rar, pentru progres, nu pentru locul întâi, altfel le omorâm cheful celor care nu ajung niciodată primii.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lucru: libertatea de a alege, varietatea și jocul. Libertatea înseamnă să le dai de ales, chiar lucruri mici: între două exerciții, în ce ordine parcurg stațiile, cu cine fac pereche. Nu te costă nimic și schimbă mult cât se bagă elevul. Varietatea: altă ordine a orei, alt joc, altă muzică la încălzire. Monotonia omoară motivația mai sigur decât orice. Jocul e cel mai puternic motor, la toate vârstele, nu doar la cei mici. Un exercițiu de viteză plictisitor devine interesant când e un joc de prins. Iar învățarea prin descoperire, una dintre metodele din programa cursului, înseamnă să-l lași pe elev să găsească el soluția: „cum ai putea să arunci mai departe?”, în loc să-i spui tu de la început cum se face. Ce descoperi singur ții minte mai mult.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patrulea lucru e profesorul însuși, ca exemplu, și atmosfera pe care o face. Entuziasmul profesorului se ia. Din păcate și plictiseala lui. Elevii simt imediat dacă profesorului îi place ce face. Apoi lucrurile mici care îl fac pe elev să se simtă al grupului: o glumă, să-i spui pe nume, un cuvânt pentru fiecare, nu doar pentru cei buni. Și o regulă: greșeala e normală, face parte din învățat, nu e motiv de rușine. Adică fără să faci pe cineva de râs și fără comparații în fața clasei. Un singur moment de râs în fața clasei poate strica luni de muncă. Aici suntem pe treptele de siguranță și de apartenență din piramida lui Maslow.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 vedem cum se leagă totul într-un studiu de caz, care e și una dintre metodele cursului. Andrei, 14 ani, clasa a opta. Nu vrea să facă sport, stă pe margine, zice că „nu-i place sportul”, aduce scutiri. Un profesor de modă veche i-ar scădea nota. Să încercăm altfel. Ce aflăm, cu ce am învățat: Andrei a greșit de multe ori în fața tuturor, a fost ales ultimul în echipă, au râs de el când a ratat. Nu mai are nicio încredere că poate, dă vina pe „n-am talent” și îi e tare frică să nu râdă lumea de el. Nu-i lipsește motivația. Are o motivație foarte puternică de a se feri, ceea ce e altceva. Ce facem, în șase săptămâni. Unu: sarcini la care sigur reușește, singur la început, fără privitori. Doi: un rol în echipă care nu-l pune în față, arbitru sau cronometror, ca să fie în grup fără să-l judece nimeni, și abia apoi, încet, jucător. Trei: îi spui doar despre efort și progres, și doar între patru ochi. Patru: zero expunere în fața clasei, echipele le face profesorul, nu le aleg elevii. Rezultatul: după șase săptămâni Andrei vine la toate orele, iar în săptămâna a șasea a propus el un joc pentru clasă. Nu l-a făcut nimeni sportiv. L-a adus cineva înapoi în zona în care mișcarea e sigură și plăcută, atât.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circuit cu patru stații, în care fiecare stație ilustrează o tehnică motivațională. Așa se vede cu ochii, nu doar se aude.
Organizare: Grupa se împarte în 2-3 echipe de 4-6 persoane. Fiecare echipă pornește de la altă stație și le parcurge pe toate, 2-3 minute la fiecare. Un membru al grupului de proiect coordonează fiecare stație.
Materiale: 4 conuri sau markere pentru stații, un cronometru, 8-12 cartonașe cu afirmații, o foaie și un pix pentru fiecare echipă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Stația 1: Obiectivul meu. Fiecare participant își alege singur un obiectiv de 60 de secunde (număr de genuflexiuni, sărituri, pase la perete) și îl scrie pe foaie. Apoi îl execută. Comparația e doar cu propriul obiectiv, nu cu colegii. Întrebare de reflecție: Ce a fost diferit când ai ales tu cifra, față de când ți-o impune cineva?
Stația 2: Trei la unu. În perechi: unul execută un exercițiu simplu (de exemplu aruncare la țintă de 5 ori), celălalt trebuie să dea trei observații pozitive concrete și una de corecție, apoi se schimbă rolurile. Interzis: „bravo” și „mai bine” fără detalii. Întrebare de reflecție: A fost greu să găsești trei lucruri concrete bune? Cum te-ai simțit când le-ai auzit?
Stația 3: Adevărat sau fals, în mișcare. Coordonatorul citește afirmații din prezentare („Motivația extrinsecă este dăunătoare”, „Lauda talentului crește perseverența”, „Sarcinile complexe cer motivație moderată”). Participanții aleargă la conul din stânga pentru adevărat, din dreapta pentru fals. Cine greșește explică de ce a crezut așa, grupul corectează. Întrebare de reflecție: Cât din teorie ți-ai amintit când a trebuit să alergi?
Stația 4: Piramida vie. Echipa primește cartonașe cu situații din sala de sport („un elev e luat în râs când ratează”, „profesorul știe numele tuturor”, „sala e rece și nu au apă”, „elevul primește diplomă pentru progres”) și trebuie să le așeze pe treapta corectă a piramidei lui Maslow, desenată pe jos cu conuri. Discuție: ce trebuie rezolvat întâi. Întrebare de reflecție: Ce situație ți s-a părut cea mai des întâlnită în școală?
Încheiere: Toate echipele se adună. Fiecare echipă spune într-o propoziție ce tehnică i-a plăcut cel mai mult și de ce. Coordonatorul leagă răspunsurile de teoriile din prezentare.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Concluzii, 1-2 minute, spuse de oricare membru. Reluați cele patru idei de pe slide cu o propoziție fiecare și mulțumiți pentru atenție. Apoi lăsați slide-ul cu bibliografia afișat.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Bibliografia rămâne pe ecran la final. Dacă profesorul întreabă, principalele surse românești sunt Neacșu (motivație și învățare), Epuran (psihologia sportului), Cosmovici și Zlate (psihologie generală și școlară).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309360" cy="6858000"/>
          </a:xfrm>
          <a:prstGeom prst="rect">
            <a:avLst/>
          </a:prstGeom>
          <a:solidFill>
            <a:srgbClr val="1E5B2A"/>
          </a:solidFill>
          <a:ln/>
        </p:spPr>
      </p:sp>
      <p:sp>
        <p:nvSpPr>
          <p:cNvPr id="3" name="Text 1"/>
          <p:cNvSpPr/>
          <p:nvPr>
            <p:ph idx="101" type="title" hasCustomPrompt="1"/>
          </p:nvPr>
        </p:nvSpPr>
        <p:spPr>
          <a:xfrm>
            <a:off x="548640" y="1463040"/>
            <a:ext cx="5303520" cy="29260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1"/>
          <p:cNvSpPr/>
          <p:nvPr>
            <p:ph idx="102" type="body" hasCustomPrompt="1"/>
          </p:nvPr>
        </p:nvSpPr>
        <p:spPr>
          <a:xfrm>
            <a:off x="548640" y="4572000"/>
            <a:ext cx="5303520" cy="1645920"/>
          </a:xfrm>
          <a:prstGeom prst="rect">
            <a:avLst/>
          </a:prstGeom>
          <a:noFill/>
          <a:ln/>
        </p:spPr>
        <p:txBody>
          <a:bodyPr wrap="square" rtlCol="0"/>
          <a:lstStyle>
            <a:lvl1pPr algn="l" indent="0" marL="0">
              <a:buNone/>
              <a:defRPr lang="en-US" sz="1300" dirty="0">
                <a:solidFill>
                  <a:srgbClr val="A5D6A7"/>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E5B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686800" cy="20116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ph idx="101" type="body" hasCustomPrompt="1"/>
          </p:nvPr>
        </p:nvSpPr>
        <p:spPr>
          <a:xfrm>
            <a:off x="731520" y="4114800"/>
            <a:ext cx="8686800" cy="731520"/>
          </a:xfrm>
          <a:prstGeom prst="rect">
            <a:avLst/>
          </a:prstGeom>
          <a:noFill/>
          <a:ln/>
        </p:spPr>
        <p:txBody>
          <a:bodyPr wrap="square" rtlCol="0"/>
          <a:lstStyle>
            <a:lvl1pPr algn="l" indent="0" marL="0">
              <a:buNone/>
              <a:defRPr lang="en-US" sz="1800" dirty="0">
                <a:solidFill>
                  <a:srgbClr val="F2E94E"/>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000" b="1" dirty="0">
                <a:solidFill>
                  <a:srgbClr val="1E5B2A"/>
                </a:solidFill>
              </a:defRPr>
            </a:lvl1pPr>
          </a:lstStyle>
          <a:p>
            <a:pPr algn="l" indent="0" marL="0">
              <a:buNone/>
            </a:pPr>
            <a:endParaRPr lang="en-US" sz="3000" dirty="0"/>
          </a:p>
        </p:txBody>
      </p:sp>
      <p:sp>
        <p:nvSpPr>
          <p:cNvPr id="3" name="Shape 0"/>
          <p:cNvSpPr/>
          <p:nvPr/>
        </p:nvSpPr>
        <p:spPr>
          <a:xfrm>
            <a:off x="640080" y="6400800"/>
            <a:ext cx="10881360" cy="0"/>
          </a:xfrm>
          <a:prstGeom prst="line">
            <a:avLst/>
          </a:prstGeom>
          <a:noFill/>
          <a:ln w="9525">
            <a:solidFill>
              <a:srgbClr val="D9D9D9"/>
            </a:solidFill>
            <a:prstDash val="solid"/>
          </a:ln>
        </p:spPr>
      </p:sp>
      <p:sp>
        <p:nvSpPr>
          <p:cNvPr id="4" name="Text 1"/>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6D6D6D"/>
                </a:solidFill>
              </a:rPr>
              <a:t>Motivația și rolul ei în activitatea umană  ·  Grupa 5104 SPM</a:t>
            </a:r>
            <a:endParaRPr lang="en-US" sz="9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IECT DE GRUP  ·  PEDAG"/>
          <p:cNvSpPr txBox="1"/>
          <p:nvPr/>
        </p:nvSpPr>
        <p:spPr>
          <a:xfrm>
            <a:off x="548640" y="640080"/>
            <a:ext cx="5303520" cy="365760"/>
          </a:xfrm>
          <a:prstGeom prst="rect">
            <a:avLst/>
          </a:prstGeom>
          <a:noFill/>
          <a:ln/>
        </p:spPr>
        <p:txBody>
          <a:bodyPr wrap="square" lIns="0" tIns="0" rIns="0" bIns="0" rtlCol="0" anchor="ctr"/>
          <a:lstStyle/>
          <a:p>
            <a:pPr indent="0" marL="0">
              <a:buNone/>
            </a:pPr>
            <a:r>
              <a:rPr lang="en-US" sz="1100" b="1" spc="300" kern="0" dirty="0">
                <a:solidFill>
                  <a:srgbClr val="F2E94E"/>
                </a:solidFill>
              </a:rPr>
              <a:t>PROIECT DE GRUP  ·  PEDAGOGIE</a:t>
            </a:r>
            <a:endParaRPr lang="en-US" sz="1100" dirty="0"/>
          </a:p>
        </p:txBody>
      </p:sp>
      <p:sp>
        <p:nvSpPr>
          <p:cNvPr id="3" name="Text 1"/>
          <p:cNvSpPr/>
          <p:nvPr>
            <p:ph idx="101" type="title" hasCustomPrompt="1"/>
          </p:nvPr>
        </p:nvSpPr>
        <p:spPr>
          <a:xfrm>
            <a:off x="548640" y="1463040"/>
            <a:ext cx="5303520" cy="2926080"/>
          </a:xfrm>
          <a:prstGeom prst="rect">
            <a:avLst/>
          </a:prstGeom>
          <a:noFill/>
          <a:ln/>
        </p:spPr>
        <p:txBody>
          <a:bodyPr wrap="square" lIns="0" tIns="0" rIns="0" bIns="0" rtlCol="0" anchor="ctr"/>
          <a:lstStyle/>
          <a:p>
            <a:pPr algn="l" indent="0" marL="0">
              <a:buNone/>
            </a:pPr>
            <a:r>
              <a:rPr lang="en-US" sz="3600" b="1" dirty="0">
                <a:solidFill>
                  <a:srgbClr val="FFFFFF"/>
                </a:solidFill>
              </a:rPr>
              <a:t>Motivația și rolul ei în activitatea umană</a:t>
            </a:r>
            <a:endParaRPr lang="en-US" sz="3600" dirty="0"/>
          </a:p>
        </p:txBody>
      </p:sp>
      <p:sp>
        <p:nvSpPr>
          <p:cNvPr id="4" name="Text 1"/>
          <p:cNvSpPr/>
          <p:nvPr>
            <p:ph idx="102" type="body" hasCustomPrompt="1"/>
          </p:nvPr>
        </p:nvSpPr>
        <p:spPr>
          <a:xfrm>
            <a:off x="548640" y="4572000"/>
            <a:ext cx="5303520" cy="1645920"/>
          </a:xfrm>
          <a:prstGeom prst="rect">
            <a:avLst/>
          </a:prstGeom>
          <a:noFill/>
          <a:ln/>
        </p:spPr>
        <p:txBody>
          <a:bodyPr wrap="square" lIns="0" tIns="0" rIns="0" bIns="0" rtlCol="0" anchor="t"/>
          <a:lstStyle/>
          <a:p>
            <a:pPr algn="l" indent="0" marL="0">
              <a:buNone/>
            </a:pPr>
            <a:r>
              <a:rPr lang="en-US" sz="1300" dirty="0">
                <a:solidFill>
                  <a:srgbClr val="A5D6A7"/>
                </a:solidFill>
              </a:rPr>
              <a:t>Perspective de abordare a motivației, rolul structurii motivaționale a personalității în activitatea instructiv-educativă, tehnici motivaționale de predare</a:t>
            </a:r>
            <a:endParaRPr lang="en-US" sz="1300" dirty="0"/>
          </a:p>
        </p:txBody>
      </p:sp>
      <p:sp>
        <p:nvSpPr>
          <p:cNvPr id="5" name="Universitatea „Vasile Ale"/>
          <p:cNvSpPr txBox="1"/>
          <p:nvPr/>
        </p:nvSpPr>
        <p:spPr>
          <a:xfrm>
            <a:off x="6766560" y="822960"/>
            <a:ext cx="4937760" cy="365760"/>
          </a:xfrm>
          <a:prstGeom prst="rect">
            <a:avLst/>
          </a:prstGeom>
          <a:noFill/>
          <a:ln/>
        </p:spPr>
        <p:txBody>
          <a:bodyPr wrap="square" lIns="0" tIns="0" rIns="0" bIns="0" rtlCol="0" anchor="ctr"/>
          <a:lstStyle/>
          <a:p>
            <a:pPr indent="0" marL="0">
              <a:buNone/>
            </a:pPr>
            <a:r>
              <a:rPr lang="en-US" sz="1200" dirty="0">
                <a:solidFill>
                  <a:srgbClr val="6D6D6D"/>
                </a:solidFill>
              </a:rPr>
              <a:t>Universitatea „Vasile Alecsandri” din Bacău</a:t>
            </a:r>
            <a:endParaRPr lang="en-US" sz="1200" dirty="0"/>
          </a:p>
        </p:txBody>
      </p:sp>
      <p:sp>
        <p:nvSpPr>
          <p:cNvPr id="6" name="Facultatea de Științe ale"/>
          <p:cNvSpPr txBox="1"/>
          <p:nvPr/>
        </p:nvSpPr>
        <p:spPr>
          <a:xfrm>
            <a:off x="6766560" y="1143000"/>
            <a:ext cx="4937760" cy="548640"/>
          </a:xfrm>
          <a:prstGeom prst="rect">
            <a:avLst/>
          </a:prstGeom>
          <a:noFill/>
          <a:ln/>
        </p:spPr>
        <p:txBody>
          <a:bodyPr wrap="square" lIns="0" tIns="0" rIns="0" bIns="0" rtlCol="0" anchor="ctr"/>
          <a:lstStyle/>
          <a:p>
            <a:pPr indent="0" marL="0">
              <a:buNone/>
            </a:pPr>
            <a:r>
              <a:rPr lang="en-US" sz="1200" dirty="0">
                <a:solidFill>
                  <a:srgbClr val="6D6D6D"/>
                </a:solidFill>
              </a:rPr>
              <a:t>Facultatea de Științe ale Mișcării, Sportului și Sănătății</a:t>
            </a:r>
            <a:endParaRPr lang="en-US" sz="1200" dirty="0"/>
          </a:p>
        </p:txBody>
      </p:sp>
      <p:sp>
        <p:nvSpPr>
          <p:cNvPr id="7" name="Grupa 5104 SPM  ·  Anul I"/>
          <p:cNvSpPr txBox="1"/>
          <p:nvPr/>
        </p:nvSpPr>
        <p:spPr>
          <a:xfrm>
            <a:off x="6766560" y="1783080"/>
            <a:ext cx="4937760" cy="365760"/>
          </a:xfrm>
          <a:prstGeom prst="rect">
            <a:avLst/>
          </a:prstGeom>
          <a:noFill/>
          <a:ln/>
        </p:spPr>
        <p:txBody>
          <a:bodyPr wrap="square" lIns="0" tIns="0" rIns="0" bIns="0" rtlCol="0" anchor="ctr"/>
          <a:lstStyle/>
          <a:p>
            <a:pPr indent="0" marL="0">
              <a:buNone/>
            </a:pPr>
            <a:r>
              <a:rPr lang="en-US" sz="1200" dirty="0">
                <a:solidFill>
                  <a:srgbClr val="6D6D6D"/>
                </a:solidFill>
              </a:rPr>
              <a:t>Grupa 5104 SPM  ·  Anul I  ·  2026</a:t>
            </a:r>
            <a:endParaRPr lang="en-US" sz="1200" dirty="0"/>
          </a:p>
        </p:txBody>
      </p:sp>
      <p:sp>
        <p:nvSpPr>
          <p:cNvPr id="8" name="Membrii echipei"/>
          <p:cNvSpPr txBox="1"/>
          <p:nvPr/>
        </p:nvSpPr>
        <p:spPr>
          <a:xfrm>
            <a:off x="6766560" y="2834640"/>
            <a:ext cx="4937760" cy="457200"/>
          </a:xfrm>
          <a:prstGeom prst="rect">
            <a:avLst/>
          </a:prstGeom>
          <a:noFill/>
          <a:ln/>
        </p:spPr>
        <p:txBody>
          <a:bodyPr wrap="square" lIns="0" tIns="0" rIns="0" bIns="0" rtlCol="0" anchor="ctr"/>
          <a:lstStyle/>
          <a:p>
            <a:pPr indent="0" marL="0">
              <a:buNone/>
            </a:pPr>
            <a:r>
              <a:rPr lang="en-US" sz="2000" b="1" dirty="0">
                <a:solidFill>
                  <a:srgbClr val="1E5B2A"/>
                </a:solidFill>
              </a:rPr>
              <a:t>Membrii echipei</a:t>
            </a:r>
            <a:endParaRPr lang="en-US" sz="2000" dirty="0"/>
          </a:p>
        </p:txBody>
      </p:sp>
      <p:sp>
        <p:nvSpPr>
          <p:cNvPr id="9" name="Linie membri"/>
          <p:cNvSpPr/>
          <p:nvPr/>
        </p:nvSpPr>
        <p:spPr>
          <a:xfrm>
            <a:off x="6766560" y="3337560"/>
            <a:ext cx="4937760" cy="0"/>
          </a:xfrm>
          <a:prstGeom prst="line">
            <a:avLst/>
          </a:prstGeom>
          <a:noFill/>
          <a:ln w="25400">
            <a:solidFill>
              <a:srgbClr val="2E7D32"/>
            </a:solidFill>
            <a:prstDash val="solid"/>
          </a:ln>
        </p:spPr>
      </p:sp>
      <p:sp>
        <p:nvSpPr>
          <p:cNvPr id="10" name="Membru 1: _______________"/>
          <p:cNvSpPr txBox="1"/>
          <p:nvPr/>
        </p:nvSpPr>
        <p:spPr>
          <a:xfrm>
            <a:off x="6766560" y="3520440"/>
            <a:ext cx="4937760" cy="457200"/>
          </a:xfrm>
          <a:prstGeom prst="rect">
            <a:avLst/>
          </a:prstGeom>
          <a:noFill/>
          <a:ln/>
        </p:spPr>
        <p:txBody>
          <a:bodyPr wrap="square" lIns="0" tIns="0" rIns="0" bIns="0" rtlCol="0" anchor="ctr"/>
          <a:lstStyle/>
          <a:p>
            <a:pPr indent="0" marL="0">
              <a:buNone/>
            </a:pPr>
            <a:r>
              <a:rPr lang="en-US" sz="1600" dirty="0">
                <a:solidFill>
                  <a:srgbClr val="222222"/>
                </a:solidFill>
              </a:rPr>
              <a:t>Membru 1: ____________________</a:t>
            </a:r>
            <a:endParaRPr lang="en-US" sz="1600" dirty="0"/>
          </a:p>
        </p:txBody>
      </p:sp>
      <p:sp>
        <p:nvSpPr>
          <p:cNvPr id="11" name="Membru 2: _______________"/>
          <p:cNvSpPr txBox="1"/>
          <p:nvPr/>
        </p:nvSpPr>
        <p:spPr>
          <a:xfrm>
            <a:off x="6766560" y="4069080"/>
            <a:ext cx="4937760" cy="457200"/>
          </a:xfrm>
          <a:prstGeom prst="rect">
            <a:avLst/>
          </a:prstGeom>
          <a:noFill/>
          <a:ln/>
        </p:spPr>
        <p:txBody>
          <a:bodyPr wrap="square" lIns="0" tIns="0" rIns="0" bIns="0" rtlCol="0" anchor="ctr"/>
          <a:lstStyle/>
          <a:p>
            <a:pPr indent="0" marL="0">
              <a:buNone/>
            </a:pPr>
            <a:r>
              <a:rPr lang="en-US" sz="1600" dirty="0">
                <a:solidFill>
                  <a:srgbClr val="222222"/>
                </a:solidFill>
              </a:rPr>
              <a:t>Membru 2: ____________________</a:t>
            </a:r>
            <a:endParaRPr lang="en-US" sz="1600" dirty="0"/>
          </a:p>
        </p:txBody>
      </p:sp>
      <p:sp>
        <p:nvSpPr>
          <p:cNvPr id="12" name="Membru 3: _______________"/>
          <p:cNvSpPr txBox="1"/>
          <p:nvPr/>
        </p:nvSpPr>
        <p:spPr>
          <a:xfrm>
            <a:off x="6766560" y="4617720"/>
            <a:ext cx="4937760" cy="457200"/>
          </a:xfrm>
          <a:prstGeom prst="rect">
            <a:avLst/>
          </a:prstGeom>
          <a:noFill/>
          <a:ln/>
        </p:spPr>
        <p:txBody>
          <a:bodyPr wrap="square" lIns="0" tIns="0" rIns="0" bIns="0" rtlCol="0" anchor="ctr"/>
          <a:lstStyle/>
          <a:p>
            <a:pPr indent="0" marL="0">
              <a:buNone/>
            </a:pPr>
            <a:r>
              <a:rPr lang="en-US" sz="1600" dirty="0">
                <a:solidFill>
                  <a:srgbClr val="222222"/>
                </a:solidFill>
              </a:rPr>
              <a:t>Membru 3: ____________________</a:t>
            </a:r>
            <a:endParaRPr lang="en-US" sz="1600" dirty="0"/>
          </a:p>
        </p:txBody>
      </p:sp>
      <p:sp>
        <p:nvSpPr>
          <p:cNvPr id="13" name="Membru 4: _______________"/>
          <p:cNvSpPr txBox="1"/>
          <p:nvPr/>
        </p:nvSpPr>
        <p:spPr>
          <a:xfrm>
            <a:off x="6766560" y="5166360"/>
            <a:ext cx="4937760" cy="457200"/>
          </a:xfrm>
          <a:prstGeom prst="rect">
            <a:avLst/>
          </a:prstGeom>
          <a:noFill/>
          <a:ln/>
        </p:spPr>
        <p:txBody>
          <a:bodyPr wrap="square" lIns="0" tIns="0" rIns="0" bIns="0" rtlCol="0" anchor="ctr"/>
          <a:lstStyle/>
          <a:p>
            <a:pPr indent="0" marL="0">
              <a:buNone/>
            </a:pPr>
            <a:r>
              <a:rPr lang="en-US" sz="1600" dirty="0">
                <a:solidFill>
                  <a:srgbClr val="222222"/>
                </a:solidFill>
              </a:rPr>
              <a:t>Membru 4: ____________________</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Structura prezentării</a:t>
            </a:r>
            <a:endParaRPr lang="en-US" sz="3000" dirty="0"/>
          </a:p>
        </p:txBody>
      </p:sp>
      <p:graphicFrame>
        <p:nvGraphicFramePr>
          <p:cNvPr id="3" name="Tabel cuprins"/>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640080"/>
                <a:gridCol w="6035040"/>
                <a:gridCol w="2651760"/>
                <a:gridCol w="1554480"/>
              </a:tblGrid>
              <a:tr h="566928">
                <a:tc>
                  <a:txBody>
                    <a:bodyPr/>
                    <a:lstStyle/>
                    <a:p>
                      <a:pPr indent="0" marL="0">
                        <a:buNone/>
                      </a:pP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Partea</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Cine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Durată</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r>
              <a:tr h="566928">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Ce este motivația și cum este structurată</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Membrul 1</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7-8 minute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Perspective de abordare a motivației</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Membrul 2</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7-8 minute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Rolul structurii motivaționale în activitatea instructiv-educativă</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Membrul 3</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7-8 minute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Tehnici motivaționale de predare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Membrul 4</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7-8 minute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Activitate practică: Cursa motivației</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Toată echipa, împreună cu grupa</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10-15 minute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Concluzii și bibliografie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Oricare membru</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2 minute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În total: peste 30 de min"/>
          <p:cNvSpPr txBox="1"/>
          <p:nvPr/>
        </p:nvSpPr>
        <p:spPr>
          <a:xfrm>
            <a:off x="640080" y="5577840"/>
            <a:ext cx="10881360" cy="457200"/>
          </a:xfrm>
          <a:prstGeom prst="rect">
            <a:avLst/>
          </a:prstGeom>
          <a:noFill/>
          <a:ln/>
        </p:spPr>
        <p:txBody>
          <a:bodyPr wrap="square" lIns="0" tIns="0" rIns="0" bIns="0" rtlCol="0" anchor="ctr"/>
          <a:lstStyle/>
          <a:p>
            <a:pPr indent="0" marL="0">
              <a:buNone/>
            </a:pPr>
            <a:r>
              <a:rPr lang="en-US" sz="1300" i="1" dirty="0">
                <a:solidFill>
                  <a:srgbClr val="6D6D6D"/>
                </a:solidFill>
              </a:rPr>
              <a:t>În total: peste 30 de minute de prezentare vorbită, apoi activitatea practică cu toată grupa.</a:t>
            </a:r>
            <a:endParaRPr lang="en-US" sz="13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RTEA 1"/>
          <p:cNvSpPr txBox="1"/>
          <p:nvPr/>
        </p:nvSpPr>
        <p:spPr>
          <a:xfrm>
            <a:off x="731520" y="1280160"/>
            <a:ext cx="5486400" cy="457200"/>
          </a:xfrm>
          <a:prstGeom prst="rect">
            <a:avLst/>
          </a:prstGeom>
          <a:noFill/>
          <a:ln/>
        </p:spPr>
        <p:txBody>
          <a:bodyPr wrap="square" lIns="0" tIns="0" rIns="0" bIns="0" rtlCol="0" anchor="ctr"/>
          <a:lstStyle/>
          <a:p>
            <a:pPr indent="0" marL="0">
              <a:buNone/>
            </a:pPr>
            <a:r>
              <a:rPr lang="en-US" sz="1400" b="1" spc="400" kern="0" dirty="0">
                <a:solidFill>
                  <a:srgbClr val="F2E94E"/>
                </a:solidFill>
              </a:rPr>
              <a:t>PARTEA 1</a:t>
            </a:r>
            <a:endParaRPr lang="en-US" sz="1400" dirty="0"/>
          </a:p>
        </p:txBody>
      </p:sp>
      <p:sp>
        <p:nvSpPr>
          <p:cNvPr id="3" name="1"/>
          <p:cNvSpPr txBox="1"/>
          <p:nvPr/>
        </p:nvSpPr>
        <p:spPr>
          <a:xfrm>
            <a:off x="9418320" y="914400"/>
            <a:ext cx="2286000" cy="4114800"/>
          </a:xfrm>
          <a:prstGeom prst="rect">
            <a:avLst/>
          </a:prstGeom>
          <a:noFill/>
          <a:ln/>
        </p:spPr>
        <p:txBody>
          <a:bodyPr wrap="square" lIns="0" tIns="0" rIns="0" bIns="0" rtlCol="0" anchor="ctr"/>
          <a:lstStyle/>
          <a:p>
            <a:pPr algn="r" indent="0" marL="0">
              <a:buNone/>
            </a:pPr>
            <a:r>
              <a:rPr lang="en-US" sz="22000" b="1" dirty="0">
                <a:solidFill>
                  <a:srgbClr val="2E7D32"/>
                </a:solidFill>
              </a:rPr>
              <a:t>1</a:t>
            </a:r>
            <a:endParaRPr lang="en-US" sz="22000" dirty="0"/>
          </a:p>
        </p:txBody>
      </p:sp>
      <p:sp>
        <p:nvSpPr>
          <p:cNvPr id="4" name="Text 0"/>
          <p:cNvSpPr/>
          <p:nvPr>
            <p:ph idx="100" type="title" hasCustomPrompt="1"/>
          </p:nvPr>
        </p:nvSpPr>
        <p:spPr>
          <a:xfrm>
            <a:off x="731520" y="2011680"/>
            <a:ext cx="8686800" cy="2011680"/>
          </a:xfrm>
          <a:prstGeom prst="rect">
            <a:avLst/>
          </a:prstGeom>
          <a:noFill/>
          <a:ln/>
        </p:spPr>
        <p:txBody>
          <a:bodyPr wrap="square" lIns="0" tIns="0" rIns="0" bIns="0" rtlCol="0" anchor="ctr"/>
          <a:lstStyle/>
          <a:p>
            <a:pPr algn="l" indent="0" marL="0">
              <a:buNone/>
            </a:pPr>
            <a:r>
              <a:rPr lang="en-US" sz="3600" b="1" dirty="0">
                <a:solidFill>
                  <a:srgbClr val="FFFFFF"/>
                </a:solidFill>
              </a:rPr>
              <a:t>Ce este motivația și cum este structurată</a:t>
            </a:r>
            <a:endParaRPr lang="en-US" sz="3600" dirty="0"/>
          </a:p>
        </p:txBody>
      </p:sp>
      <p:sp>
        <p:nvSpPr>
          <p:cNvPr id="5" name="Text 0"/>
          <p:cNvSpPr/>
          <p:nvPr>
            <p:ph idx="101" type="body" hasCustomPrompt="1"/>
          </p:nvPr>
        </p:nvSpPr>
        <p:spPr>
          <a:xfrm>
            <a:off x="731520" y="4114800"/>
            <a:ext cx="8686800" cy="731520"/>
          </a:xfrm>
          <a:prstGeom prst="rect">
            <a:avLst/>
          </a:prstGeom>
          <a:noFill/>
          <a:ln/>
        </p:spPr>
        <p:txBody>
          <a:bodyPr wrap="square" lIns="0" tIns="0" rIns="0" bIns="0" rtlCol="0" anchor="t"/>
          <a:lstStyle/>
          <a:p>
            <a:pPr algn="l" indent="0" marL="0">
              <a:buNone/>
            </a:pPr>
            <a:r>
              <a:rPr lang="en-US" sz="1800" dirty="0">
                <a:solidFill>
                  <a:srgbClr val="F2E94E"/>
                </a:solidFill>
              </a:rPr>
              <a:t>Membrul 1  ·  7-8 minute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Ce înseamnă motivația</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Tot ce ne pune în mișcare din interior, ne dă o direcție și ne ține pe drum</a:t>
            </a:r>
            <a:endParaRPr lang="en-US" sz="1600" dirty="0"/>
          </a:p>
          <a:p>
            <a:pPr marL="228600" indent="-228600">
              <a:spcAft>
                <a:spcPts val="1200"/>
              </a:spcAft>
              <a:buSzPct val="100000"/>
              <a:buChar char="•"/>
            </a:pPr>
            <a:r>
              <a:rPr lang="en-US" sz="1600" dirty="0">
                <a:solidFill>
                  <a:srgbClr val="222222"/>
                </a:solidFill>
              </a:rPr>
              <a:t>Răspunde la întrebarea „de ce” facem ceva, nu „cum” facem</a:t>
            </a:r>
            <a:endParaRPr lang="en-US" sz="1600" dirty="0"/>
          </a:p>
          <a:p>
            <a:pPr marL="228600" indent="-228600">
              <a:spcAft>
                <a:spcPts val="1200"/>
              </a:spcAft>
              <a:buSzPct val="100000"/>
              <a:buChar char="•"/>
            </a:pPr>
            <a:r>
              <a:rPr lang="en-US" sz="1600" dirty="0">
                <a:solidFill>
                  <a:srgbClr val="222222"/>
                </a:solidFill>
              </a:rPr>
              <a:t>Nu se vede direct: o deducem din efort, perseverență, alegeri</a:t>
            </a:r>
            <a:endParaRPr lang="en-US" sz="1600" dirty="0"/>
          </a:p>
          <a:p>
            <a:pPr marL="228600" indent="-228600">
              <a:spcAft>
                <a:spcPts val="1200"/>
              </a:spcAft>
              <a:buSzPct val="100000"/>
              <a:buChar char="•"/>
            </a:pPr>
            <a:r>
              <a:rPr lang="en-US" sz="1600" dirty="0">
                <a:solidFill>
                  <a:srgbClr val="222222"/>
                </a:solidFill>
              </a:rPr>
              <a:t>Fără motivație, capacitatea rămâne nefolosită</a:t>
            </a:r>
            <a:endParaRPr lang="en-US" sz="1600" dirty="0"/>
          </a:p>
        </p:txBody>
      </p:sp>
      <p:sp>
        <p:nvSpPr>
          <p:cNvPr id="4" name="ne pornește"/>
          <p:cNvSpPr txBox="1"/>
          <p:nvPr/>
        </p:nvSpPr>
        <p:spPr>
          <a:xfrm>
            <a:off x="7040880" y="1965960"/>
            <a:ext cx="4480560" cy="822960"/>
          </a:xfrm>
          <a:prstGeom prst="rect">
            <a:avLst/>
          </a:prstGeom>
          <a:noFill/>
          <a:ln/>
        </p:spPr>
        <p:txBody>
          <a:bodyPr wrap="square" lIns="0" tIns="0" rIns="0" bIns="0" rtlCol="0" anchor="ctr"/>
          <a:lstStyle/>
          <a:p>
            <a:pPr indent="0" marL="0">
              <a:buNone/>
            </a:pPr>
            <a:r>
              <a:rPr lang="en-US" sz="3000" b="1" dirty="0">
                <a:solidFill>
                  <a:srgbClr val="1E5B2A"/>
                </a:solidFill>
              </a:rPr>
              <a:t>ne pornește</a:t>
            </a:r>
            <a:endParaRPr lang="en-US" sz="3000" dirty="0"/>
          </a:p>
        </p:txBody>
      </p:sp>
      <p:sp>
        <p:nvSpPr>
          <p:cNvPr id="5" name="ne arată încotro"/>
          <p:cNvSpPr txBox="1"/>
          <p:nvPr/>
        </p:nvSpPr>
        <p:spPr>
          <a:xfrm>
            <a:off x="7040880" y="3063240"/>
            <a:ext cx="4480560" cy="822960"/>
          </a:xfrm>
          <a:prstGeom prst="rect">
            <a:avLst/>
          </a:prstGeom>
          <a:noFill/>
          <a:ln/>
        </p:spPr>
        <p:txBody>
          <a:bodyPr wrap="square" lIns="0" tIns="0" rIns="0" bIns="0" rtlCol="0" anchor="ctr"/>
          <a:lstStyle/>
          <a:p>
            <a:pPr indent="0" marL="0">
              <a:buNone/>
            </a:pPr>
            <a:r>
              <a:rPr lang="en-US" sz="3000" b="1" dirty="0">
                <a:solidFill>
                  <a:srgbClr val="2E7D32"/>
                </a:solidFill>
              </a:rPr>
              <a:t>ne arată încotro</a:t>
            </a:r>
            <a:endParaRPr lang="en-US" sz="3000" dirty="0"/>
          </a:p>
        </p:txBody>
      </p:sp>
      <p:sp>
        <p:nvSpPr>
          <p:cNvPr id="6" name="ne ține pe drum"/>
          <p:cNvSpPr txBox="1"/>
          <p:nvPr/>
        </p:nvSpPr>
        <p:spPr>
          <a:xfrm>
            <a:off x="7040880" y="4160520"/>
            <a:ext cx="4480560" cy="822960"/>
          </a:xfrm>
          <a:prstGeom prst="rect">
            <a:avLst/>
          </a:prstGeom>
          <a:noFill/>
          <a:ln/>
        </p:spPr>
        <p:txBody>
          <a:bodyPr wrap="square" lIns="0" tIns="0" rIns="0" bIns="0" rtlCol="0" anchor="ctr"/>
          <a:lstStyle/>
          <a:p>
            <a:pPr indent="0" marL="0">
              <a:buNone/>
            </a:pPr>
            <a:r>
              <a:rPr lang="en-US" sz="3000" b="1" dirty="0">
                <a:solidFill>
                  <a:srgbClr val="1E5B2A"/>
                </a:solidFill>
              </a:rPr>
              <a:t>ne ține pe drum</a:t>
            </a:r>
            <a:endParaRPr lang="en-US" sz="3000" dirty="0"/>
          </a:p>
        </p:txBody>
      </p:sp>
      <p:sp>
        <p:nvSpPr>
          <p:cNvPr id="7" name="Linie galbena"/>
          <p:cNvSpPr/>
          <p:nvPr/>
        </p:nvSpPr>
        <p:spPr>
          <a:xfrm>
            <a:off x="7040880" y="5257800"/>
            <a:ext cx="2286000" cy="0"/>
          </a:xfrm>
          <a:prstGeom prst="line">
            <a:avLst/>
          </a:prstGeom>
          <a:noFill/>
          <a:ln w="50800">
            <a:solidFill>
              <a:srgbClr val="F2E94E"/>
            </a:solidFill>
            <a:prstDash val="solid"/>
          </a:ln>
        </p:spPr>
      </p:sp>
      <p:sp>
        <p:nvSpPr>
          <p:cNvPr id="8" name="răspunde la „de ce”, nu l"/>
          <p:cNvSpPr txBox="1"/>
          <p:nvPr/>
        </p:nvSpPr>
        <p:spPr>
          <a:xfrm>
            <a:off x="7040880" y="5440680"/>
            <a:ext cx="4480560" cy="457200"/>
          </a:xfrm>
          <a:prstGeom prst="rect">
            <a:avLst/>
          </a:prstGeom>
          <a:noFill/>
          <a:ln/>
        </p:spPr>
        <p:txBody>
          <a:bodyPr wrap="square" lIns="0" tIns="0" rIns="0" bIns="0" rtlCol="0" anchor="ctr"/>
          <a:lstStyle/>
          <a:p>
            <a:pPr indent="0" marL="0">
              <a:buNone/>
            </a:pPr>
            <a:r>
              <a:rPr lang="en-US" sz="1300" i="1" dirty="0">
                <a:solidFill>
                  <a:srgbClr val="6D6D6D"/>
                </a:solidFill>
              </a:rPr>
              <a:t>răspunde la „de ce”, nu la „cum”</a:t>
            </a:r>
            <a:endParaRPr lang="en-US" sz="13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Structura motivațională a personalității</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Trebuințe: îți lipsește ceva și simți asta (apă, mișcare, un grup)</a:t>
            </a:r>
            <a:endParaRPr lang="en-US" sz="1600" dirty="0"/>
          </a:p>
          <a:p>
            <a:pPr marL="228600" indent="-228600">
              <a:spcAft>
                <a:spcPts val="1200"/>
              </a:spcAft>
              <a:buSzPct val="100000"/>
              <a:buChar char="•"/>
            </a:pPr>
            <a:r>
              <a:rPr lang="en-US" sz="1600" dirty="0">
                <a:solidFill>
                  <a:srgbClr val="222222"/>
                </a:solidFill>
              </a:rPr>
              <a:t>Motive: știi ce îți lipsește și asta te împinge să faci ceva</a:t>
            </a:r>
            <a:endParaRPr lang="en-US" sz="1600" dirty="0"/>
          </a:p>
          <a:p>
            <a:pPr marL="228600" indent="-228600">
              <a:spcAft>
                <a:spcPts val="1200"/>
              </a:spcAft>
              <a:buSzPct val="100000"/>
              <a:buChar char="•"/>
            </a:pPr>
            <a:r>
              <a:rPr lang="en-US" sz="1600" dirty="0">
                <a:solidFill>
                  <a:srgbClr val="222222"/>
                </a:solidFill>
              </a:rPr>
              <a:t>Interese: spre ce te tragi mereu (sportul, muzica)</a:t>
            </a:r>
            <a:endParaRPr lang="en-US" sz="1600" dirty="0"/>
          </a:p>
          <a:p>
            <a:pPr marL="228600" indent="-228600">
              <a:spcAft>
                <a:spcPts val="1200"/>
              </a:spcAft>
              <a:buSzPct val="100000"/>
              <a:buChar char="•"/>
            </a:pPr>
            <a:r>
              <a:rPr lang="en-US" sz="1600" dirty="0">
                <a:solidFill>
                  <a:srgbClr val="222222"/>
                </a:solidFill>
              </a:rPr>
              <a:t>Convingeri: idei la care ții și pe care le aperi</a:t>
            </a:r>
            <a:endParaRPr lang="en-US" sz="1600" dirty="0"/>
          </a:p>
          <a:p>
            <a:pPr marL="228600" indent="-228600">
              <a:spcAft>
                <a:spcPts val="1200"/>
              </a:spcAft>
              <a:buSzPct val="100000"/>
              <a:buChar char="•"/>
            </a:pPr>
            <a:r>
              <a:rPr lang="en-US" sz="1600" dirty="0">
                <a:solidFill>
                  <a:srgbClr val="222222"/>
                </a:solidFill>
              </a:rPr>
              <a:t>Idealuri: cum ai vrea să fii și ce ai vrea să ajungi</a:t>
            </a:r>
            <a:endParaRPr lang="en-US" sz="1600" dirty="0"/>
          </a:p>
        </p:txBody>
      </p:sp>
      <p:sp>
        <p:nvSpPr>
          <p:cNvPr id="4" name="Treapta Trebuințe"/>
          <p:cNvSpPr/>
          <p:nvPr/>
        </p:nvSpPr>
        <p:spPr>
          <a:xfrm>
            <a:off x="7040880" y="5074920"/>
            <a:ext cx="1737360" cy="731520"/>
          </a:xfrm>
          <a:prstGeom prst="rect">
            <a:avLst/>
          </a:prstGeom>
          <a:solidFill>
            <a:srgbClr val="A5D6A7"/>
          </a:solidFill>
          <a:ln w="12700">
            <a:solidFill>
              <a:srgbClr val="FFFFFF"/>
            </a:solidFill>
            <a:prstDash val="solid"/>
          </a:ln>
        </p:spPr>
      </p:sp>
      <p:sp>
        <p:nvSpPr>
          <p:cNvPr id="5" name="Trebuințe"/>
          <p:cNvSpPr txBox="1"/>
          <p:nvPr/>
        </p:nvSpPr>
        <p:spPr>
          <a:xfrm>
            <a:off x="7178040" y="5074920"/>
            <a:ext cx="1554480" cy="731520"/>
          </a:xfrm>
          <a:prstGeom prst="rect">
            <a:avLst/>
          </a:prstGeom>
          <a:noFill/>
          <a:ln/>
        </p:spPr>
        <p:txBody>
          <a:bodyPr wrap="square" lIns="0" tIns="0" rIns="0" bIns="0" rtlCol="0" anchor="ctr"/>
          <a:lstStyle/>
          <a:p>
            <a:pPr indent="0" marL="0">
              <a:buNone/>
            </a:pPr>
            <a:r>
              <a:rPr lang="en-US" sz="1400" b="1" dirty="0">
                <a:solidFill>
                  <a:srgbClr val="222222"/>
                </a:solidFill>
              </a:rPr>
              <a:t>Trebuințe</a:t>
            </a:r>
            <a:endParaRPr lang="en-US" sz="1400" dirty="0"/>
          </a:p>
        </p:txBody>
      </p:sp>
      <p:sp>
        <p:nvSpPr>
          <p:cNvPr id="6" name="Treapta Motive"/>
          <p:cNvSpPr/>
          <p:nvPr/>
        </p:nvSpPr>
        <p:spPr>
          <a:xfrm>
            <a:off x="7040880" y="4251960"/>
            <a:ext cx="2377440" cy="731520"/>
          </a:xfrm>
          <a:prstGeom prst="rect">
            <a:avLst/>
          </a:prstGeom>
          <a:solidFill>
            <a:srgbClr val="A5D6A7"/>
          </a:solidFill>
          <a:ln w="12700">
            <a:solidFill>
              <a:srgbClr val="FFFFFF"/>
            </a:solidFill>
            <a:prstDash val="solid"/>
          </a:ln>
        </p:spPr>
      </p:sp>
      <p:sp>
        <p:nvSpPr>
          <p:cNvPr id="7" name="Motive"/>
          <p:cNvSpPr txBox="1"/>
          <p:nvPr/>
        </p:nvSpPr>
        <p:spPr>
          <a:xfrm>
            <a:off x="7178040" y="4251960"/>
            <a:ext cx="2194560" cy="731520"/>
          </a:xfrm>
          <a:prstGeom prst="rect">
            <a:avLst/>
          </a:prstGeom>
          <a:noFill/>
          <a:ln/>
        </p:spPr>
        <p:txBody>
          <a:bodyPr wrap="square" lIns="0" tIns="0" rIns="0" bIns="0" rtlCol="0" anchor="ctr"/>
          <a:lstStyle/>
          <a:p>
            <a:pPr indent="0" marL="0">
              <a:buNone/>
            </a:pPr>
            <a:r>
              <a:rPr lang="en-US" sz="1400" b="1" dirty="0">
                <a:solidFill>
                  <a:srgbClr val="222222"/>
                </a:solidFill>
              </a:rPr>
              <a:t>Motive</a:t>
            </a:r>
            <a:endParaRPr lang="en-US" sz="1400" dirty="0"/>
          </a:p>
        </p:txBody>
      </p:sp>
      <p:sp>
        <p:nvSpPr>
          <p:cNvPr id="8" name="Treapta Interese"/>
          <p:cNvSpPr/>
          <p:nvPr/>
        </p:nvSpPr>
        <p:spPr>
          <a:xfrm>
            <a:off x="7040880" y="3429000"/>
            <a:ext cx="3017520" cy="731520"/>
          </a:xfrm>
          <a:prstGeom prst="rect">
            <a:avLst/>
          </a:prstGeom>
          <a:solidFill>
            <a:srgbClr val="2E7D32"/>
          </a:solidFill>
          <a:ln w="12700">
            <a:solidFill>
              <a:srgbClr val="FFFFFF"/>
            </a:solidFill>
            <a:prstDash val="solid"/>
          </a:ln>
        </p:spPr>
      </p:sp>
      <p:sp>
        <p:nvSpPr>
          <p:cNvPr id="9" name="Interese"/>
          <p:cNvSpPr txBox="1"/>
          <p:nvPr/>
        </p:nvSpPr>
        <p:spPr>
          <a:xfrm>
            <a:off x="7178040" y="3429000"/>
            <a:ext cx="2834640" cy="731520"/>
          </a:xfrm>
          <a:prstGeom prst="rect">
            <a:avLst/>
          </a:prstGeom>
          <a:noFill/>
          <a:ln/>
        </p:spPr>
        <p:txBody>
          <a:bodyPr wrap="square" lIns="0" tIns="0" rIns="0" bIns="0" rtlCol="0" anchor="ctr"/>
          <a:lstStyle/>
          <a:p>
            <a:pPr indent="0" marL="0">
              <a:buNone/>
            </a:pPr>
            <a:r>
              <a:rPr lang="en-US" sz="1400" b="1" dirty="0">
                <a:solidFill>
                  <a:srgbClr val="FFFFFF"/>
                </a:solidFill>
              </a:rPr>
              <a:t>Interese</a:t>
            </a:r>
            <a:endParaRPr lang="en-US" sz="1400" dirty="0"/>
          </a:p>
        </p:txBody>
      </p:sp>
      <p:sp>
        <p:nvSpPr>
          <p:cNvPr id="10" name="Treapta Convingeri"/>
          <p:cNvSpPr/>
          <p:nvPr/>
        </p:nvSpPr>
        <p:spPr>
          <a:xfrm>
            <a:off x="7040880" y="2606040"/>
            <a:ext cx="3657600" cy="731520"/>
          </a:xfrm>
          <a:prstGeom prst="rect">
            <a:avLst/>
          </a:prstGeom>
          <a:solidFill>
            <a:srgbClr val="2E7D32"/>
          </a:solidFill>
          <a:ln w="12700">
            <a:solidFill>
              <a:srgbClr val="FFFFFF"/>
            </a:solidFill>
            <a:prstDash val="solid"/>
          </a:ln>
        </p:spPr>
      </p:sp>
      <p:sp>
        <p:nvSpPr>
          <p:cNvPr id="11" name="Convingeri"/>
          <p:cNvSpPr txBox="1"/>
          <p:nvPr/>
        </p:nvSpPr>
        <p:spPr>
          <a:xfrm>
            <a:off x="7178040" y="2606040"/>
            <a:ext cx="3474720" cy="731520"/>
          </a:xfrm>
          <a:prstGeom prst="rect">
            <a:avLst/>
          </a:prstGeom>
          <a:noFill/>
          <a:ln/>
        </p:spPr>
        <p:txBody>
          <a:bodyPr wrap="square" lIns="0" tIns="0" rIns="0" bIns="0" rtlCol="0" anchor="ctr"/>
          <a:lstStyle/>
          <a:p>
            <a:pPr indent="0" marL="0">
              <a:buNone/>
            </a:pPr>
            <a:r>
              <a:rPr lang="en-US" sz="1400" b="1" dirty="0">
                <a:solidFill>
                  <a:srgbClr val="FFFFFF"/>
                </a:solidFill>
              </a:rPr>
              <a:t>Convingeri</a:t>
            </a:r>
            <a:endParaRPr lang="en-US" sz="1400" dirty="0"/>
          </a:p>
        </p:txBody>
      </p:sp>
      <p:sp>
        <p:nvSpPr>
          <p:cNvPr id="12" name="Treapta Idealuri"/>
          <p:cNvSpPr/>
          <p:nvPr/>
        </p:nvSpPr>
        <p:spPr>
          <a:xfrm>
            <a:off x="7040880" y="1783080"/>
            <a:ext cx="4297680" cy="731520"/>
          </a:xfrm>
          <a:prstGeom prst="rect">
            <a:avLst/>
          </a:prstGeom>
          <a:solidFill>
            <a:srgbClr val="1E5B2A"/>
          </a:solidFill>
          <a:ln w="12700">
            <a:solidFill>
              <a:srgbClr val="FFFFFF"/>
            </a:solidFill>
            <a:prstDash val="solid"/>
          </a:ln>
        </p:spPr>
      </p:sp>
      <p:sp>
        <p:nvSpPr>
          <p:cNvPr id="13" name="Idealuri"/>
          <p:cNvSpPr txBox="1"/>
          <p:nvPr/>
        </p:nvSpPr>
        <p:spPr>
          <a:xfrm>
            <a:off x="7178040" y="1783080"/>
            <a:ext cx="4114800" cy="731520"/>
          </a:xfrm>
          <a:prstGeom prst="rect">
            <a:avLst/>
          </a:prstGeom>
          <a:noFill/>
          <a:ln/>
        </p:spPr>
        <p:txBody>
          <a:bodyPr wrap="square" lIns="0" tIns="0" rIns="0" bIns="0" rtlCol="0" anchor="ctr"/>
          <a:lstStyle/>
          <a:p>
            <a:pPr indent="0" marL="0">
              <a:buNone/>
            </a:pPr>
            <a:r>
              <a:rPr lang="en-US" sz="1400" b="1" dirty="0">
                <a:solidFill>
                  <a:srgbClr val="FFFFFF"/>
                </a:solidFill>
              </a:rPr>
              <a:t>Idealuri</a:t>
            </a:r>
            <a:endParaRPr lang="en-US" sz="1400" dirty="0"/>
          </a:p>
        </p:txBody>
      </p:sp>
      <p:sp>
        <p:nvSpPr>
          <p:cNvPr id="14" name="de jos în sus: de la nevo"/>
          <p:cNvSpPr txBox="1"/>
          <p:nvPr/>
        </p:nvSpPr>
        <p:spPr>
          <a:xfrm>
            <a:off x="7040880" y="5989320"/>
            <a:ext cx="4480560" cy="320040"/>
          </a:xfrm>
          <a:prstGeom prst="rect">
            <a:avLst/>
          </a:prstGeom>
          <a:noFill/>
          <a:ln/>
        </p:spPr>
        <p:txBody>
          <a:bodyPr wrap="square" lIns="0" tIns="0" rIns="0" bIns="0" rtlCol="0" anchor="ctr"/>
          <a:lstStyle/>
          <a:p>
            <a:pPr indent="0" marL="0">
              <a:buNone/>
            </a:pPr>
            <a:r>
              <a:rPr lang="en-US" sz="1100" i="1" dirty="0">
                <a:solidFill>
                  <a:srgbClr val="6D6D6D"/>
                </a:solidFill>
              </a:rPr>
              <a:t>de jos în sus: de la nevoi simple la cele mari</a:t>
            </a:r>
            <a:endParaRPr lang="en-US" sz="11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Funcțiile motivației</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Activare: te scoate din stat, îți dă energie</a:t>
            </a:r>
            <a:endParaRPr lang="en-US" sz="1600" dirty="0"/>
          </a:p>
          <a:p>
            <a:pPr marL="228600" indent="-228600">
              <a:spcAft>
                <a:spcPts val="1200"/>
              </a:spcAft>
              <a:buSzPct val="100000"/>
              <a:buChar char="•"/>
            </a:pPr>
            <a:r>
              <a:rPr lang="en-US" sz="1600" dirty="0">
                <a:solidFill>
                  <a:srgbClr val="222222"/>
                </a:solidFill>
              </a:rPr>
              <a:t>Orientare: alege o direcție, un scop</a:t>
            </a:r>
            <a:endParaRPr lang="en-US" sz="1600" dirty="0"/>
          </a:p>
          <a:p>
            <a:pPr marL="228600" indent="-228600">
              <a:spcAft>
                <a:spcPts val="1200"/>
              </a:spcAft>
              <a:buSzPct val="100000"/>
              <a:buChar char="•"/>
            </a:pPr>
            <a:r>
              <a:rPr lang="en-US" sz="1600" dirty="0">
                <a:solidFill>
                  <a:srgbClr val="222222"/>
                </a:solidFill>
              </a:rPr>
              <a:t>Susținere: ține efortul în timp, chiar cu piedici</a:t>
            </a:r>
            <a:endParaRPr lang="en-US" sz="1600" dirty="0"/>
          </a:p>
          <a:p>
            <a:pPr marL="228600" indent="-228600">
              <a:spcAft>
                <a:spcPts val="1200"/>
              </a:spcAft>
              <a:buSzPct val="100000"/>
              <a:buChar char="•"/>
            </a:pPr>
            <a:r>
              <a:rPr lang="en-US" sz="1600" dirty="0">
                <a:solidFill>
                  <a:srgbClr val="222222"/>
                </a:solidFill>
              </a:rPr>
              <a:t>Reglare: potrivește efortul după situație</a:t>
            </a:r>
            <a:endParaRPr lang="en-US" sz="1600" dirty="0"/>
          </a:p>
        </p:txBody>
      </p:sp>
      <p:sp>
        <p:nvSpPr>
          <p:cNvPr id="4" name="Caseta Activare"/>
          <p:cNvSpPr/>
          <p:nvPr/>
        </p:nvSpPr>
        <p:spPr>
          <a:xfrm>
            <a:off x="7040880" y="1783080"/>
            <a:ext cx="2148840" cy="1828800"/>
          </a:xfrm>
          <a:prstGeom prst="rect">
            <a:avLst/>
          </a:prstGeom>
          <a:solidFill>
            <a:srgbClr val="1E5B2A"/>
          </a:solidFill>
          <a:ln w="12700">
            <a:solidFill>
              <a:srgbClr val="1E5B2A"/>
            </a:solidFill>
            <a:prstDash val="solid"/>
          </a:ln>
        </p:spPr>
      </p:sp>
      <p:sp>
        <p:nvSpPr>
          <p:cNvPr id="5" name="1"/>
          <p:cNvSpPr txBox="1"/>
          <p:nvPr/>
        </p:nvSpPr>
        <p:spPr>
          <a:xfrm>
            <a:off x="7223760" y="1920240"/>
            <a:ext cx="914400" cy="731520"/>
          </a:xfrm>
          <a:prstGeom prst="rect">
            <a:avLst/>
          </a:prstGeom>
          <a:noFill/>
          <a:ln/>
        </p:spPr>
        <p:txBody>
          <a:bodyPr wrap="square" lIns="0" tIns="0" rIns="0" bIns="0" rtlCol="0" anchor="ctr"/>
          <a:lstStyle/>
          <a:p>
            <a:pPr indent="0" marL="0">
              <a:buNone/>
            </a:pPr>
            <a:r>
              <a:rPr lang="en-US" sz="3600" b="1" dirty="0">
                <a:solidFill>
                  <a:srgbClr val="F2E94E"/>
                </a:solidFill>
              </a:rPr>
              <a:t>1</a:t>
            </a:r>
            <a:endParaRPr lang="en-US" sz="3600" dirty="0"/>
          </a:p>
        </p:txBody>
      </p:sp>
      <p:sp>
        <p:nvSpPr>
          <p:cNvPr id="6" name="Activare"/>
          <p:cNvSpPr txBox="1"/>
          <p:nvPr/>
        </p:nvSpPr>
        <p:spPr>
          <a:xfrm>
            <a:off x="7223760" y="2788920"/>
            <a:ext cx="1828800" cy="640080"/>
          </a:xfrm>
          <a:prstGeom prst="rect">
            <a:avLst/>
          </a:prstGeom>
          <a:noFill/>
          <a:ln/>
        </p:spPr>
        <p:txBody>
          <a:bodyPr wrap="square" lIns="0" tIns="0" rIns="0" bIns="0" rtlCol="0" anchor="ctr"/>
          <a:lstStyle/>
          <a:p>
            <a:pPr indent="0" marL="0">
              <a:buNone/>
            </a:pPr>
            <a:r>
              <a:rPr lang="en-US" sz="1600" b="1" dirty="0">
                <a:solidFill>
                  <a:srgbClr val="FFFFFF"/>
                </a:solidFill>
              </a:rPr>
              <a:t>Activare</a:t>
            </a:r>
            <a:endParaRPr lang="en-US" sz="1600" dirty="0"/>
          </a:p>
        </p:txBody>
      </p:sp>
      <p:sp>
        <p:nvSpPr>
          <p:cNvPr id="7" name="Caseta Orientare"/>
          <p:cNvSpPr/>
          <p:nvPr/>
        </p:nvSpPr>
        <p:spPr>
          <a:xfrm>
            <a:off x="9372600" y="1783080"/>
            <a:ext cx="2148840" cy="1828800"/>
          </a:xfrm>
          <a:prstGeom prst="rect">
            <a:avLst/>
          </a:prstGeom>
          <a:solidFill>
            <a:srgbClr val="F1F7F1"/>
          </a:solidFill>
          <a:ln w="12700">
            <a:solidFill>
              <a:srgbClr val="A5D6A7"/>
            </a:solidFill>
            <a:prstDash val="solid"/>
          </a:ln>
        </p:spPr>
      </p:sp>
      <p:sp>
        <p:nvSpPr>
          <p:cNvPr id="8" name="2"/>
          <p:cNvSpPr txBox="1"/>
          <p:nvPr/>
        </p:nvSpPr>
        <p:spPr>
          <a:xfrm>
            <a:off x="9555480" y="1920240"/>
            <a:ext cx="914400" cy="731520"/>
          </a:xfrm>
          <a:prstGeom prst="rect">
            <a:avLst/>
          </a:prstGeom>
          <a:noFill/>
          <a:ln/>
        </p:spPr>
        <p:txBody>
          <a:bodyPr wrap="square" lIns="0" tIns="0" rIns="0" bIns="0" rtlCol="0" anchor="ctr"/>
          <a:lstStyle/>
          <a:p>
            <a:pPr indent="0" marL="0">
              <a:buNone/>
            </a:pPr>
            <a:r>
              <a:rPr lang="en-US" sz="3600" b="1" dirty="0">
                <a:solidFill>
                  <a:srgbClr val="2E7D32"/>
                </a:solidFill>
              </a:rPr>
              <a:t>2</a:t>
            </a:r>
            <a:endParaRPr lang="en-US" sz="3600" dirty="0"/>
          </a:p>
        </p:txBody>
      </p:sp>
      <p:sp>
        <p:nvSpPr>
          <p:cNvPr id="9" name="Orientare"/>
          <p:cNvSpPr txBox="1"/>
          <p:nvPr/>
        </p:nvSpPr>
        <p:spPr>
          <a:xfrm>
            <a:off x="9555480" y="2788920"/>
            <a:ext cx="1828800" cy="640080"/>
          </a:xfrm>
          <a:prstGeom prst="rect">
            <a:avLst/>
          </a:prstGeom>
          <a:noFill/>
          <a:ln/>
        </p:spPr>
        <p:txBody>
          <a:bodyPr wrap="square" lIns="0" tIns="0" rIns="0" bIns="0" rtlCol="0" anchor="ctr"/>
          <a:lstStyle/>
          <a:p>
            <a:pPr indent="0" marL="0">
              <a:buNone/>
            </a:pPr>
            <a:r>
              <a:rPr lang="en-US" sz="1600" b="1" dirty="0">
                <a:solidFill>
                  <a:srgbClr val="1E5B2A"/>
                </a:solidFill>
              </a:rPr>
              <a:t>Orientare</a:t>
            </a:r>
            <a:endParaRPr lang="en-US" sz="1600" dirty="0"/>
          </a:p>
        </p:txBody>
      </p:sp>
      <p:sp>
        <p:nvSpPr>
          <p:cNvPr id="10" name="Caseta Susținere"/>
          <p:cNvSpPr/>
          <p:nvPr/>
        </p:nvSpPr>
        <p:spPr>
          <a:xfrm>
            <a:off x="7040880" y="3886200"/>
            <a:ext cx="2148840" cy="1828800"/>
          </a:xfrm>
          <a:prstGeom prst="rect">
            <a:avLst/>
          </a:prstGeom>
          <a:solidFill>
            <a:srgbClr val="F1F7F1"/>
          </a:solidFill>
          <a:ln w="12700">
            <a:solidFill>
              <a:srgbClr val="A5D6A7"/>
            </a:solidFill>
            <a:prstDash val="solid"/>
          </a:ln>
        </p:spPr>
      </p:sp>
      <p:sp>
        <p:nvSpPr>
          <p:cNvPr id="11" name="3"/>
          <p:cNvSpPr txBox="1"/>
          <p:nvPr/>
        </p:nvSpPr>
        <p:spPr>
          <a:xfrm>
            <a:off x="7223760" y="4023360"/>
            <a:ext cx="914400" cy="731520"/>
          </a:xfrm>
          <a:prstGeom prst="rect">
            <a:avLst/>
          </a:prstGeom>
          <a:noFill/>
          <a:ln/>
        </p:spPr>
        <p:txBody>
          <a:bodyPr wrap="square" lIns="0" tIns="0" rIns="0" bIns="0" rtlCol="0" anchor="ctr"/>
          <a:lstStyle/>
          <a:p>
            <a:pPr indent="0" marL="0">
              <a:buNone/>
            </a:pPr>
            <a:r>
              <a:rPr lang="en-US" sz="3600" b="1" dirty="0">
                <a:solidFill>
                  <a:srgbClr val="2E7D32"/>
                </a:solidFill>
              </a:rPr>
              <a:t>3</a:t>
            </a:r>
            <a:endParaRPr lang="en-US" sz="3600" dirty="0"/>
          </a:p>
        </p:txBody>
      </p:sp>
      <p:sp>
        <p:nvSpPr>
          <p:cNvPr id="12" name="Susținere"/>
          <p:cNvSpPr txBox="1"/>
          <p:nvPr/>
        </p:nvSpPr>
        <p:spPr>
          <a:xfrm>
            <a:off x="7223760" y="4892040"/>
            <a:ext cx="1828800" cy="640080"/>
          </a:xfrm>
          <a:prstGeom prst="rect">
            <a:avLst/>
          </a:prstGeom>
          <a:noFill/>
          <a:ln/>
        </p:spPr>
        <p:txBody>
          <a:bodyPr wrap="square" lIns="0" tIns="0" rIns="0" bIns="0" rtlCol="0" anchor="ctr"/>
          <a:lstStyle/>
          <a:p>
            <a:pPr indent="0" marL="0">
              <a:buNone/>
            </a:pPr>
            <a:r>
              <a:rPr lang="en-US" sz="1600" b="1" dirty="0">
                <a:solidFill>
                  <a:srgbClr val="1E5B2A"/>
                </a:solidFill>
              </a:rPr>
              <a:t>Susținere</a:t>
            </a:r>
            <a:endParaRPr lang="en-US" sz="1600" dirty="0"/>
          </a:p>
        </p:txBody>
      </p:sp>
      <p:sp>
        <p:nvSpPr>
          <p:cNvPr id="13" name="Caseta Reglare"/>
          <p:cNvSpPr/>
          <p:nvPr/>
        </p:nvSpPr>
        <p:spPr>
          <a:xfrm>
            <a:off x="9372600" y="3886200"/>
            <a:ext cx="2148840" cy="1828800"/>
          </a:xfrm>
          <a:prstGeom prst="rect">
            <a:avLst/>
          </a:prstGeom>
          <a:solidFill>
            <a:srgbClr val="1E5B2A"/>
          </a:solidFill>
          <a:ln w="12700">
            <a:solidFill>
              <a:srgbClr val="1E5B2A"/>
            </a:solidFill>
            <a:prstDash val="solid"/>
          </a:ln>
        </p:spPr>
      </p:sp>
      <p:sp>
        <p:nvSpPr>
          <p:cNvPr id="14" name="4"/>
          <p:cNvSpPr txBox="1"/>
          <p:nvPr/>
        </p:nvSpPr>
        <p:spPr>
          <a:xfrm>
            <a:off x="9555480" y="4023360"/>
            <a:ext cx="914400" cy="731520"/>
          </a:xfrm>
          <a:prstGeom prst="rect">
            <a:avLst/>
          </a:prstGeom>
          <a:noFill/>
          <a:ln/>
        </p:spPr>
        <p:txBody>
          <a:bodyPr wrap="square" lIns="0" tIns="0" rIns="0" bIns="0" rtlCol="0" anchor="ctr"/>
          <a:lstStyle/>
          <a:p>
            <a:pPr indent="0" marL="0">
              <a:buNone/>
            </a:pPr>
            <a:r>
              <a:rPr lang="en-US" sz="3600" b="1" dirty="0">
                <a:solidFill>
                  <a:srgbClr val="F2E94E"/>
                </a:solidFill>
              </a:rPr>
              <a:t>4</a:t>
            </a:r>
            <a:endParaRPr lang="en-US" sz="3600" dirty="0"/>
          </a:p>
        </p:txBody>
      </p:sp>
      <p:sp>
        <p:nvSpPr>
          <p:cNvPr id="15" name="Reglare"/>
          <p:cNvSpPr txBox="1"/>
          <p:nvPr/>
        </p:nvSpPr>
        <p:spPr>
          <a:xfrm>
            <a:off x="9555480" y="4892040"/>
            <a:ext cx="1828800" cy="640080"/>
          </a:xfrm>
          <a:prstGeom prst="rect">
            <a:avLst/>
          </a:prstGeom>
          <a:noFill/>
          <a:ln/>
        </p:spPr>
        <p:txBody>
          <a:bodyPr wrap="square" lIns="0" tIns="0" rIns="0" bIns="0" rtlCol="0" anchor="ctr"/>
          <a:lstStyle/>
          <a:p>
            <a:pPr indent="0" marL="0">
              <a:buNone/>
            </a:pPr>
            <a:r>
              <a:rPr lang="en-US" sz="1600" b="1" dirty="0">
                <a:solidFill>
                  <a:srgbClr val="FFFFFF"/>
                </a:solidFill>
              </a:rPr>
              <a:t>Reglare</a:t>
            </a:r>
            <a:endParaRPr lang="en-US" sz="16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Motivație intrinsecă și extrinsecă</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Intrinsecă (din interior): îți place lucrul în sine (jocul, curiozitatea)</a:t>
            </a:r>
            <a:endParaRPr lang="en-US" sz="1600" dirty="0"/>
          </a:p>
          <a:p>
            <a:pPr marL="228600" indent="-228600">
              <a:spcAft>
                <a:spcPts val="1200"/>
              </a:spcAft>
              <a:buSzPct val="100000"/>
              <a:buChar char="•"/>
            </a:pPr>
            <a:r>
              <a:rPr lang="en-US" sz="1600" dirty="0">
                <a:solidFill>
                  <a:srgbClr val="222222"/>
                </a:solidFill>
              </a:rPr>
              <a:t>Extrinsecă (din exterior): o faci pentru ceva din afară (nota, lauda, medalia, să scapi de pedeapsă)</a:t>
            </a:r>
            <a:endParaRPr lang="en-US" sz="1600" dirty="0"/>
          </a:p>
          <a:p>
            <a:pPr marL="228600" indent="-228600">
              <a:spcAft>
                <a:spcPts val="1200"/>
              </a:spcAft>
              <a:buSzPct val="100000"/>
              <a:buChar char="•"/>
            </a:pPr>
            <a:r>
              <a:rPr lang="en-US" sz="1600" dirty="0">
                <a:solidFill>
                  <a:srgbClr val="222222"/>
                </a:solidFill>
              </a:rPr>
              <a:t>Nu sunt opuse, de obicei coexistă</a:t>
            </a:r>
            <a:endParaRPr lang="en-US" sz="1600" dirty="0"/>
          </a:p>
          <a:p>
            <a:pPr marL="228600" indent="-228600">
              <a:spcAft>
                <a:spcPts val="1200"/>
              </a:spcAft>
              <a:buSzPct val="100000"/>
              <a:buChar char="•"/>
            </a:pPr>
            <a:r>
              <a:rPr lang="en-US" sz="1600" dirty="0">
                <a:solidFill>
                  <a:srgbClr val="222222"/>
                </a:solidFill>
              </a:rPr>
              <a:t>Cea din interior ține mai mult, cea din exterior pornește motorul când lipsește prima</a:t>
            </a:r>
            <a:endParaRPr lang="en-US" sz="1600" dirty="0"/>
          </a:p>
        </p:txBody>
      </p:sp>
      <p:graphicFrame>
        <p:nvGraphicFramePr>
          <p:cNvPr id="8" name="Tabel comparatie"/>
          <p:cNvGraphicFramePr>
            <a:graphicFrameLocks noGrp="1"/>
          </p:cNvGraphicFramePr>
          <p:nvPr>
            <p:extLst>
              <p:ext uri="{D42A27DB-BD31-4B8C-83A1-F6EECF244321}">
                <p14:modId xmlns:p14="http://schemas.microsoft.com/office/powerpoint/2010/main" val="1579011935"/>
              </p:ext>
            </p:extLst>
          </p:nvPr>
        </p:nvGraphicFramePr>
        <p:xfrm>
          <a:off x="7040880" y="1783080"/>
          <a:ext cx="4480560" cy="914400"/>
        </p:xfrm>
        <a:graphic>
          <a:graphicData uri="http://schemas.openxmlformats.org/drawingml/2006/table">
            <a:tbl>
              <a:tblPr/>
              <a:tblGrid>
                <a:gridCol w="1280160"/>
                <a:gridCol w="1600200"/>
                <a:gridCol w="1600200"/>
              </a:tblGrid>
              <a:tr h="685800">
                <a:tc>
                  <a:txBody>
                    <a:bodyPr/>
                    <a:lstStyle/>
                    <a:p>
                      <a:pPr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Din interior</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E7D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Din exterior</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6D6D6D"/>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Unde e răsplata</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în lucrul în sine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în afara lui</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Exemplu</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joc pentru că îmi place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joc pentru notă sau medalie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Cât ține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mult</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cât ține recompensa</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Cum se simte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plăcere, curiozitate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presiune, așteptare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Legea optimului motivațional</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Yerkes și Dodson (1908): performanța crește cu motivația, dar numai până la un punct</a:t>
            </a:r>
            <a:endParaRPr lang="en-US" sz="1600" dirty="0"/>
          </a:p>
          <a:p>
            <a:pPr marL="228600" indent="-228600">
              <a:spcAft>
                <a:spcPts val="1200"/>
              </a:spcAft>
              <a:buSzPct val="100000"/>
              <a:buChar char="•"/>
            </a:pPr>
            <a:r>
              <a:rPr lang="en-US" sz="1600" dirty="0">
                <a:solidFill>
                  <a:srgbClr val="222222"/>
                </a:solidFill>
              </a:rPr>
              <a:t>Prea puțină motivație: plictiseală, efort mic, rezultate slabe</a:t>
            </a:r>
            <a:endParaRPr lang="en-US" sz="1600" dirty="0"/>
          </a:p>
          <a:p>
            <a:pPr marL="228600" indent="-228600">
              <a:spcAft>
                <a:spcPts val="1200"/>
              </a:spcAft>
              <a:buSzPct val="100000"/>
              <a:buChar char="•"/>
            </a:pPr>
            <a:r>
              <a:rPr lang="en-US" sz="1600" dirty="0">
                <a:solidFill>
                  <a:srgbClr val="222222"/>
                </a:solidFill>
              </a:rPr>
              <a:t>Prea multă motivație: emoții, crispare, greșeli (sportivul care „îngheață” la concurs)</a:t>
            </a:r>
            <a:endParaRPr lang="en-US" sz="1600" dirty="0"/>
          </a:p>
          <a:p>
            <a:pPr marL="228600" indent="-228600">
              <a:spcAft>
                <a:spcPts val="1200"/>
              </a:spcAft>
              <a:buSzPct val="100000"/>
              <a:buChar char="•"/>
            </a:pPr>
            <a:r>
              <a:rPr lang="en-US" sz="1600" dirty="0">
                <a:solidFill>
                  <a:srgbClr val="222222"/>
                </a:solidFill>
              </a:rPr>
              <a:t>La sarcini simple merge motivație mare, la cele complicate e nevoie de una potrivită</a:t>
            </a:r>
            <a:endParaRPr lang="en-US" sz="1600" dirty="0"/>
          </a:p>
        </p:txBody>
      </p:sp>
      <p:graphicFrame>
        <p:nvGraphicFramePr>
          <p:cNvPr id="4" name="Chart 0" descr=""/>
          <p:cNvGraphicFramePr/>
          <p:nvPr/>
        </p:nvGraphicFramePr>
        <p:xfrm>
          <a:off x="7040880" y="1600200"/>
          <a:ext cx="4480560"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EA 2"/>
          <p:cNvSpPr txBox="1"/>
          <p:nvPr/>
        </p:nvSpPr>
        <p:spPr>
          <a:xfrm>
            <a:off x="731520" y="1280160"/>
            <a:ext cx="5486400" cy="457200"/>
          </a:xfrm>
          <a:prstGeom prst="rect">
            <a:avLst/>
          </a:prstGeom>
          <a:noFill/>
          <a:ln/>
        </p:spPr>
        <p:txBody>
          <a:bodyPr wrap="square" lIns="0" tIns="0" rIns="0" bIns="0" rtlCol="0" anchor="ctr"/>
          <a:lstStyle/>
          <a:p>
            <a:pPr indent="0" marL="0">
              <a:buNone/>
            </a:pPr>
            <a:r>
              <a:rPr lang="en-US" sz="1400" b="1" spc="400" kern="0" dirty="0">
                <a:solidFill>
                  <a:srgbClr val="F2E94E"/>
                </a:solidFill>
              </a:rPr>
              <a:t>PARTEA 2</a:t>
            </a:r>
            <a:endParaRPr lang="en-US" sz="1400" dirty="0"/>
          </a:p>
        </p:txBody>
      </p:sp>
      <p:sp>
        <p:nvSpPr>
          <p:cNvPr id="3" name="2"/>
          <p:cNvSpPr txBox="1"/>
          <p:nvPr/>
        </p:nvSpPr>
        <p:spPr>
          <a:xfrm>
            <a:off x="9418320" y="914400"/>
            <a:ext cx="2286000" cy="4114800"/>
          </a:xfrm>
          <a:prstGeom prst="rect">
            <a:avLst/>
          </a:prstGeom>
          <a:noFill/>
          <a:ln/>
        </p:spPr>
        <p:txBody>
          <a:bodyPr wrap="square" lIns="0" tIns="0" rIns="0" bIns="0" rtlCol="0" anchor="ctr"/>
          <a:lstStyle/>
          <a:p>
            <a:pPr algn="r" indent="0" marL="0">
              <a:buNone/>
            </a:pPr>
            <a:r>
              <a:rPr lang="en-US" sz="22000" b="1" dirty="0">
                <a:solidFill>
                  <a:srgbClr val="2E7D32"/>
                </a:solidFill>
              </a:rPr>
              <a:t>2</a:t>
            </a:r>
            <a:endParaRPr lang="en-US" sz="22000" dirty="0"/>
          </a:p>
        </p:txBody>
      </p:sp>
      <p:sp>
        <p:nvSpPr>
          <p:cNvPr id="4" name="Text 0"/>
          <p:cNvSpPr/>
          <p:nvPr>
            <p:ph idx="100" type="title" hasCustomPrompt="1"/>
          </p:nvPr>
        </p:nvSpPr>
        <p:spPr>
          <a:xfrm>
            <a:off x="731520" y="2011680"/>
            <a:ext cx="8686800" cy="2011680"/>
          </a:xfrm>
          <a:prstGeom prst="rect">
            <a:avLst/>
          </a:prstGeom>
          <a:noFill/>
          <a:ln/>
        </p:spPr>
        <p:txBody>
          <a:bodyPr wrap="square" lIns="0" tIns="0" rIns="0" bIns="0" rtlCol="0" anchor="ctr"/>
          <a:lstStyle/>
          <a:p>
            <a:pPr algn="l" indent="0" marL="0">
              <a:buNone/>
            </a:pPr>
            <a:r>
              <a:rPr lang="en-US" sz="3600" b="1" dirty="0">
                <a:solidFill>
                  <a:srgbClr val="FFFFFF"/>
                </a:solidFill>
              </a:rPr>
              <a:t>Perspective de abordare a motivației</a:t>
            </a:r>
            <a:endParaRPr lang="en-US" sz="3600" dirty="0"/>
          </a:p>
        </p:txBody>
      </p:sp>
      <p:sp>
        <p:nvSpPr>
          <p:cNvPr id="5" name="Text 0"/>
          <p:cNvSpPr/>
          <p:nvPr>
            <p:ph idx="101" type="body" hasCustomPrompt="1"/>
          </p:nvPr>
        </p:nvSpPr>
        <p:spPr>
          <a:xfrm>
            <a:off x="731520" y="4114800"/>
            <a:ext cx="8686800" cy="731520"/>
          </a:xfrm>
          <a:prstGeom prst="rect">
            <a:avLst/>
          </a:prstGeom>
          <a:noFill/>
          <a:ln/>
        </p:spPr>
        <p:txBody>
          <a:bodyPr wrap="square" lIns="0" tIns="0" rIns="0" bIns="0" rtlCol="0" anchor="t"/>
          <a:lstStyle/>
          <a:p>
            <a:pPr algn="l" indent="0" marL="0">
              <a:buNone/>
            </a:pPr>
            <a:r>
              <a:rPr lang="en-US" sz="1800" dirty="0">
                <a:solidFill>
                  <a:srgbClr val="F2E94E"/>
                </a:solidFill>
              </a:rPr>
              <a:t>Membrul 2  ·  7-8 minute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Perspectiva behavioristă</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Skinner: comportamentul urmat de recompensă se repetă, cel urmat de pedeapsă se stinge</a:t>
            </a:r>
            <a:endParaRPr lang="en-US" sz="1600" dirty="0"/>
          </a:p>
          <a:p>
            <a:pPr marL="228600" indent="-228600">
              <a:spcAft>
                <a:spcPts val="1200"/>
              </a:spcAft>
              <a:buSzPct val="100000"/>
              <a:buChar char="•"/>
            </a:pPr>
            <a:r>
              <a:rPr lang="en-US" sz="1600" dirty="0">
                <a:solidFill>
                  <a:srgbClr val="222222"/>
                </a:solidFill>
              </a:rPr>
              <a:t>Motivația = tot ce ai primit până acum, recompense și pedepse</a:t>
            </a:r>
            <a:endParaRPr lang="en-US" sz="1600" dirty="0"/>
          </a:p>
          <a:p>
            <a:pPr marL="228600" indent="-228600">
              <a:spcAft>
                <a:spcPts val="1200"/>
              </a:spcAft>
              <a:buSzPct val="100000"/>
              <a:buChar char="•"/>
            </a:pPr>
            <a:r>
              <a:rPr lang="en-US" sz="1600" dirty="0">
                <a:solidFill>
                  <a:srgbClr val="222222"/>
                </a:solidFill>
              </a:rPr>
              <a:t>Aplicare: laudă, puncte, recompense, feedback imediat</a:t>
            </a:r>
            <a:endParaRPr lang="en-US" sz="1600" dirty="0"/>
          </a:p>
          <a:p>
            <a:pPr marL="228600" indent="-228600">
              <a:spcAft>
                <a:spcPts val="1200"/>
              </a:spcAft>
              <a:buSzPct val="100000"/>
              <a:buChar char="•"/>
            </a:pPr>
            <a:r>
              <a:rPr lang="en-US" sz="1600" dirty="0">
                <a:solidFill>
                  <a:srgbClr val="222222"/>
                </a:solidFill>
              </a:rPr>
              <a:t>Limită: dacă dispare recompensa, dispare și comportamentul</a:t>
            </a:r>
            <a:endParaRPr lang="en-US" sz="1600" dirty="0"/>
          </a:p>
        </p:txBody>
      </p:sp>
      <p:sp>
        <p:nvSpPr>
          <p:cNvPr id="4" name="Pas Fac ceva"/>
          <p:cNvSpPr/>
          <p:nvPr/>
        </p:nvSpPr>
        <p:spPr>
          <a:xfrm>
            <a:off x="8549640" y="1783080"/>
            <a:ext cx="1463040" cy="1463040"/>
          </a:xfrm>
          <a:prstGeom prst="ellipse">
            <a:avLst/>
          </a:prstGeom>
          <a:solidFill>
            <a:srgbClr val="1E5B2A"/>
          </a:solidFill>
          <a:ln w="12700">
            <a:solidFill>
              <a:srgbClr val="1E5B2A"/>
            </a:solidFill>
            <a:prstDash val="solid"/>
          </a:ln>
        </p:spPr>
      </p:sp>
      <p:sp>
        <p:nvSpPr>
          <p:cNvPr id="5" name="Fac ceva"/>
          <p:cNvSpPr txBox="1"/>
          <p:nvPr/>
        </p:nvSpPr>
        <p:spPr>
          <a:xfrm>
            <a:off x="8549640" y="1783080"/>
            <a:ext cx="1463040" cy="1463040"/>
          </a:xfrm>
          <a:prstGeom prst="rect">
            <a:avLst/>
          </a:prstGeom>
          <a:noFill/>
          <a:ln/>
        </p:spPr>
        <p:txBody>
          <a:bodyPr wrap="square" lIns="0" tIns="0" rIns="0" bIns="0" rtlCol="0" anchor="ctr"/>
          <a:lstStyle/>
          <a:p>
            <a:pPr algn="ctr" indent="0" marL="0">
              <a:buNone/>
            </a:pPr>
            <a:r>
              <a:rPr lang="en-US" sz="1400" b="1" dirty="0">
                <a:solidFill>
                  <a:srgbClr val="FFFFFF"/>
                </a:solidFill>
              </a:rPr>
              <a:t>Fac ceva</a:t>
            </a:r>
            <a:endParaRPr lang="en-US" sz="1400" dirty="0"/>
          </a:p>
        </p:txBody>
      </p:sp>
      <p:sp>
        <p:nvSpPr>
          <p:cNvPr id="6" name="Pas Primesc ceva"/>
          <p:cNvSpPr/>
          <p:nvPr/>
        </p:nvSpPr>
        <p:spPr>
          <a:xfrm>
            <a:off x="7223760" y="4160520"/>
            <a:ext cx="1463040" cy="1463040"/>
          </a:xfrm>
          <a:prstGeom prst="ellipse">
            <a:avLst/>
          </a:prstGeom>
          <a:solidFill>
            <a:srgbClr val="F2E94E"/>
          </a:solidFill>
          <a:ln w="12700">
            <a:solidFill>
              <a:srgbClr val="F2E94E"/>
            </a:solidFill>
            <a:prstDash val="solid"/>
          </a:ln>
        </p:spPr>
      </p:sp>
      <p:sp>
        <p:nvSpPr>
          <p:cNvPr id="7" name="Primesc ceva"/>
          <p:cNvSpPr txBox="1"/>
          <p:nvPr/>
        </p:nvSpPr>
        <p:spPr>
          <a:xfrm>
            <a:off x="7223760" y="4160520"/>
            <a:ext cx="1463040" cy="1463040"/>
          </a:xfrm>
          <a:prstGeom prst="rect">
            <a:avLst/>
          </a:prstGeom>
          <a:noFill/>
          <a:ln/>
        </p:spPr>
        <p:txBody>
          <a:bodyPr wrap="square" lIns="0" tIns="0" rIns="0" bIns="0" rtlCol="0" anchor="ctr"/>
          <a:lstStyle/>
          <a:p>
            <a:pPr algn="ctr" indent="0" marL="0">
              <a:buNone/>
            </a:pPr>
            <a:r>
              <a:rPr lang="en-US" sz="1400" b="1" dirty="0">
                <a:solidFill>
                  <a:srgbClr val="222222"/>
                </a:solidFill>
              </a:rPr>
              <a:t>Primesc ceva</a:t>
            </a:r>
            <a:endParaRPr lang="en-US" sz="1400" dirty="0"/>
          </a:p>
        </p:txBody>
      </p:sp>
      <p:sp>
        <p:nvSpPr>
          <p:cNvPr id="8" name="Pas Repet"/>
          <p:cNvSpPr/>
          <p:nvPr/>
        </p:nvSpPr>
        <p:spPr>
          <a:xfrm>
            <a:off x="9875520" y="4160520"/>
            <a:ext cx="1463040" cy="1463040"/>
          </a:xfrm>
          <a:prstGeom prst="ellipse">
            <a:avLst/>
          </a:prstGeom>
          <a:solidFill>
            <a:srgbClr val="1E5B2A"/>
          </a:solidFill>
          <a:ln w="12700">
            <a:solidFill>
              <a:srgbClr val="1E5B2A"/>
            </a:solidFill>
            <a:prstDash val="solid"/>
          </a:ln>
        </p:spPr>
      </p:sp>
      <p:sp>
        <p:nvSpPr>
          <p:cNvPr id="9" name="Repet"/>
          <p:cNvSpPr txBox="1"/>
          <p:nvPr/>
        </p:nvSpPr>
        <p:spPr>
          <a:xfrm>
            <a:off x="9875520" y="4160520"/>
            <a:ext cx="1463040" cy="1463040"/>
          </a:xfrm>
          <a:prstGeom prst="rect">
            <a:avLst/>
          </a:prstGeom>
          <a:noFill/>
          <a:ln/>
        </p:spPr>
        <p:txBody>
          <a:bodyPr wrap="square" lIns="0" tIns="0" rIns="0" bIns="0" rtlCol="0" anchor="ctr"/>
          <a:lstStyle/>
          <a:p>
            <a:pPr algn="ctr" indent="0" marL="0">
              <a:buNone/>
            </a:pPr>
            <a:r>
              <a:rPr lang="en-US" sz="1400" b="1" dirty="0">
                <a:solidFill>
                  <a:srgbClr val="FFFFFF"/>
                </a:solidFill>
              </a:rPr>
              <a:t>Repet</a:t>
            </a:r>
            <a:endParaRPr lang="en-US" sz="1400" dirty="0"/>
          </a:p>
        </p:txBody>
      </p:sp>
      <p:sp>
        <p:nvSpPr>
          <p:cNvPr id="10" name="Sageata 1"/>
          <p:cNvSpPr/>
          <p:nvPr/>
        </p:nvSpPr>
        <p:spPr>
          <a:xfrm flipH="1">
            <a:off x="8229600" y="3154680"/>
            <a:ext cx="822960" cy="1005840"/>
          </a:xfrm>
          <a:prstGeom prst="line">
            <a:avLst/>
          </a:prstGeom>
          <a:noFill/>
          <a:ln w="25400">
            <a:solidFill>
              <a:srgbClr val="6D6D6D"/>
            </a:solidFill>
            <a:prstDash val="solid"/>
            <a:tailEnd type="triangle"/>
          </a:ln>
        </p:spPr>
      </p:sp>
      <p:sp>
        <p:nvSpPr>
          <p:cNvPr id="11" name="Sageata 2"/>
          <p:cNvSpPr/>
          <p:nvPr/>
        </p:nvSpPr>
        <p:spPr>
          <a:xfrm>
            <a:off x="8732520" y="4892040"/>
            <a:ext cx="1097280" cy="0"/>
          </a:xfrm>
          <a:prstGeom prst="line">
            <a:avLst/>
          </a:prstGeom>
          <a:noFill/>
          <a:ln w="25400">
            <a:solidFill>
              <a:srgbClr val="6D6D6D"/>
            </a:solidFill>
            <a:prstDash val="solid"/>
            <a:tailEnd type="triangle"/>
          </a:ln>
        </p:spPr>
      </p:sp>
      <p:sp>
        <p:nvSpPr>
          <p:cNvPr id="12" name="Sageata 3"/>
          <p:cNvSpPr/>
          <p:nvPr/>
        </p:nvSpPr>
        <p:spPr>
          <a:xfrm flipV="1">
            <a:off x="9509760" y="3154680"/>
            <a:ext cx="822960" cy="1005840"/>
          </a:xfrm>
          <a:prstGeom prst="line">
            <a:avLst/>
          </a:prstGeom>
          <a:noFill/>
          <a:ln w="25400">
            <a:solidFill>
              <a:srgbClr val="6D6D6D"/>
            </a:solidFill>
            <a:prstDash val="solid"/>
            <a:tailEnd type="triangle"/>
          </a:ln>
        </p:spPr>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Perspectiva umanistă: Maslow</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Nevoile sunt pe trepte: fiziologice, siguranță, apartenență, stimă, autorealizare</a:t>
            </a:r>
            <a:endParaRPr lang="en-US" sz="1600" dirty="0"/>
          </a:p>
          <a:p>
            <a:pPr marL="228600" indent="-228600">
              <a:spcAft>
                <a:spcPts val="1200"/>
              </a:spcAft>
              <a:buSzPct val="100000"/>
              <a:buChar char="•"/>
            </a:pPr>
            <a:r>
              <a:rPr lang="en-US" sz="1600" dirty="0">
                <a:solidFill>
                  <a:srgbClr val="222222"/>
                </a:solidFill>
              </a:rPr>
              <a:t>Treapta de sus apare abia după ce cele de jos sunt rezolvate</a:t>
            </a:r>
            <a:endParaRPr lang="en-US" sz="1600" dirty="0"/>
          </a:p>
          <a:p>
            <a:pPr marL="228600" indent="-228600">
              <a:spcAft>
                <a:spcPts val="1200"/>
              </a:spcAft>
              <a:buSzPct val="100000"/>
              <a:buChar char="•"/>
            </a:pPr>
            <a:r>
              <a:rPr lang="en-US" sz="1600" dirty="0">
                <a:solidFill>
                  <a:srgbClr val="222222"/>
                </a:solidFill>
              </a:rPr>
              <a:t>Un elev flămând, obosit sau speriat nu e disponibil pentru învățare</a:t>
            </a:r>
            <a:endParaRPr lang="en-US" sz="1600" dirty="0"/>
          </a:p>
          <a:p>
            <a:pPr marL="228600" indent="-228600">
              <a:spcAft>
                <a:spcPts val="1200"/>
              </a:spcAft>
              <a:buSzPct val="100000"/>
              <a:buChar char="•"/>
            </a:pPr>
            <a:r>
              <a:rPr lang="en-US" sz="1600" dirty="0">
                <a:solidFill>
                  <a:srgbClr val="222222"/>
                </a:solidFill>
              </a:rPr>
              <a:t>Clasa trebuie să fie un loc sigur înainte de a fi un loc de performanță</a:t>
            </a:r>
            <a:endParaRPr lang="en-US" sz="1600" dirty="0"/>
          </a:p>
        </p:txBody>
      </p:sp>
      <p:sp>
        <p:nvSpPr>
          <p:cNvPr id="4" name="Nivel Autorealizare"/>
          <p:cNvSpPr/>
          <p:nvPr/>
        </p:nvSpPr>
        <p:spPr>
          <a:xfrm>
            <a:off x="8686800" y="1783080"/>
            <a:ext cx="1188720" cy="786384"/>
          </a:xfrm>
          <a:prstGeom prst="trapezoid">
            <a:avLst/>
          </a:prstGeom>
          <a:solidFill>
            <a:srgbClr val="F2E94E"/>
          </a:solidFill>
          <a:ln w="12700">
            <a:solidFill>
              <a:srgbClr val="FFFFFF"/>
            </a:solidFill>
            <a:prstDash val="solid"/>
          </a:ln>
        </p:spPr>
      </p:sp>
      <p:sp>
        <p:nvSpPr>
          <p:cNvPr id="5" name="Autorealizare"/>
          <p:cNvSpPr txBox="1"/>
          <p:nvPr/>
        </p:nvSpPr>
        <p:spPr>
          <a:xfrm>
            <a:off x="8686800" y="1783080"/>
            <a:ext cx="1188720" cy="786384"/>
          </a:xfrm>
          <a:prstGeom prst="rect">
            <a:avLst/>
          </a:prstGeom>
          <a:noFill/>
          <a:ln/>
        </p:spPr>
        <p:txBody>
          <a:bodyPr wrap="square" lIns="0" tIns="0" rIns="0" bIns="0" rtlCol="0" anchor="ctr"/>
          <a:lstStyle/>
          <a:p>
            <a:pPr algn="ctr" indent="0" marL="0">
              <a:buNone/>
            </a:pPr>
            <a:r>
              <a:rPr lang="en-US" sz="1200" b="1" dirty="0">
                <a:solidFill>
                  <a:srgbClr val="222222"/>
                </a:solidFill>
              </a:rPr>
              <a:t>Autorealizare</a:t>
            </a:r>
            <a:endParaRPr lang="en-US" sz="1200" dirty="0"/>
          </a:p>
        </p:txBody>
      </p:sp>
      <p:sp>
        <p:nvSpPr>
          <p:cNvPr id="6" name="Nivel Stimă"/>
          <p:cNvSpPr/>
          <p:nvPr/>
        </p:nvSpPr>
        <p:spPr>
          <a:xfrm>
            <a:off x="8298180" y="2624328"/>
            <a:ext cx="1965960" cy="786384"/>
          </a:xfrm>
          <a:prstGeom prst="trapezoid">
            <a:avLst/>
          </a:prstGeom>
          <a:solidFill>
            <a:srgbClr val="2E7D32"/>
          </a:solidFill>
          <a:ln w="12700">
            <a:solidFill>
              <a:srgbClr val="FFFFFF"/>
            </a:solidFill>
            <a:prstDash val="solid"/>
          </a:ln>
        </p:spPr>
      </p:sp>
      <p:sp>
        <p:nvSpPr>
          <p:cNvPr id="7" name="Stimă"/>
          <p:cNvSpPr txBox="1"/>
          <p:nvPr/>
        </p:nvSpPr>
        <p:spPr>
          <a:xfrm>
            <a:off x="8298180" y="2624328"/>
            <a:ext cx="1965960" cy="786384"/>
          </a:xfrm>
          <a:prstGeom prst="rect">
            <a:avLst/>
          </a:prstGeom>
          <a:noFill/>
          <a:ln/>
        </p:spPr>
        <p:txBody>
          <a:bodyPr wrap="square" lIns="0" tIns="0" rIns="0" bIns="0" rtlCol="0" anchor="ctr"/>
          <a:lstStyle/>
          <a:p>
            <a:pPr algn="ctr" indent="0" marL="0">
              <a:buNone/>
            </a:pPr>
            <a:r>
              <a:rPr lang="en-US" sz="1200" b="1" dirty="0">
                <a:solidFill>
                  <a:srgbClr val="FFFFFF"/>
                </a:solidFill>
              </a:rPr>
              <a:t>Stimă</a:t>
            </a:r>
            <a:endParaRPr lang="en-US" sz="1200" dirty="0"/>
          </a:p>
        </p:txBody>
      </p:sp>
      <p:sp>
        <p:nvSpPr>
          <p:cNvPr id="8" name="Nivel Apartenență"/>
          <p:cNvSpPr/>
          <p:nvPr/>
        </p:nvSpPr>
        <p:spPr>
          <a:xfrm>
            <a:off x="7909560" y="3465576"/>
            <a:ext cx="2743200" cy="786384"/>
          </a:xfrm>
          <a:prstGeom prst="trapezoid">
            <a:avLst/>
          </a:prstGeom>
          <a:solidFill>
            <a:srgbClr val="2E7D32"/>
          </a:solidFill>
          <a:ln w="12700">
            <a:solidFill>
              <a:srgbClr val="FFFFFF"/>
            </a:solidFill>
            <a:prstDash val="solid"/>
          </a:ln>
        </p:spPr>
      </p:sp>
      <p:sp>
        <p:nvSpPr>
          <p:cNvPr id="9" name="Apartenență"/>
          <p:cNvSpPr txBox="1"/>
          <p:nvPr/>
        </p:nvSpPr>
        <p:spPr>
          <a:xfrm>
            <a:off x="7909560" y="3465576"/>
            <a:ext cx="2743200" cy="786384"/>
          </a:xfrm>
          <a:prstGeom prst="rect">
            <a:avLst/>
          </a:prstGeom>
          <a:noFill/>
          <a:ln/>
        </p:spPr>
        <p:txBody>
          <a:bodyPr wrap="square" lIns="0" tIns="0" rIns="0" bIns="0" rtlCol="0" anchor="ctr"/>
          <a:lstStyle/>
          <a:p>
            <a:pPr algn="ctr" indent="0" marL="0">
              <a:buNone/>
            </a:pPr>
            <a:r>
              <a:rPr lang="en-US" sz="1200" b="1" dirty="0">
                <a:solidFill>
                  <a:srgbClr val="FFFFFF"/>
                </a:solidFill>
              </a:rPr>
              <a:t>Apartenență</a:t>
            </a:r>
            <a:endParaRPr lang="en-US" sz="1200" dirty="0"/>
          </a:p>
        </p:txBody>
      </p:sp>
      <p:sp>
        <p:nvSpPr>
          <p:cNvPr id="10" name="Nivel Siguranță"/>
          <p:cNvSpPr/>
          <p:nvPr/>
        </p:nvSpPr>
        <p:spPr>
          <a:xfrm>
            <a:off x="7520940" y="4306824"/>
            <a:ext cx="3520440" cy="786384"/>
          </a:xfrm>
          <a:prstGeom prst="trapezoid">
            <a:avLst/>
          </a:prstGeom>
          <a:solidFill>
            <a:srgbClr val="1E5B2A"/>
          </a:solidFill>
          <a:ln w="12700">
            <a:solidFill>
              <a:srgbClr val="FFFFFF"/>
            </a:solidFill>
            <a:prstDash val="solid"/>
          </a:ln>
        </p:spPr>
      </p:sp>
      <p:sp>
        <p:nvSpPr>
          <p:cNvPr id="11" name="Siguranță"/>
          <p:cNvSpPr txBox="1"/>
          <p:nvPr/>
        </p:nvSpPr>
        <p:spPr>
          <a:xfrm>
            <a:off x="7520940" y="4306824"/>
            <a:ext cx="3520440" cy="786384"/>
          </a:xfrm>
          <a:prstGeom prst="rect">
            <a:avLst/>
          </a:prstGeom>
          <a:noFill/>
          <a:ln/>
        </p:spPr>
        <p:txBody>
          <a:bodyPr wrap="square" lIns="0" tIns="0" rIns="0" bIns="0" rtlCol="0" anchor="ctr"/>
          <a:lstStyle/>
          <a:p>
            <a:pPr algn="ctr" indent="0" marL="0">
              <a:buNone/>
            </a:pPr>
            <a:r>
              <a:rPr lang="en-US" sz="1200" b="1" dirty="0">
                <a:solidFill>
                  <a:srgbClr val="FFFFFF"/>
                </a:solidFill>
              </a:rPr>
              <a:t>Siguranță</a:t>
            </a:r>
            <a:endParaRPr lang="en-US" sz="1200" dirty="0"/>
          </a:p>
        </p:txBody>
      </p:sp>
      <p:sp>
        <p:nvSpPr>
          <p:cNvPr id="12" name="Nivel Fiziologice"/>
          <p:cNvSpPr/>
          <p:nvPr/>
        </p:nvSpPr>
        <p:spPr>
          <a:xfrm>
            <a:off x="7132320" y="5148072"/>
            <a:ext cx="4297680" cy="786384"/>
          </a:xfrm>
          <a:prstGeom prst="trapezoid">
            <a:avLst/>
          </a:prstGeom>
          <a:solidFill>
            <a:srgbClr val="1E5B2A"/>
          </a:solidFill>
          <a:ln w="12700">
            <a:solidFill>
              <a:srgbClr val="FFFFFF"/>
            </a:solidFill>
            <a:prstDash val="solid"/>
          </a:ln>
        </p:spPr>
      </p:sp>
      <p:sp>
        <p:nvSpPr>
          <p:cNvPr id="13" name="Fiziologice"/>
          <p:cNvSpPr txBox="1"/>
          <p:nvPr/>
        </p:nvSpPr>
        <p:spPr>
          <a:xfrm>
            <a:off x="7132320" y="5148072"/>
            <a:ext cx="4297680" cy="786384"/>
          </a:xfrm>
          <a:prstGeom prst="rect">
            <a:avLst/>
          </a:prstGeom>
          <a:noFill/>
          <a:ln/>
        </p:spPr>
        <p:txBody>
          <a:bodyPr wrap="square" lIns="0" tIns="0" rIns="0" bIns="0" rtlCol="0" anchor="ctr"/>
          <a:lstStyle/>
          <a:p>
            <a:pPr algn="ctr" indent="0" marL="0">
              <a:buNone/>
            </a:pPr>
            <a:r>
              <a:rPr lang="en-US" sz="1200" b="1" dirty="0">
                <a:solidFill>
                  <a:srgbClr val="FFFFFF"/>
                </a:solidFill>
              </a:rPr>
              <a:t>Fiziologice</a:t>
            </a:r>
            <a:endParaRPr lang="en-US" sz="12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Perspectiva cognitivă</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Atkinson: în noi se bat dorința de a reuși și frica de a greși</a:t>
            </a:r>
            <a:endParaRPr lang="en-US" sz="1600" dirty="0"/>
          </a:p>
          <a:p>
            <a:pPr marL="228600" indent="-228600">
              <a:spcAft>
                <a:spcPts val="1200"/>
              </a:spcAft>
              <a:buSzPct val="100000"/>
              <a:buChar char="•"/>
            </a:pPr>
            <a:r>
              <a:rPr lang="en-US" sz="1600" dirty="0">
                <a:solidFill>
                  <a:srgbClr val="222222"/>
                </a:solidFill>
              </a:rPr>
              <a:t>Weiner (teoria atribuirii): contează pe cine dai vina</a:t>
            </a:r>
            <a:endParaRPr lang="en-US" sz="1600" dirty="0"/>
          </a:p>
          <a:p>
            <a:pPr marL="228600" indent="-228600">
              <a:spcAft>
                <a:spcPts val="1200"/>
              </a:spcAft>
              <a:buSzPct val="100000"/>
              <a:buChar char="•"/>
            </a:pPr>
            <a:r>
              <a:rPr lang="en-US" sz="1600" dirty="0">
                <a:solidFill>
                  <a:srgbClr val="222222"/>
                </a:solidFill>
              </a:rPr>
              <a:t>„Nu m-am antrenat destul” (depinde de mine) ține motivația</a:t>
            </a:r>
            <a:endParaRPr lang="en-US" sz="1600" dirty="0"/>
          </a:p>
          <a:p>
            <a:pPr marL="228600" indent="-228600">
              <a:spcAft>
                <a:spcPts val="1200"/>
              </a:spcAft>
              <a:buSzPct val="100000"/>
              <a:buChar char="•"/>
            </a:pPr>
            <a:r>
              <a:rPr lang="en-US" sz="1600" dirty="0">
                <a:solidFill>
                  <a:srgbClr val="222222"/>
                </a:solidFill>
              </a:rPr>
              <a:t>„N-am talent”, „arbitrul” (nu depinde de mine) o omoară</a:t>
            </a:r>
            <a:endParaRPr lang="en-US" sz="1600" dirty="0"/>
          </a:p>
        </p:txBody>
      </p:sp>
      <p:sp>
        <p:nvSpPr>
          <p:cNvPr id="4" name="„Am pierdut pentru că…”"/>
          <p:cNvSpPr txBox="1"/>
          <p:nvPr/>
        </p:nvSpPr>
        <p:spPr>
          <a:xfrm>
            <a:off x="7040880" y="1783080"/>
            <a:ext cx="4480560" cy="457200"/>
          </a:xfrm>
          <a:prstGeom prst="rect">
            <a:avLst/>
          </a:prstGeom>
          <a:noFill/>
          <a:ln/>
        </p:spPr>
        <p:txBody>
          <a:bodyPr wrap="square" lIns="0" tIns="0" rIns="0" bIns="0" rtlCol="0" anchor="ctr"/>
          <a:lstStyle/>
          <a:p>
            <a:pPr indent="0" marL="0">
              <a:buNone/>
            </a:pPr>
            <a:r>
              <a:rPr lang="en-US" sz="1600" b="1" dirty="0">
                <a:solidFill>
                  <a:srgbClr val="1E5B2A"/>
                </a:solidFill>
              </a:rPr>
              <a:t>„Am pierdut pentru că…”</a:t>
            </a:r>
            <a:endParaRPr lang="en-US" sz="1600" dirty="0"/>
          </a:p>
        </p:txBody>
      </p:sp>
      <p:sp>
        <p:nvSpPr>
          <p:cNvPr id="5" name="Caseta intern"/>
          <p:cNvSpPr/>
          <p:nvPr/>
        </p:nvSpPr>
        <p:spPr>
          <a:xfrm>
            <a:off x="7040880" y="2423160"/>
            <a:ext cx="4480560" cy="1554480"/>
          </a:xfrm>
          <a:prstGeom prst="rect">
            <a:avLst/>
          </a:prstGeom>
          <a:solidFill>
            <a:srgbClr val="F1F7F1"/>
          </a:solidFill>
          <a:ln w="12700">
            <a:solidFill>
              <a:srgbClr val="A5D6A7"/>
            </a:solidFill>
            <a:prstDash val="solid"/>
          </a:ln>
        </p:spPr>
      </p:sp>
      <p:sp>
        <p:nvSpPr>
          <p:cNvPr id="6" name="Text intern"/>
          <p:cNvSpPr txBox="1"/>
          <p:nvPr/>
        </p:nvSpPr>
        <p:spPr>
          <a:xfrm>
            <a:off x="7223760" y="2514600"/>
            <a:ext cx="4114800" cy="1371600"/>
          </a:xfrm>
          <a:prstGeom prst="rect">
            <a:avLst/>
          </a:prstGeom>
          <a:noFill/>
          <a:ln/>
        </p:spPr>
        <p:txBody>
          <a:bodyPr wrap="square" lIns="0" tIns="0" rIns="0" bIns="0" rtlCol="0" anchor="ctr"/>
          <a:lstStyle/>
          <a:p>
            <a:pPr indent="0" marL="0">
              <a:buNone/>
            </a:pPr>
            <a:r>
              <a:rPr lang="en-US" sz="1600" b="1" dirty="0">
                <a:solidFill>
                  <a:srgbClr val="1E5B2A"/>
                </a:solidFill>
              </a:rPr>
              <a:t>…nu m-am antrenat destul</a:t>
            </a:r>
            <a:endParaRPr lang="en-US" sz="1600" dirty="0"/>
          </a:p>
          <a:p>
            <a:pPr indent="0" marL="0">
              <a:buNone/>
            </a:pPr>
            <a:r>
              <a:rPr lang="en-US" sz="1200" dirty="0">
                <a:solidFill>
                  <a:srgbClr val="6D6D6D"/>
                </a:solidFill>
              </a:rPr>
              <a:t>depinde de mine, pot schimba ceva → motivația rămâne</a:t>
            </a:r>
            <a:endParaRPr lang="en-US" sz="1600" dirty="0"/>
          </a:p>
        </p:txBody>
      </p:sp>
      <p:sp>
        <p:nvSpPr>
          <p:cNvPr id="7" name="Caseta extern"/>
          <p:cNvSpPr/>
          <p:nvPr/>
        </p:nvSpPr>
        <p:spPr>
          <a:xfrm>
            <a:off x="7040880" y="4160520"/>
            <a:ext cx="4480560" cy="1554480"/>
          </a:xfrm>
          <a:prstGeom prst="rect">
            <a:avLst/>
          </a:prstGeom>
          <a:solidFill>
            <a:srgbClr val="FFFFFF"/>
          </a:solidFill>
          <a:ln w="12700">
            <a:solidFill>
              <a:srgbClr val="6D6D6D"/>
            </a:solidFill>
            <a:prstDash val="solid"/>
          </a:ln>
        </p:spPr>
      </p:sp>
      <p:sp>
        <p:nvSpPr>
          <p:cNvPr id="8" name="Text extern"/>
          <p:cNvSpPr txBox="1"/>
          <p:nvPr/>
        </p:nvSpPr>
        <p:spPr>
          <a:xfrm>
            <a:off x="7223760" y="4251960"/>
            <a:ext cx="4114800" cy="1371600"/>
          </a:xfrm>
          <a:prstGeom prst="rect">
            <a:avLst/>
          </a:prstGeom>
          <a:noFill/>
          <a:ln/>
        </p:spPr>
        <p:txBody>
          <a:bodyPr wrap="square" lIns="0" tIns="0" rIns="0" bIns="0" rtlCol="0" anchor="ctr"/>
          <a:lstStyle/>
          <a:p>
            <a:pPr indent="0" marL="0">
              <a:buNone/>
            </a:pPr>
            <a:r>
              <a:rPr lang="en-US" sz="1600" b="1" dirty="0">
                <a:solidFill>
                  <a:srgbClr val="222222"/>
                </a:solidFill>
              </a:rPr>
              <a:t>…n-am talent / arbitrul</a:t>
            </a:r>
            <a:endParaRPr lang="en-US" sz="1600" dirty="0"/>
          </a:p>
          <a:p>
            <a:pPr indent="0" marL="0">
              <a:buNone/>
            </a:pPr>
            <a:r>
              <a:rPr lang="en-US" sz="1200" dirty="0">
                <a:solidFill>
                  <a:srgbClr val="6D6D6D"/>
                </a:solidFill>
              </a:rPr>
              <a:t>nu depinde de mine, n-am ce face → motivația moare</a:t>
            </a:r>
            <a:endParaRPr lang="en-US" sz="16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Teoria autodeterminării: Deci și Ryan</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Trei nevoi de bază: autonomie (să aleg), competență (să mă descurc), relaționare (să fiu acceptat)</a:t>
            </a:r>
            <a:endParaRPr lang="en-US" sz="1600" dirty="0"/>
          </a:p>
          <a:p>
            <a:pPr marL="228600" indent="-228600">
              <a:spcAft>
                <a:spcPts val="1200"/>
              </a:spcAft>
              <a:buSzPct val="100000"/>
              <a:buChar char="•"/>
            </a:pPr>
            <a:r>
              <a:rPr lang="en-US" sz="1600" dirty="0">
                <a:solidFill>
                  <a:srgbClr val="222222"/>
                </a:solidFill>
              </a:rPr>
              <a:t>Când sunt împlinite, motivația vine din interior și ține</a:t>
            </a:r>
            <a:endParaRPr lang="en-US" sz="1600" dirty="0"/>
          </a:p>
          <a:p>
            <a:pPr marL="228600" indent="-228600">
              <a:spcAft>
                <a:spcPts val="1200"/>
              </a:spcAft>
              <a:buSzPct val="100000"/>
              <a:buChar char="•"/>
            </a:pPr>
            <a:r>
              <a:rPr lang="en-US" sz="1600" dirty="0">
                <a:solidFill>
                  <a:srgbClr val="222222"/>
                </a:solidFill>
              </a:rPr>
              <a:t>Când nu sunt împlinite, elevul nu mai vede rostul (amotivare)</a:t>
            </a:r>
            <a:endParaRPr lang="en-US" sz="1600" dirty="0"/>
          </a:p>
          <a:p>
            <a:pPr marL="228600" indent="-228600">
              <a:spcAft>
                <a:spcPts val="1200"/>
              </a:spcAft>
              <a:buSzPct val="100000"/>
              <a:buChar char="•"/>
            </a:pPr>
            <a:r>
              <a:rPr lang="en-US" sz="1600" dirty="0">
                <a:solidFill>
                  <a:srgbClr val="222222"/>
                </a:solidFill>
              </a:rPr>
              <a:t>O scară: fără motivație → din exterior → din interior</a:t>
            </a:r>
            <a:endParaRPr lang="en-US" sz="1600" dirty="0"/>
          </a:p>
        </p:txBody>
      </p:sp>
      <p:sp>
        <p:nvSpPr>
          <p:cNvPr id="4" name="1"/>
          <p:cNvSpPr txBox="1"/>
          <p:nvPr/>
        </p:nvSpPr>
        <p:spPr>
          <a:xfrm>
            <a:off x="7040880" y="1783080"/>
            <a:ext cx="822960" cy="1188720"/>
          </a:xfrm>
          <a:prstGeom prst="rect">
            <a:avLst/>
          </a:prstGeom>
          <a:noFill/>
          <a:ln/>
        </p:spPr>
        <p:txBody>
          <a:bodyPr wrap="square" lIns="0" tIns="0" rIns="0" bIns="0" rtlCol="0" anchor="ctr"/>
          <a:lstStyle/>
          <a:p>
            <a:pPr indent="0" marL="0">
              <a:buNone/>
            </a:pPr>
            <a:r>
              <a:rPr lang="en-US" sz="4800" b="1" dirty="0">
                <a:solidFill>
                  <a:srgbClr val="A5D6A7"/>
                </a:solidFill>
              </a:rPr>
              <a:t>1</a:t>
            </a:r>
            <a:endParaRPr lang="en-US" sz="4800" dirty="0"/>
          </a:p>
        </p:txBody>
      </p:sp>
      <p:sp>
        <p:nvSpPr>
          <p:cNvPr id="5" name="Autonomie"/>
          <p:cNvSpPr txBox="1"/>
          <p:nvPr/>
        </p:nvSpPr>
        <p:spPr>
          <a:xfrm>
            <a:off x="7955280" y="1920240"/>
            <a:ext cx="3566160" cy="548640"/>
          </a:xfrm>
          <a:prstGeom prst="rect">
            <a:avLst/>
          </a:prstGeom>
          <a:noFill/>
          <a:ln/>
        </p:spPr>
        <p:txBody>
          <a:bodyPr wrap="square" lIns="0" tIns="0" rIns="0" bIns="0" rtlCol="0" anchor="ctr"/>
          <a:lstStyle/>
          <a:p>
            <a:pPr indent="0" marL="0">
              <a:buNone/>
            </a:pPr>
            <a:r>
              <a:rPr lang="en-US" sz="2000" b="1" dirty="0">
                <a:solidFill>
                  <a:srgbClr val="1E5B2A"/>
                </a:solidFill>
              </a:rPr>
              <a:t>Autonomie</a:t>
            </a:r>
            <a:endParaRPr lang="en-US" sz="2000" dirty="0"/>
          </a:p>
        </p:txBody>
      </p:sp>
      <p:sp>
        <p:nvSpPr>
          <p:cNvPr id="6" name="să pot alege"/>
          <p:cNvSpPr txBox="1"/>
          <p:nvPr/>
        </p:nvSpPr>
        <p:spPr>
          <a:xfrm>
            <a:off x="7955280" y="2423160"/>
            <a:ext cx="3566160" cy="457200"/>
          </a:xfrm>
          <a:prstGeom prst="rect">
            <a:avLst/>
          </a:prstGeom>
          <a:noFill/>
          <a:ln/>
        </p:spPr>
        <p:txBody>
          <a:bodyPr wrap="square" lIns="0" tIns="0" rIns="0" bIns="0" rtlCol="0" anchor="ctr"/>
          <a:lstStyle/>
          <a:p>
            <a:pPr indent="0" marL="0">
              <a:buNone/>
            </a:pPr>
            <a:r>
              <a:rPr lang="en-US" sz="1300" dirty="0">
                <a:solidFill>
                  <a:srgbClr val="6D6D6D"/>
                </a:solidFill>
              </a:rPr>
              <a:t>să pot alege</a:t>
            </a:r>
            <a:endParaRPr lang="en-US" sz="1300" dirty="0"/>
          </a:p>
        </p:txBody>
      </p:sp>
      <p:sp>
        <p:nvSpPr>
          <p:cNvPr id="7" name="2"/>
          <p:cNvSpPr txBox="1"/>
          <p:nvPr/>
        </p:nvSpPr>
        <p:spPr>
          <a:xfrm>
            <a:off x="7040880" y="3200400"/>
            <a:ext cx="822960" cy="1188720"/>
          </a:xfrm>
          <a:prstGeom prst="rect">
            <a:avLst/>
          </a:prstGeom>
          <a:noFill/>
          <a:ln/>
        </p:spPr>
        <p:txBody>
          <a:bodyPr wrap="square" lIns="0" tIns="0" rIns="0" bIns="0" rtlCol="0" anchor="ctr"/>
          <a:lstStyle/>
          <a:p>
            <a:pPr indent="0" marL="0">
              <a:buNone/>
            </a:pPr>
            <a:r>
              <a:rPr lang="en-US" sz="4800" b="1" dirty="0">
                <a:solidFill>
                  <a:srgbClr val="A5D6A7"/>
                </a:solidFill>
              </a:rPr>
              <a:t>2</a:t>
            </a:r>
            <a:endParaRPr lang="en-US" sz="4800" dirty="0"/>
          </a:p>
        </p:txBody>
      </p:sp>
      <p:sp>
        <p:nvSpPr>
          <p:cNvPr id="8" name="Competență"/>
          <p:cNvSpPr txBox="1"/>
          <p:nvPr/>
        </p:nvSpPr>
        <p:spPr>
          <a:xfrm>
            <a:off x="7955280" y="3337560"/>
            <a:ext cx="3566160" cy="548640"/>
          </a:xfrm>
          <a:prstGeom prst="rect">
            <a:avLst/>
          </a:prstGeom>
          <a:noFill/>
          <a:ln/>
        </p:spPr>
        <p:txBody>
          <a:bodyPr wrap="square" lIns="0" tIns="0" rIns="0" bIns="0" rtlCol="0" anchor="ctr"/>
          <a:lstStyle/>
          <a:p>
            <a:pPr indent="0" marL="0">
              <a:buNone/>
            </a:pPr>
            <a:r>
              <a:rPr lang="en-US" sz="2000" b="1" dirty="0">
                <a:solidFill>
                  <a:srgbClr val="1E5B2A"/>
                </a:solidFill>
              </a:rPr>
              <a:t>Competență</a:t>
            </a:r>
            <a:endParaRPr lang="en-US" sz="2000" dirty="0"/>
          </a:p>
        </p:txBody>
      </p:sp>
      <p:sp>
        <p:nvSpPr>
          <p:cNvPr id="9" name="să mă descurc"/>
          <p:cNvSpPr txBox="1"/>
          <p:nvPr/>
        </p:nvSpPr>
        <p:spPr>
          <a:xfrm>
            <a:off x="7955280" y="3840480"/>
            <a:ext cx="3566160" cy="457200"/>
          </a:xfrm>
          <a:prstGeom prst="rect">
            <a:avLst/>
          </a:prstGeom>
          <a:noFill/>
          <a:ln/>
        </p:spPr>
        <p:txBody>
          <a:bodyPr wrap="square" lIns="0" tIns="0" rIns="0" bIns="0" rtlCol="0" anchor="ctr"/>
          <a:lstStyle/>
          <a:p>
            <a:pPr indent="0" marL="0">
              <a:buNone/>
            </a:pPr>
            <a:r>
              <a:rPr lang="en-US" sz="1300" dirty="0">
                <a:solidFill>
                  <a:srgbClr val="6D6D6D"/>
                </a:solidFill>
              </a:rPr>
              <a:t>să mă descurc</a:t>
            </a:r>
            <a:endParaRPr lang="en-US" sz="1300" dirty="0"/>
          </a:p>
        </p:txBody>
      </p:sp>
      <p:sp>
        <p:nvSpPr>
          <p:cNvPr id="10" name="3"/>
          <p:cNvSpPr txBox="1"/>
          <p:nvPr/>
        </p:nvSpPr>
        <p:spPr>
          <a:xfrm>
            <a:off x="7040880" y="4617720"/>
            <a:ext cx="822960" cy="1188720"/>
          </a:xfrm>
          <a:prstGeom prst="rect">
            <a:avLst/>
          </a:prstGeom>
          <a:noFill/>
          <a:ln/>
        </p:spPr>
        <p:txBody>
          <a:bodyPr wrap="square" lIns="0" tIns="0" rIns="0" bIns="0" rtlCol="0" anchor="ctr"/>
          <a:lstStyle/>
          <a:p>
            <a:pPr indent="0" marL="0">
              <a:buNone/>
            </a:pPr>
            <a:r>
              <a:rPr lang="en-US" sz="4800" b="1" dirty="0">
                <a:solidFill>
                  <a:srgbClr val="A5D6A7"/>
                </a:solidFill>
              </a:rPr>
              <a:t>3</a:t>
            </a:r>
            <a:endParaRPr lang="en-US" sz="4800" dirty="0"/>
          </a:p>
        </p:txBody>
      </p:sp>
      <p:sp>
        <p:nvSpPr>
          <p:cNvPr id="11" name="Relaționare"/>
          <p:cNvSpPr txBox="1"/>
          <p:nvPr/>
        </p:nvSpPr>
        <p:spPr>
          <a:xfrm>
            <a:off x="7955280" y="4754880"/>
            <a:ext cx="3566160" cy="548640"/>
          </a:xfrm>
          <a:prstGeom prst="rect">
            <a:avLst/>
          </a:prstGeom>
          <a:noFill/>
          <a:ln/>
        </p:spPr>
        <p:txBody>
          <a:bodyPr wrap="square" lIns="0" tIns="0" rIns="0" bIns="0" rtlCol="0" anchor="ctr"/>
          <a:lstStyle/>
          <a:p>
            <a:pPr indent="0" marL="0">
              <a:buNone/>
            </a:pPr>
            <a:r>
              <a:rPr lang="en-US" sz="2000" b="1" dirty="0">
                <a:solidFill>
                  <a:srgbClr val="1E5B2A"/>
                </a:solidFill>
              </a:rPr>
              <a:t>Relaționare</a:t>
            </a:r>
            <a:endParaRPr lang="en-US" sz="2000" dirty="0"/>
          </a:p>
        </p:txBody>
      </p:sp>
      <p:sp>
        <p:nvSpPr>
          <p:cNvPr id="12" name="să fiu acceptat"/>
          <p:cNvSpPr txBox="1"/>
          <p:nvPr/>
        </p:nvSpPr>
        <p:spPr>
          <a:xfrm>
            <a:off x="7955280" y="5257800"/>
            <a:ext cx="3566160" cy="457200"/>
          </a:xfrm>
          <a:prstGeom prst="rect">
            <a:avLst/>
          </a:prstGeom>
          <a:noFill/>
          <a:ln/>
        </p:spPr>
        <p:txBody>
          <a:bodyPr wrap="square" lIns="0" tIns="0" rIns="0" bIns="0" rtlCol="0" anchor="ctr"/>
          <a:lstStyle/>
          <a:p>
            <a:pPr indent="0" marL="0">
              <a:buNone/>
            </a:pPr>
            <a:r>
              <a:rPr lang="en-US" sz="1300" dirty="0">
                <a:solidFill>
                  <a:srgbClr val="6D6D6D"/>
                </a:solidFill>
              </a:rPr>
              <a:t>să fiu acceptat</a:t>
            </a:r>
            <a:endParaRPr lang="en-US" sz="13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Autoeficacitatea: Bandura</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Încrederea că „pot face asta” spune cât te străduiești și cât reziști</a:t>
            </a:r>
            <a:endParaRPr lang="en-US" sz="1600" dirty="0"/>
          </a:p>
          <a:p>
            <a:pPr marL="228600" indent="-228600">
              <a:spcAft>
                <a:spcPts val="1200"/>
              </a:spcAft>
              <a:buSzPct val="100000"/>
              <a:buChar char="•"/>
            </a:pPr>
            <a:r>
              <a:rPr lang="en-US" sz="1600" dirty="0">
                <a:solidFill>
                  <a:srgbClr val="222222"/>
                </a:solidFill>
              </a:rPr>
              <a:t>De unde vine: reușite proprii, cineva ca mine care reușește, încurajare, cum mă simt</a:t>
            </a:r>
            <a:endParaRPr lang="en-US" sz="1600" dirty="0"/>
          </a:p>
          <a:p>
            <a:pPr marL="228600" indent="-228600">
              <a:spcAft>
                <a:spcPts val="1200"/>
              </a:spcAft>
              <a:buSzPct val="100000"/>
              <a:buChar char="•"/>
            </a:pPr>
            <a:r>
              <a:rPr lang="en-US" sz="1600" dirty="0">
                <a:solidFill>
                  <a:srgbClr val="222222"/>
                </a:solidFill>
              </a:rPr>
              <a:t>Cea mai puternică: am reușit eu înainte</a:t>
            </a:r>
            <a:endParaRPr lang="en-US" sz="1600" dirty="0"/>
          </a:p>
          <a:p>
            <a:pPr marL="228600" indent="-228600">
              <a:spcAft>
                <a:spcPts val="1200"/>
              </a:spcAft>
              <a:buSzPct val="100000"/>
              <a:buChar char="•"/>
            </a:pPr>
            <a:r>
              <a:rPr lang="en-US" sz="1600" dirty="0">
                <a:solidFill>
                  <a:srgbClr val="222222"/>
                </a:solidFill>
              </a:rPr>
              <a:t>Sarcini din ce în ce mai grele, cu reușită sigură la început</a:t>
            </a:r>
            <a:endParaRPr lang="en-US" sz="1600" dirty="0"/>
          </a:p>
        </p:txBody>
      </p:sp>
      <p:sp>
        <p:nvSpPr>
          <p:cNvPr id="4" name="Centru pot"/>
          <p:cNvSpPr/>
          <p:nvPr/>
        </p:nvSpPr>
        <p:spPr>
          <a:xfrm>
            <a:off x="8458200" y="3063240"/>
            <a:ext cx="1645920" cy="1645920"/>
          </a:xfrm>
          <a:prstGeom prst="ellipse">
            <a:avLst/>
          </a:prstGeom>
          <a:solidFill>
            <a:srgbClr val="1E5B2A"/>
          </a:solidFill>
          <a:ln w="12700">
            <a:solidFill>
              <a:srgbClr val="1E5B2A"/>
            </a:solidFill>
            <a:prstDash val="solid"/>
          </a:ln>
        </p:spPr>
      </p:sp>
      <p:sp>
        <p:nvSpPr>
          <p:cNvPr id="5" name="„Pot!”"/>
          <p:cNvSpPr txBox="1"/>
          <p:nvPr/>
        </p:nvSpPr>
        <p:spPr>
          <a:xfrm>
            <a:off x="8458200" y="3063240"/>
            <a:ext cx="1645920" cy="1645920"/>
          </a:xfrm>
          <a:prstGeom prst="rect">
            <a:avLst/>
          </a:prstGeom>
          <a:noFill/>
          <a:ln/>
        </p:spPr>
        <p:txBody>
          <a:bodyPr wrap="square" lIns="0" tIns="0" rIns="0" bIns="0" rtlCol="0" anchor="ctr"/>
          <a:lstStyle/>
          <a:p>
            <a:pPr algn="ctr" indent="0" marL="0">
              <a:buNone/>
            </a:pPr>
            <a:r>
              <a:rPr lang="en-US" sz="2400" b="1" dirty="0">
                <a:solidFill>
                  <a:srgbClr val="F2E94E"/>
                </a:solidFill>
              </a:rPr>
              <a:t>„Pot!”</a:t>
            </a:r>
            <a:endParaRPr lang="en-US" sz="2400" dirty="0"/>
          </a:p>
        </p:txBody>
      </p:sp>
      <p:sp>
        <p:nvSpPr>
          <p:cNvPr id="6" name="Sursa 0"/>
          <p:cNvSpPr/>
          <p:nvPr/>
        </p:nvSpPr>
        <p:spPr>
          <a:xfrm>
            <a:off x="7040880" y="1783080"/>
            <a:ext cx="1828800" cy="914400"/>
          </a:xfrm>
          <a:prstGeom prst="rect">
            <a:avLst/>
          </a:prstGeom>
          <a:solidFill>
            <a:srgbClr val="2E7D32"/>
          </a:solidFill>
          <a:ln w="12700">
            <a:solidFill>
              <a:srgbClr val="2E7D32"/>
            </a:solidFill>
            <a:prstDash val="solid"/>
          </a:ln>
        </p:spPr>
      </p:sp>
      <p:sp>
        <p:nvSpPr>
          <p:cNvPr id="7" name="am reușit înainte"/>
          <p:cNvSpPr txBox="1"/>
          <p:nvPr/>
        </p:nvSpPr>
        <p:spPr>
          <a:xfrm>
            <a:off x="7132320" y="1783080"/>
            <a:ext cx="1645920" cy="914400"/>
          </a:xfrm>
          <a:prstGeom prst="rect">
            <a:avLst/>
          </a:prstGeom>
          <a:noFill/>
          <a:ln/>
        </p:spPr>
        <p:txBody>
          <a:bodyPr wrap="square" lIns="0" tIns="0" rIns="0" bIns="0" rtlCol="0" anchor="ctr"/>
          <a:lstStyle/>
          <a:p>
            <a:pPr algn="ctr" indent="0" marL="0">
              <a:buNone/>
            </a:pPr>
            <a:r>
              <a:rPr lang="en-US" sz="1200" b="1" dirty="0">
                <a:solidFill>
                  <a:srgbClr val="FFFFFF"/>
                </a:solidFill>
              </a:rPr>
              <a:t>am reușit înainte</a:t>
            </a:r>
            <a:endParaRPr lang="en-US" sz="1200" dirty="0"/>
          </a:p>
        </p:txBody>
      </p:sp>
      <p:sp>
        <p:nvSpPr>
          <p:cNvPr id="8" name="Sursa 1"/>
          <p:cNvSpPr/>
          <p:nvPr/>
        </p:nvSpPr>
        <p:spPr>
          <a:xfrm>
            <a:off x="9692640" y="1783080"/>
            <a:ext cx="1828800" cy="914400"/>
          </a:xfrm>
          <a:prstGeom prst="rect">
            <a:avLst/>
          </a:prstGeom>
          <a:solidFill>
            <a:srgbClr val="F1F7F1"/>
          </a:solidFill>
          <a:ln w="12700">
            <a:solidFill>
              <a:srgbClr val="A5D6A7"/>
            </a:solidFill>
            <a:prstDash val="solid"/>
          </a:ln>
        </p:spPr>
      </p:sp>
      <p:sp>
        <p:nvSpPr>
          <p:cNvPr id="9" name="văd pe cineva ca mine"/>
          <p:cNvSpPr txBox="1"/>
          <p:nvPr/>
        </p:nvSpPr>
        <p:spPr>
          <a:xfrm>
            <a:off x="9784080" y="1783080"/>
            <a:ext cx="1645920" cy="914400"/>
          </a:xfrm>
          <a:prstGeom prst="rect">
            <a:avLst/>
          </a:prstGeom>
          <a:noFill/>
          <a:ln/>
        </p:spPr>
        <p:txBody>
          <a:bodyPr wrap="square" lIns="0" tIns="0" rIns="0" bIns="0" rtlCol="0" anchor="ctr"/>
          <a:lstStyle/>
          <a:p>
            <a:pPr algn="ctr" indent="0" marL="0">
              <a:buNone/>
            </a:pPr>
            <a:r>
              <a:rPr lang="en-US" sz="1200" b="1" dirty="0">
                <a:solidFill>
                  <a:srgbClr val="222222"/>
                </a:solidFill>
              </a:rPr>
              <a:t>văd pe cineva ca mine</a:t>
            </a:r>
            <a:endParaRPr lang="en-US" sz="1200" dirty="0"/>
          </a:p>
        </p:txBody>
      </p:sp>
      <p:sp>
        <p:nvSpPr>
          <p:cNvPr id="10" name="Sursa 2"/>
          <p:cNvSpPr/>
          <p:nvPr/>
        </p:nvSpPr>
        <p:spPr>
          <a:xfrm>
            <a:off x="7040880" y="5074920"/>
            <a:ext cx="1828800" cy="914400"/>
          </a:xfrm>
          <a:prstGeom prst="rect">
            <a:avLst/>
          </a:prstGeom>
          <a:solidFill>
            <a:srgbClr val="F1F7F1"/>
          </a:solidFill>
          <a:ln w="12700">
            <a:solidFill>
              <a:srgbClr val="A5D6A7"/>
            </a:solidFill>
            <a:prstDash val="solid"/>
          </a:ln>
        </p:spPr>
      </p:sp>
      <p:sp>
        <p:nvSpPr>
          <p:cNvPr id="11" name="mă încurajează cineva"/>
          <p:cNvSpPr txBox="1"/>
          <p:nvPr/>
        </p:nvSpPr>
        <p:spPr>
          <a:xfrm>
            <a:off x="7132320" y="5074920"/>
            <a:ext cx="1645920" cy="914400"/>
          </a:xfrm>
          <a:prstGeom prst="rect">
            <a:avLst/>
          </a:prstGeom>
          <a:noFill/>
          <a:ln/>
        </p:spPr>
        <p:txBody>
          <a:bodyPr wrap="square" lIns="0" tIns="0" rIns="0" bIns="0" rtlCol="0" anchor="ctr"/>
          <a:lstStyle/>
          <a:p>
            <a:pPr algn="ctr" indent="0" marL="0">
              <a:buNone/>
            </a:pPr>
            <a:r>
              <a:rPr lang="en-US" sz="1200" b="1" dirty="0">
                <a:solidFill>
                  <a:srgbClr val="222222"/>
                </a:solidFill>
              </a:rPr>
              <a:t>mă încurajează cineva</a:t>
            </a:r>
            <a:endParaRPr lang="en-US" sz="1200" dirty="0"/>
          </a:p>
        </p:txBody>
      </p:sp>
      <p:sp>
        <p:nvSpPr>
          <p:cNvPr id="12" name="Sursa 3"/>
          <p:cNvSpPr/>
          <p:nvPr/>
        </p:nvSpPr>
        <p:spPr>
          <a:xfrm>
            <a:off x="9692640" y="5074920"/>
            <a:ext cx="1828800" cy="914400"/>
          </a:xfrm>
          <a:prstGeom prst="rect">
            <a:avLst/>
          </a:prstGeom>
          <a:solidFill>
            <a:srgbClr val="F1F7F1"/>
          </a:solidFill>
          <a:ln w="12700">
            <a:solidFill>
              <a:srgbClr val="A5D6A7"/>
            </a:solidFill>
            <a:prstDash val="solid"/>
          </a:ln>
        </p:spPr>
      </p:sp>
      <p:sp>
        <p:nvSpPr>
          <p:cNvPr id="13" name="cum mă simt"/>
          <p:cNvSpPr txBox="1"/>
          <p:nvPr/>
        </p:nvSpPr>
        <p:spPr>
          <a:xfrm>
            <a:off x="9784080" y="5074920"/>
            <a:ext cx="1645920" cy="914400"/>
          </a:xfrm>
          <a:prstGeom prst="rect">
            <a:avLst/>
          </a:prstGeom>
          <a:noFill/>
          <a:ln/>
        </p:spPr>
        <p:txBody>
          <a:bodyPr wrap="square" lIns="0" tIns="0" rIns="0" bIns="0" rtlCol="0" anchor="ctr"/>
          <a:lstStyle/>
          <a:p>
            <a:pPr algn="ctr" indent="0" marL="0">
              <a:buNone/>
            </a:pPr>
            <a:r>
              <a:rPr lang="en-US" sz="1200" b="1" dirty="0">
                <a:solidFill>
                  <a:srgbClr val="222222"/>
                </a:solidFill>
              </a:rPr>
              <a:t>cum mă simt</a:t>
            </a:r>
            <a:endParaRPr lang="en-US" sz="12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EA 3"/>
          <p:cNvSpPr txBox="1"/>
          <p:nvPr/>
        </p:nvSpPr>
        <p:spPr>
          <a:xfrm>
            <a:off x="731520" y="1280160"/>
            <a:ext cx="5486400" cy="457200"/>
          </a:xfrm>
          <a:prstGeom prst="rect">
            <a:avLst/>
          </a:prstGeom>
          <a:noFill/>
          <a:ln/>
        </p:spPr>
        <p:txBody>
          <a:bodyPr wrap="square" lIns="0" tIns="0" rIns="0" bIns="0" rtlCol="0" anchor="ctr"/>
          <a:lstStyle/>
          <a:p>
            <a:pPr indent="0" marL="0">
              <a:buNone/>
            </a:pPr>
            <a:r>
              <a:rPr lang="en-US" sz="1400" b="1" spc="400" kern="0" dirty="0">
                <a:solidFill>
                  <a:srgbClr val="F2E94E"/>
                </a:solidFill>
              </a:rPr>
              <a:t>PARTEA 3</a:t>
            </a:r>
            <a:endParaRPr lang="en-US" sz="1400" dirty="0"/>
          </a:p>
        </p:txBody>
      </p:sp>
      <p:sp>
        <p:nvSpPr>
          <p:cNvPr id="3" name="3"/>
          <p:cNvSpPr txBox="1"/>
          <p:nvPr/>
        </p:nvSpPr>
        <p:spPr>
          <a:xfrm>
            <a:off x="9418320" y="914400"/>
            <a:ext cx="2286000" cy="4114800"/>
          </a:xfrm>
          <a:prstGeom prst="rect">
            <a:avLst/>
          </a:prstGeom>
          <a:noFill/>
          <a:ln/>
        </p:spPr>
        <p:txBody>
          <a:bodyPr wrap="square" lIns="0" tIns="0" rIns="0" bIns="0" rtlCol="0" anchor="ctr"/>
          <a:lstStyle/>
          <a:p>
            <a:pPr algn="r" indent="0" marL="0">
              <a:buNone/>
            </a:pPr>
            <a:r>
              <a:rPr lang="en-US" sz="22000" b="1" dirty="0">
                <a:solidFill>
                  <a:srgbClr val="2E7D32"/>
                </a:solidFill>
              </a:rPr>
              <a:t>3</a:t>
            </a:r>
            <a:endParaRPr lang="en-US" sz="22000" dirty="0"/>
          </a:p>
        </p:txBody>
      </p:sp>
      <p:sp>
        <p:nvSpPr>
          <p:cNvPr id="4" name="Text 0"/>
          <p:cNvSpPr/>
          <p:nvPr>
            <p:ph idx="100" type="title" hasCustomPrompt="1"/>
          </p:nvPr>
        </p:nvSpPr>
        <p:spPr>
          <a:xfrm>
            <a:off x="731520" y="2011680"/>
            <a:ext cx="8686800" cy="2011680"/>
          </a:xfrm>
          <a:prstGeom prst="rect">
            <a:avLst/>
          </a:prstGeom>
          <a:noFill/>
          <a:ln/>
        </p:spPr>
        <p:txBody>
          <a:bodyPr wrap="square" lIns="0" tIns="0" rIns="0" bIns="0" rtlCol="0" anchor="ctr"/>
          <a:lstStyle/>
          <a:p>
            <a:pPr algn="l" indent="0" marL="0">
              <a:buNone/>
            </a:pPr>
            <a:r>
              <a:rPr lang="en-US" sz="3600" b="1" dirty="0">
                <a:solidFill>
                  <a:srgbClr val="FFFFFF"/>
                </a:solidFill>
              </a:rPr>
              <a:t>Rolul structurii motivaționale în activitatea instructiv-educativă</a:t>
            </a:r>
            <a:endParaRPr lang="en-US" sz="3600" dirty="0"/>
          </a:p>
        </p:txBody>
      </p:sp>
      <p:sp>
        <p:nvSpPr>
          <p:cNvPr id="5" name="Text 0"/>
          <p:cNvSpPr/>
          <p:nvPr>
            <p:ph idx="101" type="body" hasCustomPrompt="1"/>
          </p:nvPr>
        </p:nvSpPr>
        <p:spPr>
          <a:xfrm>
            <a:off x="731520" y="4114800"/>
            <a:ext cx="8686800" cy="731520"/>
          </a:xfrm>
          <a:prstGeom prst="rect">
            <a:avLst/>
          </a:prstGeom>
          <a:noFill/>
          <a:ln/>
        </p:spPr>
        <p:txBody>
          <a:bodyPr wrap="square" lIns="0" tIns="0" rIns="0" bIns="0" rtlCol="0" anchor="t"/>
          <a:lstStyle/>
          <a:p>
            <a:pPr algn="l" indent="0" marL="0">
              <a:buNone/>
            </a:pPr>
            <a:r>
              <a:rPr lang="en-US" sz="1800" dirty="0">
                <a:solidFill>
                  <a:srgbClr val="F2E94E"/>
                </a:solidFill>
              </a:rPr>
              <a:t>Membrul 3  ·  7-8 minute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Motivația în triunghiul didactic</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Elevul: vine cu ce are el (nevoi, interese, frici)</a:t>
            </a:r>
            <a:endParaRPr lang="en-US" sz="1600" dirty="0"/>
          </a:p>
          <a:p>
            <a:pPr marL="228600" indent="-228600">
              <a:spcAft>
                <a:spcPts val="1200"/>
              </a:spcAft>
              <a:buSzPct val="100000"/>
              <a:buChar char="•"/>
            </a:pPr>
            <a:r>
              <a:rPr lang="en-US" sz="1600" dirty="0">
                <a:solidFill>
                  <a:srgbClr val="222222"/>
                </a:solidFill>
              </a:rPr>
              <a:t>Profesorul: face atmosfera și e exemplu, motivația lui se vede</a:t>
            </a:r>
            <a:endParaRPr lang="en-US" sz="1600" dirty="0"/>
          </a:p>
          <a:p>
            <a:pPr marL="228600" indent="-228600">
              <a:spcAft>
                <a:spcPts val="1200"/>
              </a:spcAft>
              <a:buSzPct val="100000"/>
              <a:buChar char="•"/>
            </a:pPr>
            <a:r>
              <a:rPr lang="en-US" sz="1600" dirty="0">
                <a:solidFill>
                  <a:srgbClr val="222222"/>
                </a:solidFill>
              </a:rPr>
              <a:t>Ce e de învățat: place sau nu în funcție de cum e prezentat</a:t>
            </a:r>
            <a:endParaRPr lang="en-US" sz="1600" dirty="0"/>
          </a:p>
          <a:p>
            <a:pPr marL="228600" indent="-228600">
              <a:spcAft>
                <a:spcPts val="1200"/>
              </a:spcAft>
              <a:buSzPct val="100000"/>
              <a:buChar char="•"/>
            </a:pPr>
            <a:r>
              <a:rPr lang="en-US" sz="1600" dirty="0">
                <a:solidFill>
                  <a:srgbClr val="222222"/>
                </a:solidFill>
              </a:rPr>
              <a:t>Învățarea adevărată e unde se întâlnesc toate trei</a:t>
            </a:r>
            <a:endParaRPr lang="en-US" sz="1600" dirty="0"/>
          </a:p>
        </p:txBody>
      </p:sp>
      <p:sp>
        <p:nvSpPr>
          <p:cNvPr id="4" name="Triunghi"/>
          <p:cNvSpPr/>
          <p:nvPr/>
        </p:nvSpPr>
        <p:spPr>
          <a:xfrm>
            <a:off x="7863840" y="2423160"/>
            <a:ext cx="2834640" cy="2651760"/>
          </a:xfrm>
          <a:prstGeom prst="triangle">
            <a:avLst/>
          </a:prstGeom>
          <a:solidFill>
            <a:srgbClr val="F1F7F1"/>
          </a:solidFill>
          <a:ln w="25400">
            <a:solidFill>
              <a:srgbClr val="2E7D32"/>
            </a:solidFill>
            <a:prstDash val="solid"/>
          </a:ln>
        </p:spPr>
      </p:sp>
      <p:sp>
        <p:nvSpPr>
          <p:cNvPr id="5" name="motivația"/>
          <p:cNvSpPr txBox="1"/>
          <p:nvPr/>
        </p:nvSpPr>
        <p:spPr>
          <a:xfrm>
            <a:off x="7863840" y="3886200"/>
            <a:ext cx="2834640" cy="457200"/>
          </a:xfrm>
          <a:prstGeom prst="rect">
            <a:avLst/>
          </a:prstGeom>
          <a:noFill/>
          <a:ln/>
        </p:spPr>
        <p:txBody>
          <a:bodyPr wrap="square" lIns="0" tIns="0" rIns="0" bIns="0" rtlCol="0" anchor="ctr"/>
          <a:lstStyle/>
          <a:p>
            <a:pPr algn="ctr" indent="0" marL="0">
              <a:buNone/>
            </a:pPr>
            <a:r>
              <a:rPr lang="en-US" sz="1400" i="1" dirty="0">
                <a:solidFill>
                  <a:srgbClr val="2E7D32"/>
                </a:solidFill>
              </a:rPr>
              <a:t>motivația</a:t>
            </a:r>
            <a:endParaRPr lang="en-US" sz="1400" dirty="0"/>
          </a:p>
        </p:txBody>
      </p:sp>
      <p:sp>
        <p:nvSpPr>
          <p:cNvPr id="6" name="Varf Elevul"/>
          <p:cNvSpPr/>
          <p:nvPr/>
        </p:nvSpPr>
        <p:spPr>
          <a:xfrm>
            <a:off x="8549640" y="1783080"/>
            <a:ext cx="1737360" cy="548640"/>
          </a:xfrm>
          <a:prstGeom prst="rect">
            <a:avLst/>
          </a:prstGeom>
          <a:solidFill>
            <a:srgbClr val="1E5B2A"/>
          </a:solidFill>
          <a:ln w="12700">
            <a:solidFill>
              <a:srgbClr val="1E5B2A"/>
            </a:solidFill>
            <a:prstDash val="solid"/>
          </a:ln>
        </p:spPr>
      </p:sp>
      <p:sp>
        <p:nvSpPr>
          <p:cNvPr id="7" name="Elevul"/>
          <p:cNvSpPr txBox="1"/>
          <p:nvPr/>
        </p:nvSpPr>
        <p:spPr>
          <a:xfrm>
            <a:off x="8549640" y="178308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rPr>
              <a:t>Elevul</a:t>
            </a:r>
            <a:endParaRPr lang="en-US" sz="1300" dirty="0"/>
          </a:p>
        </p:txBody>
      </p:sp>
      <p:sp>
        <p:nvSpPr>
          <p:cNvPr id="8" name="Varf Profesorul"/>
          <p:cNvSpPr/>
          <p:nvPr/>
        </p:nvSpPr>
        <p:spPr>
          <a:xfrm>
            <a:off x="7040880" y="5166360"/>
            <a:ext cx="1737360" cy="548640"/>
          </a:xfrm>
          <a:prstGeom prst="rect">
            <a:avLst/>
          </a:prstGeom>
          <a:solidFill>
            <a:srgbClr val="1E5B2A"/>
          </a:solidFill>
          <a:ln w="12700">
            <a:solidFill>
              <a:srgbClr val="1E5B2A"/>
            </a:solidFill>
            <a:prstDash val="solid"/>
          </a:ln>
        </p:spPr>
      </p:sp>
      <p:sp>
        <p:nvSpPr>
          <p:cNvPr id="9" name="Profesorul"/>
          <p:cNvSpPr txBox="1"/>
          <p:nvPr/>
        </p:nvSpPr>
        <p:spPr>
          <a:xfrm>
            <a:off x="7040880" y="516636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rPr>
              <a:t>Profesorul</a:t>
            </a:r>
            <a:endParaRPr lang="en-US" sz="1300" dirty="0"/>
          </a:p>
        </p:txBody>
      </p:sp>
      <p:sp>
        <p:nvSpPr>
          <p:cNvPr id="10" name="Varf Ce e de învățat"/>
          <p:cNvSpPr/>
          <p:nvPr/>
        </p:nvSpPr>
        <p:spPr>
          <a:xfrm>
            <a:off x="9784080" y="5166360"/>
            <a:ext cx="1737360" cy="548640"/>
          </a:xfrm>
          <a:prstGeom prst="rect">
            <a:avLst/>
          </a:prstGeom>
          <a:solidFill>
            <a:srgbClr val="1E5B2A"/>
          </a:solidFill>
          <a:ln w="12700">
            <a:solidFill>
              <a:srgbClr val="1E5B2A"/>
            </a:solidFill>
            <a:prstDash val="solid"/>
          </a:ln>
        </p:spPr>
      </p:sp>
      <p:sp>
        <p:nvSpPr>
          <p:cNvPr id="11" name="Ce e de învățat"/>
          <p:cNvSpPr txBox="1"/>
          <p:nvPr/>
        </p:nvSpPr>
        <p:spPr>
          <a:xfrm>
            <a:off x="9784080" y="516636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rPr>
              <a:t>Ce e de învățat</a:t>
            </a:r>
            <a:endParaRPr lang="en-US" sz="13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Motivația pentru învățare la elev</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Motive cognitive: curiozitatea, vrei să înțelegi</a:t>
            </a:r>
            <a:endParaRPr lang="en-US" sz="1600" dirty="0"/>
          </a:p>
          <a:p>
            <a:pPr marL="228600" indent="-228600">
              <a:spcAft>
                <a:spcPts val="1200"/>
              </a:spcAft>
              <a:buSzPct val="100000"/>
              <a:buChar char="•"/>
            </a:pPr>
            <a:r>
              <a:rPr lang="en-US" sz="1600" dirty="0">
                <a:solidFill>
                  <a:srgbClr val="222222"/>
                </a:solidFill>
              </a:rPr>
              <a:t>Motive afective: vrei să te aprecieze profesorul și colegii</a:t>
            </a:r>
            <a:endParaRPr lang="en-US" sz="1600" dirty="0"/>
          </a:p>
          <a:p>
            <a:pPr marL="228600" indent="-228600">
              <a:spcAft>
                <a:spcPts val="1200"/>
              </a:spcAft>
              <a:buSzPct val="100000"/>
              <a:buChar char="•"/>
            </a:pPr>
            <a:r>
              <a:rPr lang="en-US" sz="1600" dirty="0">
                <a:solidFill>
                  <a:srgbClr val="222222"/>
                </a:solidFill>
              </a:rPr>
              <a:t>Motive de autorealizare: vrei să fii mai bun, să te depășești</a:t>
            </a:r>
            <a:endParaRPr lang="en-US" sz="1600" dirty="0"/>
          </a:p>
          <a:p>
            <a:pPr marL="228600" indent="-228600">
              <a:spcAft>
                <a:spcPts val="1200"/>
              </a:spcAft>
              <a:buSzPct val="100000"/>
              <a:buChar char="•"/>
            </a:pPr>
            <a:r>
              <a:rPr lang="en-US" sz="1600" dirty="0">
                <a:solidFill>
                  <a:srgbClr val="222222"/>
                </a:solidFill>
              </a:rPr>
              <a:t>Motive negative: teama de notă slabă, de pedeapsă, de rușine</a:t>
            </a:r>
            <a:endParaRPr lang="en-US" sz="1600" dirty="0"/>
          </a:p>
        </p:txBody>
      </p:sp>
      <p:sp>
        <p:nvSpPr>
          <p:cNvPr id="4" name="Caseta Motive cognitive"/>
          <p:cNvSpPr/>
          <p:nvPr/>
        </p:nvSpPr>
        <p:spPr>
          <a:xfrm>
            <a:off x="7040880" y="1783080"/>
            <a:ext cx="2148840" cy="1828800"/>
          </a:xfrm>
          <a:prstGeom prst="rect">
            <a:avLst/>
          </a:prstGeom>
          <a:solidFill>
            <a:srgbClr val="1E5B2A"/>
          </a:solidFill>
          <a:ln w="12700">
            <a:solidFill>
              <a:srgbClr val="1E5B2A"/>
            </a:solidFill>
            <a:prstDash val="solid"/>
          </a:ln>
        </p:spPr>
      </p:sp>
      <p:sp>
        <p:nvSpPr>
          <p:cNvPr id="5" name="1"/>
          <p:cNvSpPr txBox="1"/>
          <p:nvPr/>
        </p:nvSpPr>
        <p:spPr>
          <a:xfrm>
            <a:off x="7223760" y="1920240"/>
            <a:ext cx="914400" cy="731520"/>
          </a:xfrm>
          <a:prstGeom prst="rect">
            <a:avLst/>
          </a:prstGeom>
          <a:noFill/>
          <a:ln/>
        </p:spPr>
        <p:txBody>
          <a:bodyPr wrap="square" lIns="0" tIns="0" rIns="0" bIns="0" rtlCol="0" anchor="ctr"/>
          <a:lstStyle/>
          <a:p>
            <a:pPr indent="0" marL="0">
              <a:buNone/>
            </a:pPr>
            <a:r>
              <a:rPr lang="en-US" sz="3600" b="1" dirty="0">
                <a:solidFill>
                  <a:srgbClr val="F2E94E"/>
                </a:solidFill>
              </a:rPr>
              <a:t>1</a:t>
            </a:r>
            <a:endParaRPr lang="en-US" sz="3600" dirty="0"/>
          </a:p>
        </p:txBody>
      </p:sp>
      <p:sp>
        <p:nvSpPr>
          <p:cNvPr id="6" name="Motive cognitive"/>
          <p:cNvSpPr txBox="1"/>
          <p:nvPr/>
        </p:nvSpPr>
        <p:spPr>
          <a:xfrm>
            <a:off x="7223760" y="2788920"/>
            <a:ext cx="1828800" cy="640080"/>
          </a:xfrm>
          <a:prstGeom prst="rect">
            <a:avLst/>
          </a:prstGeom>
          <a:noFill/>
          <a:ln/>
        </p:spPr>
        <p:txBody>
          <a:bodyPr wrap="square" lIns="0" tIns="0" rIns="0" bIns="0" rtlCol="0" anchor="ctr"/>
          <a:lstStyle/>
          <a:p>
            <a:pPr indent="0" marL="0">
              <a:buNone/>
            </a:pPr>
            <a:r>
              <a:rPr lang="en-US" sz="1600" b="1" dirty="0">
                <a:solidFill>
                  <a:srgbClr val="FFFFFF"/>
                </a:solidFill>
              </a:rPr>
              <a:t>Motive cognitive</a:t>
            </a:r>
            <a:endParaRPr lang="en-US" sz="1600" dirty="0"/>
          </a:p>
        </p:txBody>
      </p:sp>
      <p:sp>
        <p:nvSpPr>
          <p:cNvPr id="7" name="Caseta Motive afective"/>
          <p:cNvSpPr/>
          <p:nvPr/>
        </p:nvSpPr>
        <p:spPr>
          <a:xfrm>
            <a:off x="9372600" y="1783080"/>
            <a:ext cx="2148840" cy="1828800"/>
          </a:xfrm>
          <a:prstGeom prst="rect">
            <a:avLst/>
          </a:prstGeom>
          <a:solidFill>
            <a:srgbClr val="F1F7F1"/>
          </a:solidFill>
          <a:ln w="12700">
            <a:solidFill>
              <a:srgbClr val="A5D6A7"/>
            </a:solidFill>
            <a:prstDash val="solid"/>
          </a:ln>
        </p:spPr>
      </p:sp>
      <p:sp>
        <p:nvSpPr>
          <p:cNvPr id="8" name="2"/>
          <p:cNvSpPr txBox="1"/>
          <p:nvPr/>
        </p:nvSpPr>
        <p:spPr>
          <a:xfrm>
            <a:off x="9555480" y="1920240"/>
            <a:ext cx="914400" cy="731520"/>
          </a:xfrm>
          <a:prstGeom prst="rect">
            <a:avLst/>
          </a:prstGeom>
          <a:noFill/>
          <a:ln/>
        </p:spPr>
        <p:txBody>
          <a:bodyPr wrap="square" lIns="0" tIns="0" rIns="0" bIns="0" rtlCol="0" anchor="ctr"/>
          <a:lstStyle/>
          <a:p>
            <a:pPr indent="0" marL="0">
              <a:buNone/>
            </a:pPr>
            <a:r>
              <a:rPr lang="en-US" sz="3600" b="1" dirty="0">
                <a:solidFill>
                  <a:srgbClr val="2E7D32"/>
                </a:solidFill>
              </a:rPr>
              <a:t>2</a:t>
            </a:r>
            <a:endParaRPr lang="en-US" sz="3600" dirty="0"/>
          </a:p>
        </p:txBody>
      </p:sp>
      <p:sp>
        <p:nvSpPr>
          <p:cNvPr id="9" name="Motive afective"/>
          <p:cNvSpPr txBox="1"/>
          <p:nvPr/>
        </p:nvSpPr>
        <p:spPr>
          <a:xfrm>
            <a:off x="9555480" y="2788920"/>
            <a:ext cx="1828800" cy="640080"/>
          </a:xfrm>
          <a:prstGeom prst="rect">
            <a:avLst/>
          </a:prstGeom>
          <a:noFill/>
          <a:ln/>
        </p:spPr>
        <p:txBody>
          <a:bodyPr wrap="square" lIns="0" tIns="0" rIns="0" bIns="0" rtlCol="0" anchor="ctr"/>
          <a:lstStyle/>
          <a:p>
            <a:pPr indent="0" marL="0">
              <a:buNone/>
            </a:pPr>
            <a:r>
              <a:rPr lang="en-US" sz="1600" b="1" dirty="0">
                <a:solidFill>
                  <a:srgbClr val="1E5B2A"/>
                </a:solidFill>
              </a:rPr>
              <a:t>Motive afective</a:t>
            </a:r>
            <a:endParaRPr lang="en-US" sz="1600" dirty="0"/>
          </a:p>
        </p:txBody>
      </p:sp>
      <p:sp>
        <p:nvSpPr>
          <p:cNvPr id="10" name="Caseta Motive de autorealizare"/>
          <p:cNvSpPr/>
          <p:nvPr/>
        </p:nvSpPr>
        <p:spPr>
          <a:xfrm>
            <a:off x="7040880" y="3886200"/>
            <a:ext cx="2148840" cy="1828800"/>
          </a:xfrm>
          <a:prstGeom prst="rect">
            <a:avLst/>
          </a:prstGeom>
          <a:solidFill>
            <a:srgbClr val="F1F7F1"/>
          </a:solidFill>
          <a:ln w="12700">
            <a:solidFill>
              <a:srgbClr val="A5D6A7"/>
            </a:solidFill>
            <a:prstDash val="solid"/>
          </a:ln>
        </p:spPr>
      </p:sp>
      <p:sp>
        <p:nvSpPr>
          <p:cNvPr id="11" name="3"/>
          <p:cNvSpPr txBox="1"/>
          <p:nvPr/>
        </p:nvSpPr>
        <p:spPr>
          <a:xfrm>
            <a:off x="7223760" y="4023360"/>
            <a:ext cx="914400" cy="731520"/>
          </a:xfrm>
          <a:prstGeom prst="rect">
            <a:avLst/>
          </a:prstGeom>
          <a:noFill/>
          <a:ln/>
        </p:spPr>
        <p:txBody>
          <a:bodyPr wrap="square" lIns="0" tIns="0" rIns="0" bIns="0" rtlCol="0" anchor="ctr"/>
          <a:lstStyle/>
          <a:p>
            <a:pPr indent="0" marL="0">
              <a:buNone/>
            </a:pPr>
            <a:r>
              <a:rPr lang="en-US" sz="3600" b="1" dirty="0">
                <a:solidFill>
                  <a:srgbClr val="2E7D32"/>
                </a:solidFill>
              </a:rPr>
              <a:t>3</a:t>
            </a:r>
            <a:endParaRPr lang="en-US" sz="3600" dirty="0"/>
          </a:p>
        </p:txBody>
      </p:sp>
      <p:sp>
        <p:nvSpPr>
          <p:cNvPr id="12" name="Motive de autorealizare"/>
          <p:cNvSpPr txBox="1"/>
          <p:nvPr/>
        </p:nvSpPr>
        <p:spPr>
          <a:xfrm>
            <a:off x="7223760" y="4892040"/>
            <a:ext cx="1828800" cy="640080"/>
          </a:xfrm>
          <a:prstGeom prst="rect">
            <a:avLst/>
          </a:prstGeom>
          <a:noFill/>
          <a:ln/>
        </p:spPr>
        <p:txBody>
          <a:bodyPr wrap="square" lIns="0" tIns="0" rIns="0" bIns="0" rtlCol="0" anchor="ctr"/>
          <a:lstStyle/>
          <a:p>
            <a:pPr indent="0" marL="0">
              <a:buNone/>
            </a:pPr>
            <a:r>
              <a:rPr lang="en-US" sz="1600" b="1" dirty="0">
                <a:solidFill>
                  <a:srgbClr val="1E5B2A"/>
                </a:solidFill>
              </a:rPr>
              <a:t>Motive de autorealizare</a:t>
            </a:r>
            <a:endParaRPr lang="en-US" sz="1600" dirty="0"/>
          </a:p>
        </p:txBody>
      </p:sp>
      <p:sp>
        <p:nvSpPr>
          <p:cNvPr id="13" name="Caseta Motive negative"/>
          <p:cNvSpPr/>
          <p:nvPr/>
        </p:nvSpPr>
        <p:spPr>
          <a:xfrm>
            <a:off x="9372600" y="3886200"/>
            <a:ext cx="2148840" cy="1828800"/>
          </a:xfrm>
          <a:prstGeom prst="rect">
            <a:avLst/>
          </a:prstGeom>
          <a:solidFill>
            <a:srgbClr val="1E5B2A"/>
          </a:solidFill>
          <a:ln w="12700">
            <a:solidFill>
              <a:srgbClr val="1E5B2A"/>
            </a:solidFill>
            <a:prstDash val="solid"/>
          </a:ln>
        </p:spPr>
      </p:sp>
      <p:sp>
        <p:nvSpPr>
          <p:cNvPr id="14" name="4"/>
          <p:cNvSpPr txBox="1"/>
          <p:nvPr/>
        </p:nvSpPr>
        <p:spPr>
          <a:xfrm>
            <a:off x="9555480" y="4023360"/>
            <a:ext cx="914400" cy="731520"/>
          </a:xfrm>
          <a:prstGeom prst="rect">
            <a:avLst/>
          </a:prstGeom>
          <a:noFill/>
          <a:ln/>
        </p:spPr>
        <p:txBody>
          <a:bodyPr wrap="square" lIns="0" tIns="0" rIns="0" bIns="0" rtlCol="0" anchor="ctr"/>
          <a:lstStyle/>
          <a:p>
            <a:pPr indent="0" marL="0">
              <a:buNone/>
            </a:pPr>
            <a:r>
              <a:rPr lang="en-US" sz="3600" b="1" dirty="0">
                <a:solidFill>
                  <a:srgbClr val="F2E94E"/>
                </a:solidFill>
              </a:rPr>
              <a:t>4</a:t>
            </a:r>
            <a:endParaRPr lang="en-US" sz="3600" dirty="0"/>
          </a:p>
        </p:txBody>
      </p:sp>
      <p:sp>
        <p:nvSpPr>
          <p:cNvPr id="15" name="Motive negative"/>
          <p:cNvSpPr txBox="1"/>
          <p:nvPr/>
        </p:nvSpPr>
        <p:spPr>
          <a:xfrm>
            <a:off x="9555480" y="4892040"/>
            <a:ext cx="1828800" cy="640080"/>
          </a:xfrm>
          <a:prstGeom prst="rect">
            <a:avLst/>
          </a:prstGeom>
          <a:noFill/>
          <a:ln/>
        </p:spPr>
        <p:txBody>
          <a:bodyPr wrap="square" lIns="0" tIns="0" rIns="0" bIns="0" rtlCol="0" anchor="ctr"/>
          <a:lstStyle/>
          <a:p>
            <a:pPr indent="0" marL="0">
              <a:buNone/>
            </a:pPr>
            <a:r>
              <a:rPr lang="en-US" sz="1600" b="1" dirty="0">
                <a:solidFill>
                  <a:srgbClr val="FFFFFF"/>
                </a:solidFill>
              </a:rPr>
              <a:t>Motive negative</a:t>
            </a:r>
            <a:endParaRPr lang="en-US" sz="16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Specificul educației fizice și sportului</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Epuran: în sport motivația se vede direct, în efort</a:t>
            </a:r>
            <a:endParaRPr lang="en-US" sz="1600" dirty="0"/>
          </a:p>
          <a:p>
            <a:pPr marL="228600" indent="-228600">
              <a:spcAft>
                <a:spcPts val="1200"/>
              </a:spcAft>
              <a:buSzPct val="100000"/>
              <a:buChar char="•"/>
            </a:pPr>
            <a:r>
              <a:rPr lang="en-US" sz="1600" dirty="0">
                <a:solidFill>
                  <a:srgbClr val="222222"/>
                </a:solidFill>
              </a:rPr>
              <a:t>Copiilor le place să se miște de la natură, dar plăcerea se pierde dacă e sufocată</a:t>
            </a:r>
            <a:endParaRPr lang="en-US" sz="1600" dirty="0"/>
          </a:p>
          <a:p>
            <a:pPr marL="228600" indent="-228600">
              <a:spcAft>
                <a:spcPts val="1200"/>
              </a:spcAft>
              <a:buSzPct val="100000"/>
              <a:buChar char="•"/>
            </a:pPr>
            <a:r>
              <a:rPr lang="en-US" sz="1600" dirty="0">
                <a:solidFill>
                  <a:srgbClr val="222222"/>
                </a:solidFill>
              </a:rPr>
              <a:t>Întrecerea pe unii îi pornește, pe alții îi blochează</a:t>
            </a:r>
            <a:endParaRPr lang="en-US" sz="1600" dirty="0"/>
          </a:p>
          <a:p>
            <a:pPr marL="228600" indent="-228600">
              <a:spcAft>
                <a:spcPts val="1200"/>
              </a:spcAft>
              <a:buSzPct val="100000"/>
              <a:buChar char="•"/>
            </a:pPr>
            <a:r>
              <a:rPr lang="en-US" sz="1600" dirty="0">
                <a:solidFill>
                  <a:srgbClr val="222222"/>
                </a:solidFill>
              </a:rPr>
              <a:t>Corpul e la vedere: la adolescenți rușinea e o frână mare</a:t>
            </a:r>
            <a:endParaRPr lang="en-US" sz="1600" dirty="0"/>
          </a:p>
        </p:txBody>
      </p:sp>
      <p:sp>
        <p:nvSpPr>
          <p:cNvPr id="4" name="„"/>
          <p:cNvSpPr txBox="1"/>
          <p:nvPr/>
        </p:nvSpPr>
        <p:spPr>
          <a:xfrm>
            <a:off x="7040880" y="1600200"/>
            <a:ext cx="1371600" cy="1371600"/>
          </a:xfrm>
          <a:prstGeom prst="rect">
            <a:avLst/>
          </a:prstGeom>
          <a:noFill/>
          <a:ln/>
        </p:spPr>
        <p:txBody>
          <a:bodyPr wrap="square" lIns="0" tIns="0" rIns="0" bIns="0" rtlCol="0" anchor="ctr"/>
          <a:lstStyle/>
          <a:p>
            <a:pPr indent="0" marL="0">
              <a:buNone/>
            </a:pPr>
            <a:r>
              <a:rPr lang="en-US" sz="9600" b="1" dirty="0">
                <a:solidFill>
                  <a:srgbClr val="A5D6A7"/>
                </a:solidFill>
              </a:rPr>
              <a:t>„</a:t>
            </a:r>
            <a:endParaRPr lang="en-US" sz="9600" dirty="0"/>
          </a:p>
        </p:txBody>
      </p:sp>
      <p:sp>
        <p:nvSpPr>
          <p:cNvPr id="5" name="În sport motivația se ved"/>
          <p:cNvSpPr txBox="1"/>
          <p:nvPr/>
        </p:nvSpPr>
        <p:spPr>
          <a:xfrm>
            <a:off x="7223760" y="2788920"/>
            <a:ext cx="4114800" cy="2011680"/>
          </a:xfrm>
          <a:prstGeom prst="rect">
            <a:avLst/>
          </a:prstGeom>
          <a:noFill/>
          <a:ln/>
        </p:spPr>
        <p:txBody>
          <a:bodyPr wrap="square" lIns="0" tIns="0" rIns="0" bIns="0" rtlCol="0" anchor="ctr"/>
          <a:lstStyle/>
          <a:p>
            <a:pPr indent="0" marL="0">
              <a:buNone/>
            </a:pPr>
            <a:r>
              <a:rPr lang="en-US" sz="2400" b="1" dirty="0">
                <a:solidFill>
                  <a:srgbClr val="1E5B2A"/>
                </a:solidFill>
              </a:rPr>
              <a:t>În sport motivația se vede. Nu te poți preface că alergi.</a:t>
            </a:r>
            <a:endParaRPr lang="en-US" sz="2400" dirty="0"/>
          </a:p>
        </p:txBody>
      </p:sp>
      <p:sp>
        <p:nvSpPr>
          <p:cNvPr id="6" name="Mihai Epuran, Psihologia "/>
          <p:cNvSpPr txBox="1"/>
          <p:nvPr/>
        </p:nvSpPr>
        <p:spPr>
          <a:xfrm>
            <a:off x="7223760" y="4983480"/>
            <a:ext cx="4114800" cy="548640"/>
          </a:xfrm>
          <a:prstGeom prst="rect">
            <a:avLst/>
          </a:prstGeom>
          <a:noFill/>
          <a:ln/>
        </p:spPr>
        <p:txBody>
          <a:bodyPr wrap="square" lIns="0" tIns="0" rIns="0" bIns="0" rtlCol="0" anchor="ctr"/>
          <a:lstStyle/>
          <a:p>
            <a:pPr indent="0" marL="0">
              <a:buNone/>
            </a:pPr>
            <a:r>
              <a:rPr lang="en-US" sz="1200" i="1" dirty="0">
                <a:solidFill>
                  <a:srgbClr val="6D6D6D"/>
                </a:solidFill>
              </a:rPr>
              <a:t>Mihai Epuran, Psihologia sportului de performanță</a:t>
            </a:r>
            <a:endParaRPr lang="en-US" sz="12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Climat de măiestrie sau climat de ego</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Climat de măiestrie: reușita = ai progresat tu, te-ai străduit, ai învățat</a:t>
            </a:r>
            <a:endParaRPr lang="en-US" sz="1600" dirty="0"/>
          </a:p>
          <a:p>
            <a:pPr marL="228600" indent="-228600">
              <a:spcAft>
                <a:spcPts val="1200"/>
              </a:spcAft>
              <a:buSzPct val="100000"/>
              <a:buChar char="•"/>
            </a:pPr>
            <a:r>
              <a:rPr lang="en-US" sz="1600" dirty="0">
                <a:solidFill>
                  <a:srgbClr val="222222"/>
                </a:solidFill>
              </a:rPr>
              <a:t>Climat de ego: reușita = ești mai bun decât ceilalți</a:t>
            </a:r>
            <a:endParaRPr lang="en-US" sz="1600" dirty="0"/>
          </a:p>
          <a:p>
            <a:pPr marL="228600" indent="-228600">
              <a:spcAft>
                <a:spcPts val="1200"/>
              </a:spcAft>
              <a:buSzPct val="100000"/>
              <a:buChar char="•"/>
            </a:pPr>
            <a:r>
              <a:rPr lang="en-US" sz="1600" dirty="0">
                <a:solidFill>
                  <a:srgbClr val="222222"/>
                </a:solidFill>
              </a:rPr>
              <a:t>Măiestria aduce rezistență, plăcere, mai puține emoții</a:t>
            </a:r>
            <a:endParaRPr lang="en-US" sz="1600" dirty="0"/>
          </a:p>
          <a:p>
            <a:pPr marL="228600" indent="-228600">
              <a:spcAft>
                <a:spcPts val="1200"/>
              </a:spcAft>
              <a:buSzPct val="100000"/>
              <a:buChar char="•"/>
            </a:pPr>
            <a:r>
              <a:rPr lang="en-US" sz="1600" dirty="0">
                <a:solidFill>
                  <a:srgbClr val="222222"/>
                </a:solidFill>
              </a:rPr>
              <a:t>Ego-ul îi pornește doar pe cei câțiva care câștigă mereu</a:t>
            </a:r>
            <a:endParaRPr lang="en-US" sz="1600" dirty="0"/>
          </a:p>
        </p:txBody>
      </p:sp>
      <p:graphicFrame>
        <p:nvGraphicFramePr>
          <p:cNvPr id="20" name="Tabel comparatie"/>
          <p:cNvGraphicFramePr>
            <a:graphicFrameLocks noGrp="1"/>
          </p:cNvGraphicFramePr>
          <p:nvPr>
            <p:extLst>
              <p:ext uri="{D42A27DB-BD31-4B8C-83A1-F6EECF244321}">
                <p14:modId xmlns:p14="http://schemas.microsoft.com/office/powerpoint/2010/main" val="1579011935"/>
              </p:ext>
            </p:extLst>
          </p:nvPr>
        </p:nvGraphicFramePr>
        <p:xfrm>
          <a:off x="7040880" y="1783080"/>
          <a:ext cx="4480560" cy="914400"/>
        </p:xfrm>
        <a:graphic>
          <a:graphicData uri="http://schemas.openxmlformats.org/drawingml/2006/table">
            <a:tbl>
              <a:tblPr/>
              <a:tblGrid>
                <a:gridCol w="1280160"/>
                <a:gridCol w="1600200"/>
                <a:gridCol w="1600200"/>
              </a:tblGrid>
              <a:tr h="685800">
                <a:tc>
                  <a:txBody>
                    <a:bodyPr/>
                    <a:lstStyle/>
                    <a:p>
                      <a:pPr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Măiestrie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E7D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Ego</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6D6D6D"/>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Ce e reușita</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am progresat eu</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sunt mai bun ca alții</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Cine câștigă</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toți cei care se străduiesc</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doar câțiva, mereu aceiași</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Ce simt elevii</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plăcere, mai puține emoții</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frică de a pierde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Ce fac restul</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continuă</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se feresc de activitate</a:t>
                      </a:r>
                      <a:endParaRPr lang="en-US" sz="1200" dirty="0">
                        <a:latin typeface="Calibri" charset="0"/>
                        <a:ea typeface="Calibri" charset="0"/>
                        <a:cs typeface="Calibri"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Modelul TARGET pentru climat de măiestrie</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Task: sarcini variate, pe măsura fiecăruia</a:t>
            </a:r>
            <a:endParaRPr lang="en-US" sz="1600" dirty="0"/>
          </a:p>
          <a:p>
            <a:pPr marL="228600" indent="-228600">
              <a:spcAft>
                <a:spcPts val="1200"/>
              </a:spcAft>
              <a:buSzPct val="100000"/>
              <a:buChar char="•"/>
            </a:pPr>
            <a:r>
              <a:rPr lang="en-US" sz="1600" dirty="0">
                <a:solidFill>
                  <a:srgbClr val="222222"/>
                </a:solidFill>
              </a:rPr>
              <a:t>Authority: elevii au un cuvânt de spus</a:t>
            </a:r>
            <a:endParaRPr lang="en-US" sz="1600" dirty="0"/>
          </a:p>
          <a:p>
            <a:pPr marL="228600" indent="-228600">
              <a:spcAft>
                <a:spcPts val="1200"/>
              </a:spcAft>
              <a:buSzPct val="100000"/>
              <a:buChar char="•"/>
            </a:pPr>
            <a:r>
              <a:rPr lang="en-US" sz="1600" dirty="0">
                <a:solidFill>
                  <a:srgbClr val="222222"/>
                </a:solidFill>
              </a:rPr>
              <a:t>Recognition: lauzi progresul, între patru ochi</a:t>
            </a:r>
            <a:endParaRPr lang="en-US" sz="1600" dirty="0"/>
          </a:p>
          <a:p>
            <a:pPr marL="228600" indent="-228600">
              <a:spcAft>
                <a:spcPts val="1200"/>
              </a:spcAft>
              <a:buSzPct val="100000"/>
              <a:buChar char="•"/>
            </a:pPr>
            <a:r>
              <a:rPr lang="en-US" sz="1600" dirty="0">
                <a:solidFill>
                  <a:srgbClr val="222222"/>
                </a:solidFill>
              </a:rPr>
              <a:t>Grouping: grupuri mixte, schimbate des</a:t>
            </a:r>
            <a:endParaRPr lang="en-US" sz="1600" dirty="0"/>
          </a:p>
          <a:p>
            <a:pPr marL="228600" indent="-228600">
              <a:spcAft>
                <a:spcPts val="1200"/>
              </a:spcAft>
              <a:buSzPct val="100000"/>
              <a:buChar char="•"/>
            </a:pPr>
            <a:r>
              <a:rPr lang="en-US" sz="1600" dirty="0">
                <a:solidFill>
                  <a:srgbClr val="222222"/>
                </a:solidFill>
              </a:rPr>
              <a:t>Evaluation: față de propriul progres, nu față de ceilalți</a:t>
            </a:r>
            <a:endParaRPr lang="en-US" sz="1600" dirty="0"/>
          </a:p>
          <a:p>
            <a:pPr marL="228600" indent="-228600">
              <a:spcAft>
                <a:spcPts val="1200"/>
              </a:spcAft>
              <a:buSzPct val="100000"/>
              <a:buChar char="•"/>
            </a:pPr>
            <a:r>
              <a:rPr lang="en-US" sz="1600" dirty="0">
                <a:solidFill>
                  <a:srgbClr val="222222"/>
                </a:solidFill>
              </a:rPr>
              <a:t>Time: timp suficient pentru a învăța</a:t>
            </a:r>
            <a:endParaRPr lang="en-US" sz="1600" dirty="0"/>
          </a:p>
        </p:txBody>
      </p:sp>
      <p:sp>
        <p:nvSpPr>
          <p:cNvPr id="4" name="Litera 0"/>
          <p:cNvSpPr/>
          <p:nvPr/>
        </p:nvSpPr>
        <p:spPr>
          <a:xfrm>
            <a:off x="7040880" y="1737360"/>
            <a:ext cx="594360" cy="594360"/>
          </a:xfrm>
          <a:prstGeom prst="rect">
            <a:avLst/>
          </a:prstGeom>
          <a:solidFill>
            <a:srgbClr val="1E5B2A"/>
          </a:solidFill>
          <a:ln w="12700">
            <a:solidFill>
              <a:srgbClr val="1E5B2A"/>
            </a:solidFill>
            <a:prstDash val="solid"/>
          </a:ln>
        </p:spPr>
      </p:sp>
      <p:sp>
        <p:nvSpPr>
          <p:cNvPr id="5" name="T"/>
          <p:cNvSpPr txBox="1"/>
          <p:nvPr/>
        </p:nvSpPr>
        <p:spPr>
          <a:xfrm>
            <a:off x="7040880" y="1737360"/>
            <a:ext cx="594360" cy="594360"/>
          </a:xfrm>
          <a:prstGeom prst="rect">
            <a:avLst/>
          </a:prstGeom>
          <a:noFill/>
          <a:ln/>
        </p:spPr>
        <p:txBody>
          <a:bodyPr wrap="square" lIns="0" tIns="0" rIns="0" bIns="0" rtlCol="0" anchor="ctr"/>
          <a:lstStyle/>
          <a:p>
            <a:pPr algn="ctr" indent="0" marL="0">
              <a:buNone/>
            </a:pPr>
            <a:r>
              <a:rPr lang="en-US" sz="2000" b="1" dirty="0">
                <a:solidFill>
                  <a:srgbClr val="F2E94E"/>
                </a:solidFill>
              </a:rPr>
              <a:t>T</a:t>
            </a:r>
            <a:endParaRPr lang="en-US" sz="2000" dirty="0"/>
          </a:p>
        </p:txBody>
      </p:sp>
      <p:sp>
        <p:nvSpPr>
          <p:cNvPr id="6" name="Task (sarcina)"/>
          <p:cNvSpPr txBox="1"/>
          <p:nvPr/>
        </p:nvSpPr>
        <p:spPr>
          <a:xfrm>
            <a:off x="7818120" y="1737360"/>
            <a:ext cx="3703320" cy="594360"/>
          </a:xfrm>
          <a:prstGeom prst="rect">
            <a:avLst/>
          </a:prstGeom>
          <a:noFill/>
          <a:ln/>
        </p:spPr>
        <p:txBody>
          <a:bodyPr wrap="square" lIns="0" tIns="0" rIns="0" bIns="0" rtlCol="0" anchor="ctr"/>
          <a:lstStyle/>
          <a:p>
            <a:pPr indent="0" marL="0">
              <a:buNone/>
            </a:pPr>
            <a:r>
              <a:rPr lang="en-US" sz="1400" b="1" dirty="0">
                <a:solidFill>
                  <a:srgbClr val="222222"/>
                </a:solidFill>
              </a:rPr>
              <a:t>Task (sarcina)</a:t>
            </a:r>
            <a:endParaRPr lang="en-US" sz="1400" dirty="0"/>
          </a:p>
        </p:txBody>
      </p:sp>
      <p:sp>
        <p:nvSpPr>
          <p:cNvPr id="7" name="Litera 1"/>
          <p:cNvSpPr/>
          <p:nvPr/>
        </p:nvSpPr>
        <p:spPr>
          <a:xfrm>
            <a:off x="7040880" y="2450592"/>
            <a:ext cx="594360" cy="594360"/>
          </a:xfrm>
          <a:prstGeom prst="rect">
            <a:avLst/>
          </a:prstGeom>
          <a:solidFill>
            <a:srgbClr val="1E5B2A"/>
          </a:solidFill>
          <a:ln w="12700">
            <a:solidFill>
              <a:srgbClr val="1E5B2A"/>
            </a:solidFill>
            <a:prstDash val="solid"/>
          </a:ln>
        </p:spPr>
      </p:sp>
      <p:sp>
        <p:nvSpPr>
          <p:cNvPr id="8" name="A"/>
          <p:cNvSpPr txBox="1"/>
          <p:nvPr/>
        </p:nvSpPr>
        <p:spPr>
          <a:xfrm>
            <a:off x="7040880" y="2450592"/>
            <a:ext cx="594360" cy="594360"/>
          </a:xfrm>
          <a:prstGeom prst="rect">
            <a:avLst/>
          </a:prstGeom>
          <a:noFill/>
          <a:ln/>
        </p:spPr>
        <p:txBody>
          <a:bodyPr wrap="square" lIns="0" tIns="0" rIns="0" bIns="0" rtlCol="0" anchor="ctr"/>
          <a:lstStyle/>
          <a:p>
            <a:pPr algn="ctr" indent="0" marL="0">
              <a:buNone/>
            </a:pPr>
            <a:r>
              <a:rPr lang="en-US" sz="2000" b="1" dirty="0">
                <a:solidFill>
                  <a:srgbClr val="F2E94E"/>
                </a:solidFill>
              </a:rPr>
              <a:t>A</a:t>
            </a:r>
            <a:endParaRPr lang="en-US" sz="2000" dirty="0"/>
          </a:p>
        </p:txBody>
      </p:sp>
      <p:sp>
        <p:nvSpPr>
          <p:cNvPr id="9" name="Authority (cuvânt de spus"/>
          <p:cNvSpPr txBox="1"/>
          <p:nvPr/>
        </p:nvSpPr>
        <p:spPr>
          <a:xfrm>
            <a:off x="7818120" y="2450592"/>
            <a:ext cx="3703320" cy="594360"/>
          </a:xfrm>
          <a:prstGeom prst="rect">
            <a:avLst/>
          </a:prstGeom>
          <a:noFill/>
          <a:ln/>
        </p:spPr>
        <p:txBody>
          <a:bodyPr wrap="square" lIns="0" tIns="0" rIns="0" bIns="0" rtlCol="0" anchor="ctr"/>
          <a:lstStyle/>
          <a:p>
            <a:pPr indent="0" marL="0">
              <a:buNone/>
            </a:pPr>
            <a:r>
              <a:rPr lang="en-US" sz="1400" b="1" dirty="0">
                <a:solidFill>
                  <a:srgbClr val="222222"/>
                </a:solidFill>
              </a:rPr>
              <a:t>Authority (cuvânt de spus)</a:t>
            </a:r>
            <a:endParaRPr lang="en-US" sz="1400" dirty="0"/>
          </a:p>
        </p:txBody>
      </p:sp>
      <p:sp>
        <p:nvSpPr>
          <p:cNvPr id="10" name="Litera 2"/>
          <p:cNvSpPr/>
          <p:nvPr/>
        </p:nvSpPr>
        <p:spPr>
          <a:xfrm>
            <a:off x="7040880" y="3163824"/>
            <a:ext cx="594360" cy="594360"/>
          </a:xfrm>
          <a:prstGeom prst="rect">
            <a:avLst/>
          </a:prstGeom>
          <a:solidFill>
            <a:srgbClr val="1E5B2A"/>
          </a:solidFill>
          <a:ln w="12700">
            <a:solidFill>
              <a:srgbClr val="1E5B2A"/>
            </a:solidFill>
            <a:prstDash val="solid"/>
          </a:ln>
        </p:spPr>
      </p:sp>
      <p:sp>
        <p:nvSpPr>
          <p:cNvPr id="11" name="R"/>
          <p:cNvSpPr txBox="1"/>
          <p:nvPr/>
        </p:nvSpPr>
        <p:spPr>
          <a:xfrm>
            <a:off x="7040880" y="3163824"/>
            <a:ext cx="594360" cy="594360"/>
          </a:xfrm>
          <a:prstGeom prst="rect">
            <a:avLst/>
          </a:prstGeom>
          <a:noFill/>
          <a:ln/>
        </p:spPr>
        <p:txBody>
          <a:bodyPr wrap="square" lIns="0" tIns="0" rIns="0" bIns="0" rtlCol="0" anchor="ctr"/>
          <a:lstStyle/>
          <a:p>
            <a:pPr algn="ctr" indent="0" marL="0">
              <a:buNone/>
            </a:pPr>
            <a:r>
              <a:rPr lang="en-US" sz="2000" b="1" dirty="0">
                <a:solidFill>
                  <a:srgbClr val="F2E94E"/>
                </a:solidFill>
              </a:rPr>
              <a:t>R</a:t>
            </a:r>
            <a:endParaRPr lang="en-US" sz="2000" dirty="0"/>
          </a:p>
        </p:txBody>
      </p:sp>
      <p:sp>
        <p:nvSpPr>
          <p:cNvPr id="12" name="Recognition (recunoaștere"/>
          <p:cNvSpPr txBox="1"/>
          <p:nvPr/>
        </p:nvSpPr>
        <p:spPr>
          <a:xfrm>
            <a:off x="7818120" y="3163824"/>
            <a:ext cx="3703320" cy="594360"/>
          </a:xfrm>
          <a:prstGeom prst="rect">
            <a:avLst/>
          </a:prstGeom>
          <a:noFill/>
          <a:ln/>
        </p:spPr>
        <p:txBody>
          <a:bodyPr wrap="square" lIns="0" tIns="0" rIns="0" bIns="0" rtlCol="0" anchor="ctr"/>
          <a:lstStyle/>
          <a:p>
            <a:pPr indent="0" marL="0">
              <a:buNone/>
            </a:pPr>
            <a:r>
              <a:rPr lang="en-US" sz="1400" b="1" dirty="0">
                <a:solidFill>
                  <a:srgbClr val="222222"/>
                </a:solidFill>
              </a:rPr>
              <a:t>Recognition (recunoaștere)</a:t>
            </a:r>
            <a:endParaRPr lang="en-US" sz="1400" dirty="0"/>
          </a:p>
        </p:txBody>
      </p:sp>
      <p:sp>
        <p:nvSpPr>
          <p:cNvPr id="13" name="Litera 3"/>
          <p:cNvSpPr/>
          <p:nvPr/>
        </p:nvSpPr>
        <p:spPr>
          <a:xfrm>
            <a:off x="7040880" y="3877056"/>
            <a:ext cx="594360" cy="594360"/>
          </a:xfrm>
          <a:prstGeom prst="rect">
            <a:avLst/>
          </a:prstGeom>
          <a:solidFill>
            <a:srgbClr val="1E5B2A"/>
          </a:solidFill>
          <a:ln w="12700">
            <a:solidFill>
              <a:srgbClr val="1E5B2A"/>
            </a:solidFill>
            <a:prstDash val="solid"/>
          </a:ln>
        </p:spPr>
      </p:sp>
      <p:sp>
        <p:nvSpPr>
          <p:cNvPr id="14" name="G"/>
          <p:cNvSpPr txBox="1"/>
          <p:nvPr/>
        </p:nvSpPr>
        <p:spPr>
          <a:xfrm>
            <a:off x="7040880" y="3877056"/>
            <a:ext cx="594360" cy="594360"/>
          </a:xfrm>
          <a:prstGeom prst="rect">
            <a:avLst/>
          </a:prstGeom>
          <a:noFill/>
          <a:ln/>
        </p:spPr>
        <p:txBody>
          <a:bodyPr wrap="square" lIns="0" tIns="0" rIns="0" bIns="0" rtlCol="0" anchor="ctr"/>
          <a:lstStyle/>
          <a:p>
            <a:pPr algn="ctr" indent="0" marL="0">
              <a:buNone/>
            </a:pPr>
            <a:r>
              <a:rPr lang="en-US" sz="2000" b="1" dirty="0">
                <a:solidFill>
                  <a:srgbClr val="F2E94E"/>
                </a:solidFill>
              </a:rPr>
              <a:t>G</a:t>
            </a:r>
            <a:endParaRPr lang="en-US" sz="2000" dirty="0"/>
          </a:p>
        </p:txBody>
      </p:sp>
      <p:sp>
        <p:nvSpPr>
          <p:cNvPr id="15" name="Grouping (grupare)"/>
          <p:cNvSpPr txBox="1"/>
          <p:nvPr/>
        </p:nvSpPr>
        <p:spPr>
          <a:xfrm>
            <a:off x="7818120" y="3877056"/>
            <a:ext cx="3703320" cy="594360"/>
          </a:xfrm>
          <a:prstGeom prst="rect">
            <a:avLst/>
          </a:prstGeom>
          <a:noFill/>
          <a:ln/>
        </p:spPr>
        <p:txBody>
          <a:bodyPr wrap="square" lIns="0" tIns="0" rIns="0" bIns="0" rtlCol="0" anchor="ctr"/>
          <a:lstStyle/>
          <a:p>
            <a:pPr indent="0" marL="0">
              <a:buNone/>
            </a:pPr>
            <a:r>
              <a:rPr lang="en-US" sz="1400" b="1" dirty="0">
                <a:solidFill>
                  <a:srgbClr val="222222"/>
                </a:solidFill>
              </a:rPr>
              <a:t>Grouping (grupare)</a:t>
            </a:r>
            <a:endParaRPr lang="en-US" sz="1400" dirty="0"/>
          </a:p>
        </p:txBody>
      </p:sp>
      <p:sp>
        <p:nvSpPr>
          <p:cNvPr id="16" name="Litera 4"/>
          <p:cNvSpPr/>
          <p:nvPr/>
        </p:nvSpPr>
        <p:spPr>
          <a:xfrm>
            <a:off x="7040880" y="4590288"/>
            <a:ext cx="594360" cy="594360"/>
          </a:xfrm>
          <a:prstGeom prst="rect">
            <a:avLst/>
          </a:prstGeom>
          <a:solidFill>
            <a:srgbClr val="1E5B2A"/>
          </a:solidFill>
          <a:ln w="12700">
            <a:solidFill>
              <a:srgbClr val="1E5B2A"/>
            </a:solidFill>
            <a:prstDash val="solid"/>
          </a:ln>
        </p:spPr>
      </p:sp>
      <p:sp>
        <p:nvSpPr>
          <p:cNvPr id="17" name="E"/>
          <p:cNvSpPr txBox="1"/>
          <p:nvPr/>
        </p:nvSpPr>
        <p:spPr>
          <a:xfrm>
            <a:off x="7040880" y="4590288"/>
            <a:ext cx="594360" cy="594360"/>
          </a:xfrm>
          <a:prstGeom prst="rect">
            <a:avLst/>
          </a:prstGeom>
          <a:noFill/>
          <a:ln/>
        </p:spPr>
        <p:txBody>
          <a:bodyPr wrap="square" lIns="0" tIns="0" rIns="0" bIns="0" rtlCol="0" anchor="ctr"/>
          <a:lstStyle/>
          <a:p>
            <a:pPr algn="ctr" indent="0" marL="0">
              <a:buNone/>
            </a:pPr>
            <a:r>
              <a:rPr lang="en-US" sz="2000" b="1" dirty="0">
                <a:solidFill>
                  <a:srgbClr val="F2E94E"/>
                </a:solidFill>
              </a:rPr>
              <a:t>E</a:t>
            </a:r>
            <a:endParaRPr lang="en-US" sz="2000" dirty="0"/>
          </a:p>
        </p:txBody>
      </p:sp>
      <p:sp>
        <p:nvSpPr>
          <p:cNvPr id="18" name="Evaluation (evaluare)"/>
          <p:cNvSpPr txBox="1"/>
          <p:nvPr/>
        </p:nvSpPr>
        <p:spPr>
          <a:xfrm>
            <a:off x="7818120" y="4590288"/>
            <a:ext cx="3703320" cy="594360"/>
          </a:xfrm>
          <a:prstGeom prst="rect">
            <a:avLst/>
          </a:prstGeom>
          <a:noFill/>
          <a:ln/>
        </p:spPr>
        <p:txBody>
          <a:bodyPr wrap="square" lIns="0" tIns="0" rIns="0" bIns="0" rtlCol="0" anchor="ctr"/>
          <a:lstStyle/>
          <a:p>
            <a:pPr indent="0" marL="0">
              <a:buNone/>
            </a:pPr>
            <a:r>
              <a:rPr lang="en-US" sz="1400" b="1" dirty="0">
                <a:solidFill>
                  <a:srgbClr val="222222"/>
                </a:solidFill>
              </a:rPr>
              <a:t>Evaluation (evaluare)</a:t>
            </a:r>
            <a:endParaRPr lang="en-US" sz="1400" dirty="0"/>
          </a:p>
        </p:txBody>
      </p:sp>
      <p:sp>
        <p:nvSpPr>
          <p:cNvPr id="19" name="Litera 5"/>
          <p:cNvSpPr/>
          <p:nvPr/>
        </p:nvSpPr>
        <p:spPr>
          <a:xfrm>
            <a:off x="7040880" y="5303520"/>
            <a:ext cx="594360" cy="594360"/>
          </a:xfrm>
          <a:prstGeom prst="rect">
            <a:avLst/>
          </a:prstGeom>
          <a:solidFill>
            <a:srgbClr val="1E5B2A"/>
          </a:solidFill>
          <a:ln w="12700">
            <a:solidFill>
              <a:srgbClr val="1E5B2A"/>
            </a:solidFill>
            <a:prstDash val="solid"/>
          </a:ln>
        </p:spPr>
      </p:sp>
      <p:sp>
        <p:nvSpPr>
          <p:cNvPr id="20" name="T"/>
          <p:cNvSpPr txBox="1"/>
          <p:nvPr/>
        </p:nvSpPr>
        <p:spPr>
          <a:xfrm>
            <a:off x="7040880" y="5303520"/>
            <a:ext cx="594360" cy="594360"/>
          </a:xfrm>
          <a:prstGeom prst="rect">
            <a:avLst/>
          </a:prstGeom>
          <a:noFill/>
          <a:ln/>
        </p:spPr>
        <p:txBody>
          <a:bodyPr wrap="square" lIns="0" tIns="0" rIns="0" bIns="0" rtlCol="0" anchor="ctr"/>
          <a:lstStyle/>
          <a:p>
            <a:pPr algn="ctr" indent="0" marL="0">
              <a:buNone/>
            </a:pPr>
            <a:r>
              <a:rPr lang="en-US" sz="2000" b="1" dirty="0">
                <a:solidFill>
                  <a:srgbClr val="F2E94E"/>
                </a:solidFill>
              </a:rPr>
              <a:t>T</a:t>
            </a:r>
            <a:endParaRPr lang="en-US" sz="2000" dirty="0"/>
          </a:p>
        </p:txBody>
      </p:sp>
      <p:sp>
        <p:nvSpPr>
          <p:cNvPr id="21" name="Time (timp)"/>
          <p:cNvSpPr txBox="1"/>
          <p:nvPr/>
        </p:nvSpPr>
        <p:spPr>
          <a:xfrm>
            <a:off x="7818120" y="5303520"/>
            <a:ext cx="3703320" cy="594360"/>
          </a:xfrm>
          <a:prstGeom prst="rect">
            <a:avLst/>
          </a:prstGeom>
          <a:noFill/>
          <a:ln/>
        </p:spPr>
        <p:txBody>
          <a:bodyPr wrap="square" lIns="0" tIns="0" rIns="0" bIns="0" rtlCol="0" anchor="ctr"/>
          <a:lstStyle/>
          <a:p>
            <a:pPr indent="0" marL="0">
              <a:buNone/>
            </a:pPr>
            <a:r>
              <a:rPr lang="en-US" sz="1400" b="1" dirty="0">
                <a:solidFill>
                  <a:srgbClr val="222222"/>
                </a:solidFill>
              </a:rPr>
              <a:t>Time (timp)</a:t>
            </a:r>
            <a:endParaRPr lang="en-US" sz="14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PARTEA 4"/>
          <p:cNvSpPr txBox="1"/>
          <p:nvPr/>
        </p:nvSpPr>
        <p:spPr>
          <a:xfrm>
            <a:off x="731520" y="1280160"/>
            <a:ext cx="5486400" cy="457200"/>
          </a:xfrm>
          <a:prstGeom prst="rect">
            <a:avLst/>
          </a:prstGeom>
          <a:noFill/>
          <a:ln/>
        </p:spPr>
        <p:txBody>
          <a:bodyPr wrap="square" lIns="0" tIns="0" rIns="0" bIns="0" rtlCol="0" anchor="ctr"/>
          <a:lstStyle/>
          <a:p>
            <a:pPr indent="0" marL="0">
              <a:buNone/>
            </a:pPr>
            <a:r>
              <a:rPr lang="en-US" sz="1400" b="1" spc="400" kern="0" dirty="0">
                <a:solidFill>
                  <a:srgbClr val="F2E94E"/>
                </a:solidFill>
              </a:rPr>
              <a:t>PARTEA 4</a:t>
            </a:r>
            <a:endParaRPr lang="en-US" sz="1400" dirty="0"/>
          </a:p>
        </p:txBody>
      </p:sp>
      <p:sp>
        <p:nvSpPr>
          <p:cNvPr id="3" name="4"/>
          <p:cNvSpPr txBox="1"/>
          <p:nvPr/>
        </p:nvSpPr>
        <p:spPr>
          <a:xfrm>
            <a:off x="9418320" y="914400"/>
            <a:ext cx="2286000" cy="4114800"/>
          </a:xfrm>
          <a:prstGeom prst="rect">
            <a:avLst/>
          </a:prstGeom>
          <a:noFill/>
          <a:ln/>
        </p:spPr>
        <p:txBody>
          <a:bodyPr wrap="square" lIns="0" tIns="0" rIns="0" bIns="0" rtlCol="0" anchor="ctr"/>
          <a:lstStyle/>
          <a:p>
            <a:pPr algn="r" indent="0" marL="0">
              <a:buNone/>
            </a:pPr>
            <a:r>
              <a:rPr lang="en-US" sz="22000" b="1" dirty="0">
                <a:solidFill>
                  <a:srgbClr val="2E7D32"/>
                </a:solidFill>
              </a:rPr>
              <a:t>4</a:t>
            </a:r>
            <a:endParaRPr lang="en-US" sz="22000" dirty="0"/>
          </a:p>
        </p:txBody>
      </p:sp>
      <p:sp>
        <p:nvSpPr>
          <p:cNvPr id="4" name="Text 0"/>
          <p:cNvSpPr/>
          <p:nvPr>
            <p:ph idx="100" type="title" hasCustomPrompt="1"/>
          </p:nvPr>
        </p:nvSpPr>
        <p:spPr>
          <a:xfrm>
            <a:off x="731520" y="2011680"/>
            <a:ext cx="8686800" cy="2011680"/>
          </a:xfrm>
          <a:prstGeom prst="rect">
            <a:avLst/>
          </a:prstGeom>
          <a:noFill/>
          <a:ln/>
        </p:spPr>
        <p:txBody>
          <a:bodyPr wrap="square" lIns="0" tIns="0" rIns="0" bIns="0" rtlCol="0" anchor="ctr"/>
          <a:lstStyle/>
          <a:p>
            <a:pPr algn="l" indent="0" marL="0">
              <a:buNone/>
            </a:pPr>
            <a:r>
              <a:rPr lang="en-US" sz="3600" b="1" dirty="0">
                <a:solidFill>
                  <a:srgbClr val="FFFFFF"/>
                </a:solidFill>
              </a:rPr>
              <a:t>Tehnici motivaționale de predare</a:t>
            </a:r>
            <a:endParaRPr lang="en-US" sz="3600" dirty="0"/>
          </a:p>
        </p:txBody>
      </p:sp>
      <p:sp>
        <p:nvSpPr>
          <p:cNvPr id="5" name="Text 0"/>
          <p:cNvSpPr/>
          <p:nvPr>
            <p:ph idx="101" type="body" hasCustomPrompt="1"/>
          </p:nvPr>
        </p:nvSpPr>
        <p:spPr>
          <a:xfrm>
            <a:off x="731520" y="4114800"/>
            <a:ext cx="8686800" cy="731520"/>
          </a:xfrm>
          <a:prstGeom prst="rect">
            <a:avLst/>
          </a:prstGeom>
          <a:noFill/>
          <a:ln/>
        </p:spPr>
        <p:txBody>
          <a:bodyPr wrap="square" lIns="0" tIns="0" rIns="0" bIns="0" rtlCol="0" anchor="t"/>
          <a:lstStyle/>
          <a:p>
            <a:pPr algn="l" indent="0" marL="0">
              <a:buNone/>
            </a:pPr>
            <a:r>
              <a:rPr lang="en-US" sz="1800" dirty="0">
                <a:solidFill>
                  <a:srgbClr val="F2E94E"/>
                </a:solidFill>
              </a:rPr>
              <a:t>Membrul 4  ·  7-8 minute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Stabilirea obiectivelor</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Obiective concrete, pe care le poți număra, nu „fă tot ce poți”</a:t>
            </a:r>
            <a:endParaRPr lang="en-US" sz="1600" dirty="0"/>
          </a:p>
          <a:p>
            <a:pPr marL="228600" indent="-228600">
              <a:spcAft>
                <a:spcPts val="1200"/>
              </a:spcAft>
              <a:buSzPct val="100000"/>
              <a:buChar char="•"/>
            </a:pPr>
            <a:r>
              <a:rPr lang="en-US" sz="1600" dirty="0">
                <a:solidFill>
                  <a:srgbClr val="222222"/>
                </a:solidFill>
              </a:rPr>
              <a:t>Pe termen scurt (ora de azi), mediu (luna), lung (semestrul)</a:t>
            </a:r>
            <a:endParaRPr lang="en-US" sz="1600" dirty="0"/>
          </a:p>
          <a:p>
            <a:pPr marL="228600" indent="-228600">
              <a:spcAft>
                <a:spcPts val="1200"/>
              </a:spcAft>
              <a:buSzPct val="100000"/>
              <a:buChar char="•"/>
            </a:pPr>
            <a:r>
              <a:rPr lang="en-US" sz="1600" dirty="0">
                <a:solidFill>
                  <a:srgbClr val="222222"/>
                </a:solidFill>
              </a:rPr>
              <a:t>Greutate potrivită: puțin peste ce poate acum</a:t>
            </a:r>
            <a:endParaRPr lang="en-US" sz="1600" dirty="0"/>
          </a:p>
          <a:p>
            <a:pPr marL="228600" indent="-228600">
              <a:spcAft>
                <a:spcPts val="1200"/>
              </a:spcAft>
              <a:buSzPct val="100000"/>
              <a:buChar char="•"/>
            </a:pPr>
            <a:r>
              <a:rPr lang="en-US" sz="1600" dirty="0">
                <a:solidFill>
                  <a:srgbClr val="222222"/>
                </a:solidFill>
              </a:rPr>
              <a:t>Elevul își pune singur o parte din obiective</a:t>
            </a:r>
            <a:endParaRPr lang="en-US" sz="1600" dirty="0"/>
          </a:p>
        </p:txBody>
      </p:sp>
      <p:graphicFrame>
        <p:nvGraphicFramePr>
          <p:cNvPr id="23" name="Tabel obiective"/>
          <p:cNvGraphicFramePr>
            <a:graphicFrameLocks noGrp="1"/>
          </p:cNvGraphicFramePr>
          <p:nvPr>
            <p:extLst>
              <p:ext uri="{D42A27DB-BD31-4B8C-83A1-F6EECF244321}">
                <p14:modId xmlns:p14="http://schemas.microsoft.com/office/powerpoint/2010/main" val="1579011935"/>
              </p:ext>
            </p:extLst>
          </p:nvPr>
        </p:nvGraphicFramePr>
        <p:xfrm>
          <a:off x="7040880" y="1783080"/>
          <a:ext cx="4480560" cy="914400"/>
        </p:xfrm>
        <a:graphic>
          <a:graphicData uri="http://schemas.openxmlformats.org/drawingml/2006/table">
            <a:tbl>
              <a:tblPr/>
              <a:tblGrid>
                <a:gridCol w="2240280"/>
                <a:gridCol w="2240280"/>
              </a:tblGrid>
              <a:tr h="6400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Vag</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6D6D6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Concret</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E7D32"/>
                    </a:solidFill>
                  </a:tcPr>
                </a:tc>
              </a:tr>
              <a:tr h="64008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„fă tot ce poți”</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„10 flotări corecte”</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4008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„încearcă mai mult”</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„sub 3 minute la 800 m”</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4008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„fii mai atent”</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„3 pase din 5 la țintă”</a:t>
                      </a:r>
                      <a:endParaRPr lang="en-US" sz="14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azi · luna asta · semestr"/>
          <p:cNvSpPr txBox="1"/>
          <p:nvPr/>
        </p:nvSpPr>
        <p:spPr>
          <a:xfrm>
            <a:off x="7040880" y="4709160"/>
            <a:ext cx="4480560" cy="457200"/>
          </a:xfrm>
          <a:prstGeom prst="rect">
            <a:avLst/>
          </a:prstGeom>
          <a:noFill/>
          <a:ln/>
        </p:spPr>
        <p:txBody>
          <a:bodyPr wrap="square" lIns="0" tIns="0" rIns="0" bIns="0" rtlCol="0" anchor="ctr"/>
          <a:lstStyle/>
          <a:p>
            <a:pPr indent="0" marL="0">
              <a:buNone/>
            </a:pPr>
            <a:r>
              <a:rPr lang="en-US" sz="1600" b="1" dirty="0">
                <a:solidFill>
                  <a:srgbClr val="1E5B2A"/>
                </a:solidFill>
              </a:rPr>
              <a:t>azi · luna asta · semestrul</a:t>
            </a:r>
            <a:endParaRPr lang="en-US" sz="1600" dirty="0"/>
          </a:p>
        </p:txBody>
      </p:sp>
      <p:sp>
        <p:nvSpPr>
          <p:cNvPr id="6" name="Locke și Latham, 2002"/>
          <p:cNvSpPr txBox="1"/>
          <p:nvPr/>
        </p:nvSpPr>
        <p:spPr>
          <a:xfrm>
            <a:off x="7040880" y="5166360"/>
            <a:ext cx="4480560" cy="365760"/>
          </a:xfrm>
          <a:prstGeom prst="rect">
            <a:avLst/>
          </a:prstGeom>
          <a:noFill/>
          <a:ln/>
        </p:spPr>
        <p:txBody>
          <a:bodyPr wrap="square" lIns="0" tIns="0" rIns="0" bIns="0" rtlCol="0" anchor="ctr"/>
          <a:lstStyle/>
          <a:p>
            <a:pPr indent="0" marL="0">
              <a:buNone/>
            </a:pPr>
            <a:r>
              <a:rPr lang="en-US" sz="1200" i="1" dirty="0">
                <a:solidFill>
                  <a:srgbClr val="6D6D6D"/>
                </a:solidFill>
              </a:rPr>
              <a:t>Locke și Latham, 2002</a:t>
            </a:r>
            <a:endParaRPr lang="en-US" sz="12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Feedbackul și recunoașterea</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Pe loc, concret, despre ce a făcut: „genunchii mai sus”, nu „mai bine”</a:t>
            </a:r>
            <a:endParaRPr lang="en-US" sz="1600" dirty="0"/>
          </a:p>
          <a:p>
            <a:pPr marL="228600" indent="-228600">
              <a:spcAft>
                <a:spcPts val="1200"/>
              </a:spcAft>
              <a:buSzPct val="100000"/>
              <a:buChar char="•"/>
            </a:pPr>
            <a:r>
              <a:rPr lang="en-US" sz="1600" dirty="0">
                <a:solidFill>
                  <a:srgbClr val="222222"/>
                </a:solidFill>
              </a:rPr>
              <a:t>Efort și progres, nu talent: „se vede că ai exersat”</a:t>
            </a:r>
            <a:endParaRPr lang="en-US" sz="1600" dirty="0"/>
          </a:p>
          <a:p>
            <a:pPr marL="228600" indent="-228600">
              <a:spcAft>
                <a:spcPts val="1200"/>
              </a:spcAft>
              <a:buSzPct val="100000"/>
              <a:buChar char="•"/>
            </a:pPr>
            <a:r>
              <a:rPr lang="en-US" sz="1600" dirty="0">
                <a:solidFill>
                  <a:srgbClr val="222222"/>
                </a:solidFill>
              </a:rPr>
              <a:t>Trei la unu: trei lucruri bune la unul de corectat</a:t>
            </a:r>
            <a:endParaRPr lang="en-US" sz="1600" dirty="0"/>
          </a:p>
          <a:p>
            <a:pPr marL="228600" indent="-228600">
              <a:spcAft>
                <a:spcPts val="1200"/>
              </a:spcAft>
              <a:buSzPct val="100000"/>
              <a:buChar char="•"/>
            </a:pPr>
            <a:r>
              <a:rPr lang="en-US" sz="1600" dirty="0">
                <a:solidFill>
                  <a:srgbClr val="222222"/>
                </a:solidFill>
              </a:rPr>
              <a:t>Recompensele: rar, pentru progres, nu pentru locul întâi</a:t>
            </a:r>
            <a:endParaRPr lang="en-US" sz="1600" dirty="0"/>
          </a:p>
        </p:txBody>
      </p:sp>
      <p:sp>
        <p:nvSpPr>
          <p:cNvPr id="4" name="3 : 1"/>
          <p:cNvSpPr txBox="1"/>
          <p:nvPr/>
        </p:nvSpPr>
        <p:spPr>
          <a:xfrm>
            <a:off x="7040880" y="1600200"/>
            <a:ext cx="4480560" cy="1371600"/>
          </a:xfrm>
          <a:prstGeom prst="rect">
            <a:avLst/>
          </a:prstGeom>
          <a:noFill/>
          <a:ln/>
        </p:spPr>
        <p:txBody>
          <a:bodyPr wrap="square" lIns="0" tIns="0" rIns="0" bIns="0" rtlCol="0" anchor="ctr"/>
          <a:lstStyle/>
          <a:p>
            <a:pPr indent="0" marL="0">
              <a:buNone/>
            </a:pPr>
            <a:r>
              <a:rPr lang="en-US" sz="6600" b="1" dirty="0">
                <a:solidFill>
                  <a:srgbClr val="2E7D32"/>
                </a:solidFill>
              </a:rPr>
              <a:t>3 : 1</a:t>
            </a:r>
            <a:endParaRPr lang="en-US" sz="6600" dirty="0"/>
          </a:p>
        </p:txBody>
      </p:sp>
      <p:sp>
        <p:nvSpPr>
          <p:cNvPr id="5" name="trei lucruri bune la unul"/>
          <p:cNvSpPr txBox="1"/>
          <p:nvPr/>
        </p:nvSpPr>
        <p:spPr>
          <a:xfrm>
            <a:off x="7040880" y="2971800"/>
            <a:ext cx="4480560" cy="457200"/>
          </a:xfrm>
          <a:prstGeom prst="rect">
            <a:avLst/>
          </a:prstGeom>
          <a:noFill/>
          <a:ln/>
        </p:spPr>
        <p:txBody>
          <a:bodyPr wrap="square" lIns="0" tIns="0" rIns="0" bIns="0" rtlCol="0" anchor="ctr"/>
          <a:lstStyle/>
          <a:p>
            <a:pPr indent="0" marL="0">
              <a:buNone/>
            </a:pPr>
            <a:r>
              <a:rPr lang="en-US" sz="1400" dirty="0">
                <a:solidFill>
                  <a:srgbClr val="6D6D6D"/>
                </a:solidFill>
              </a:rPr>
              <a:t>trei lucruri bune la unul de corectat</a:t>
            </a:r>
            <a:endParaRPr lang="en-US" sz="1400" dirty="0"/>
          </a:p>
        </p:txBody>
      </p:sp>
      <p:sp>
        <p:nvSpPr>
          <p:cNvPr id="6" name="Caseta efort"/>
          <p:cNvSpPr/>
          <p:nvPr/>
        </p:nvSpPr>
        <p:spPr>
          <a:xfrm>
            <a:off x="7040880" y="3794760"/>
            <a:ext cx="4480560" cy="1920240"/>
          </a:xfrm>
          <a:prstGeom prst="rect">
            <a:avLst/>
          </a:prstGeom>
          <a:solidFill>
            <a:srgbClr val="1E5B2A"/>
          </a:solidFill>
          <a:ln w="12700">
            <a:solidFill>
              <a:srgbClr val="1E5B2A"/>
            </a:solidFill>
            <a:prstDash val="solid"/>
          </a:ln>
        </p:spPr>
      </p:sp>
      <p:sp>
        <p:nvSpPr>
          <p:cNvPr id="7" name="Text efort"/>
          <p:cNvSpPr txBox="1"/>
          <p:nvPr/>
        </p:nvSpPr>
        <p:spPr>
          <a:xfrm>
            <a:off x="7269480" y="3886200"/>
            <a:ext cx="4023360" cy="1737360"/>
          </a:xfrm>
          <a:prstGeom prst="rect">
            <a:avLst/>
          </a:prstGeom>
          <a:noFill/>
          <a:ln/>
        </p:spPr>
        <p:txBody>
          <a:bodyPr wrap="square" lIns="0" tIns="0" rIns="0" bIns="0" rtlCol="0" anchor="ctr"/>
          <a:lstStyle/>
          <a:p>
            <a:pPr indent="0" marL="0">
              <a:buNone/>
            </a:pPr>
            <a:r>
              <a:rPr lang="en-US" sz="2000" b="1" dirty="0">
                <a:solidFill>
                  <a:srgbClr val="FFFFFF"/>
                </a:solidFill>
              </a:rPr>
              <a:t>„Se vede că ai exersat.”</a:t>
            </a:r>
            <a:endParaRPr lang="en-US" sz="2000" dirty="0"/>
          </a:p>
          <a:p>
            <a:pPr indent="0" marL="0">
              <a:buNone/>
            </a:pPr>
            <a:r>
              <a:rPr lang="en-US" sz="1300" dirty="0">
                <a:solidFill>
                  <a:srgbClr val="F2E94E"/>
                </a:solidFill>
              </a:rPr>
              <a:t>lauzi efortul, nu talentul</a:t>
            </a:r>
            <a:endParaRPr lang="en-US" sz="20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Autonomie, varietate și joc</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Dă de ales: între două exerciții, ordinea stațiilor, partenerul</a:t>
            </a:r>
            <a:endParaRPr lang="en-US" sz="1600" dirty="0"/>
          </a:p>
          <a:p>
            <a:pPr marL="228600" indent="-228600">
              <a:spcAft>
                <a:spcPts val="1200"/>
              </a:spcAft>
              <a:buSzPct val="100000"/>
              <a:buChar char="•"/>
            </a:pPr>
            <a:r>
              <a:rPr lang="en-US" sz="1600" dirty="0">
                <a:solidFill>
                  <a:srgbClr val="222222"/>
                </a:solidFill>
              </a:rPr>
              <a:t>Variază: altă structură a orei, alt joc, altă muzică</a:t>
            </a:r>
            <a:endParaRPr lang="en-US" sz="1600" dirty="0"/>
          </a:p>
          <a:p>
            <a:pPr marL="228600" indent="-228600">
              <a:spcAft>
                <a:spcPts val="1200"/>
              </a:spcAft>
              <a:buSzPct val="100000"/>
              <a:buChar char="•"/>
            </a:pPr>
            <a:r>
              <a:rPr lang="en-US" sz="1600" dirty="0">
                <a:solidFill>
                  <a:srgbClr val="222222"/>
                </a:solidFill>
              </a:rPr>
              <a:t>Jocul: cel mai puternic motor, la toate vârstele</a:t>
            </a:r>
            <a:endParaRPr lang="en-US" sz="1600" dirty="0"/>
          </a:p>
          <a:p>
            <a:pPr marL="228600" indent="-228600">
              <a:spcAft>
                <a:spcPts val="1200"/>
              </a:spcAft>
              <a:buSzPct val="100000"/>
              <a:buChar char="•"/>
            </a:pPr>
            <a:r>
              <a:rPr lang="en-US" sz="1600" dirty="0">
                <a:solidFill>
                  <a:srgbClr val="222222"/>
                </a:solidFill>
              </a:rPr>
              <a:t>Învățarea prin descoperire: îl lași pe elev să găsească soluția</a:t>
            </a:r>
            <a:endParaRPr lang="en-US" sz="1600" dirty="0"/>
          </a:p>
        </p:txBody>
      </p:sp>
      <p:sp>
        <p:nvSpPr>
          <p:cNvPr id="4" name="1"/>
          <p:cNvSpPr txBox="1"/>
          <p:nvPr/>
        </p:nvSpPr>
        <p:spPr>
          <a:xfrm>
            <a:off x="7040880" y="1783080"/>
            <a:ext cx="822960" cy="1188720"/>
          </a:xfrm>
          <a:prstGeom prst="rect">
            <a:avLst/>
          </a:prstGeom>
          <a:noFill/>
          <a:ln/>
        </p:spPr>
        <p:txBody>
          <a:bodyPr wrap="square" lIns="0" tIns="0" rIns="0" bIns="0" rtlCol="0" anchor="ctr"/>
          <a:lstStyle/>
          <a:p>
            <a:pPr indent="0" marL="0">
              <a:buNone/>
            </a:pPr>
            <a:r>
              <a:rPr lang="en-US" sz="4800" b="1" dirty="0">
                <a:solidFill>
                  <a:srgbClr val="A5D6A7"/>
                </a:solidFill>
              </a:rPr>
              <a:t>1</a:t>
            </a:r>
            <a:endParaRPr lang="en-US" sz="4800" dirty="0"/>
          </a:p>
        </p:txBody>
      </p:sp>
      <p:sp>
        <p:nvSpPr>
          <p:cNvPr id="5" name="Alegere"/>
          <p:cNvSpPr txBox="1"/>
          <p:nvPr/>
        </p:nvSpPr>
        <p:spPr>
          <a:xfrm>
            <a:off x="7955280" y="1920240"/>
            <a:ext cx="3566160" cy="548640"/>
          </a:xfrm>
          <a:prstGeom prst="rect">
            <a:avLst/>
          </a:prstGeom>
          <a:noFill/>
          <a:ln/>
        </p:spPr>
        <p:txBody>
          <a:bodyPr wrap="square" lIns="0" tIns="0" rIns="0" bIns="0" rtlCol="0" anchor="ctr"/>
          <a:lstStyle/>
          <a:p>
            <a:pPr indent="0" marL="0">
              <a:buNone/>
            </a:pPr>
            <a:r>
              <a:rPr lang="en-US" sz="2000" b="1" dirty="0">
                <a:solidFill>
                  <a:srgbClr val="1E5B2A"/>
                </a:solidFill>
              </a:rPr>
              <a:t>Alegere</a:t>
            </a:r>
            <a:endParaRPr lang="en-US" sz="2000" dirty="0"/>
          </a:p>
        </p:txBody>
      </p:sp>
      <p:sp>
        <p:nvSpPr>
          <p:cNvPr id="6" name="între două exerciții, par"/>
          <p:cNvSpPr txBox="1"/>
          <p:nvPr/>
        </p:nvSpPr>
        <p:spPr>
          <a:xfrm>
            <a:off x="7955280" y="2423160"/>
            <a:ext cx="3566160" cy="457200"/>
          </a:xfrm>
          <a:prstGeom prst="rect">
            <a:avLst/>
          </a:prstGeom>
          <a:noFill/>
          <a:ln/>
        </p:spPr>
        <p:txBody>
          <a:bodyPr wrap="square" lIns="0" tIns="0" rIns="0" bIns="0" rtlCol="0" anchor="ctr"/>
          <a:lstStyle/>
          <a:p>
            <a:pPr indent="0" marL="0">
              <a:buNone/>
            </a:pPr>
            <a:r>
              <a:rPr lang="en-US" sz="1300" dirty="0">
                <a:solidFill>
                  <a:srgbClr val="6D6D6D"/>
                </a:solidFill>
              </a:rPr>
              <a:t>între două exerciții, partenerul</a:t>
            </a:r>
            <a:endParaRPr lang="en-US" sz="1300" dirty="0"/>
          </a:p>
        </p:txBody>
      </p:sp>
      <p:sp>
        <p:nvSpPr>
          <p:cNvPr id="7" name="2"/>
          <p:cNvSpPr txBox="1"/>
          <p:nvPr/>
        </p:nvSpPr>
        <p:spPr>
          <a:xfrm>
            <a:off x="7040880" y="3200400"/>
            <a:ext cx="822960" cy="1188720"/>
          </a:xfrm>
          <a:prstGeom prst="rect">
            <a:avLst/>
          </a:prstGeom>
          <a:noFill/>
          <a:ln/>
        </p:spPr>
        <p:txBody>
          <a:bodyPr wrap="square" lIns="0" tIns="0" rIns="0" bIns="0" rtlCol="0" anchor="ctr"/>
          <a:lstStyle/>
          <a:p>
            <a:pPr indent="0" marL="0">
              <a:buNone/>
            </a:pPr>
            <a:r>
              <a:rPr lang="en-US" sz="4800" b="1" dirty="0">
                <a:solidFill>
                  <a:srgbClr val="A5D6A7"/>
                </a:solidFill>
              </a:rPr>
              <a:t>2</a:t>
            </a:r>
            <a:endParaRPr lang="en-US" sz="4800" dirty="0"/>
          </a:p>
        </p:txBody>
      </p:sp>
      <p:sp>
        <p:nvSpPr>
          <p:cNvPr id="8" name="Varietate"/>
          <p:cNvSpPr txBox="1"/>
          <p:nvPr/>
        </p:nvSpPr>
        <p:spPr>
          <a:xfrm>
            <a:off x="7955280" y="3337560"/>
            <a:ext cx="3566160" cy="548640"/>
          </a:xfrm>
          <a:prstGeom prst="rect">
            <a:avLst/>
          </a:prstGeom>
          <a:noFill/>
          <a:ln/>
        </p:spPr>
        <p:txBody>
          <a:bodyPr wrap="square" lIns="0" tIns="0" rIns="0" bIns="0" rtlCol="0" anchor="ctr"/>
          <a:lstStyle/>
          <a:p>
            <a:pPr indent="0" marL="0">
              <a:buNone/>
            </a:pPr>
            <a:r>
              <a:rPr lang="en-US" sz="2000" b="1" dirty="0">
                <a:solidFill>
                  <a:srgbClr val="1E5B2A"/>
                </a:solidFill>
              </a:rPr>
              <a:t>Varietate</a:t>
            </a:r>
            <a:endParaRPr lang="en-US" sz="2000" dirty="0"/>
          </a:p>
        </p:txBody>
      </p:sp>
      <p:sp>
        <p:nvSpPr>
          <p:cNvPr id="9" name="alt joc, altă muzică"/>
          <p:cNvSpPr txBox="1"/>
          <p:nvPr/>
        </p:nvSpPr>
        <p:spPr>
          <a:xfrm>
            <a:off x="7955280" y="3840480"/>
            <a:ext cx="3566160" cy="457200"/>
          </a:xfrm>
          <a:prstGeom prst="rect">
            <a:avLst/>
          </a:prstGeom>
          <a:noFill/>
          <a:ln/>
        </p:spPr>
        <p:txBody>
          <a:bodyPr wrap="square" lIns="0" tIns="0" rIns="0" bIns="0" rtlCol="0" anchor="ctr"/>
          <a:lstStyle/>
          <a:p>
            <a:pPr indent="0" marL="0">
              <a:buNone/>
            </a:pPr>
            <a:r>
              <a:rPr lang="en-US" sz="1300" dirty="0">
                <a:solidFill>
                  <a:srgbClr val="6D6D6D"/>
                </a:solidFill>
              </a:rPr>
              <a:t>alt joc, altă muzică</a:t>
            </a:r>
            <a:endParaRPr lang="en-US" sz="1300" dirty="0"/>
          </a:p>
        </p:txBody>
      </p:sp>
      <p:sp>
        <p:nvSpPr>
          <p:cNvPr id="10" name="3"/>
          <p:cNvSpPr txBox="1"/>
          <p:nvPr/>
        </p:nvSpPr>
        <p:spPr>
          <a:xfrm>
            <a:off x="7040880" y="4617720"/>
            <a:ext cx="822960" cy="1188720"/>
          </a:xfrm>
          <a:prstGeom prst="rect">
            <a:avLst/>
          </a:prstGeom>
          <a:noFill/>
          <a:ln/>
        </p:spPr>
        <p:txBody>
          <a:bodyPr wrap="square" lIns="0" tIns="0" rIns="0" bIns="0" rtlCol="0" anchor="ctr"/>
          <a:lstStyle/>
          <a:p>
            <a:pPr indent="0" marL="0">
              <a:buNone/>
            </a:pPr>
            <a:r>
              <a:rPr lang="en-US" sz="4800" b="1" dirty="0">
                <a:solidFill>
                  <a:srgbClr val="A5D6A7"/>
                </a:solidFill>
              </a:rPr>
              <a:t>3</a:t>
            </a:r>
            <a:endParaRPr lang="en-US" sz="4800" dirty="0"/>
          </a:p>
        </p:txBody>
      </p:sp>
      <p:sp>
        <p:nvSpPr>
          <p:cNvPr id="11" name="Joc"/>
          <p:cNvSpPr txBox="1"/>
          <p:nvPr/>
        </p:nvSpPr>
        <p:spPr>
          <a:xfrm>
            <a:off x="7955280" y="4754880"/>
            <a:ext cx="3566160" cy="548640"/>
          </a:xfrm>
          <a:prstGeom prst="rect">
            <a:avLst/>
          </a:prstGeom>
          <a:noFill/>
          <a:ln/>
        </p:spPr>
        <p:txBody>
          <a:bodyPr wrap="square" lIns="0" tIns="0" rIns="0" bIns="0" rtlCol="0" anchor="ctr"/>
          <a:lstStyle/>
          <a:p>
            <a:pPr indent="0" marL="0">
              <a:buNone/>
            </a:pPr>
            <a:r>
              <a:rPr lang="en-US" sz="2000" b="1" dirty="0">
                <a:solidFill>
                  <a:srgbClr val="1E5B2A"/>
                </a:solidFill>
              </a:rPr>
              <a:t>Joc</a:t>
            </a:r>
            <a:endParaRPr lang="en-US" sz="2000" dirty="0"/>
          </a:p>
        </p:txBody>
      </p:sp>
      <p:sp>
        <p:nvSpPr>
          <p:cNvPr id="12" name="cel mai puternic motor"/>
          <p:cNvSpPr txBox="1"/>
          <p:nvPr/>
        </p:nvSpPr>
        <p:spPr>
          <a:xfrm>
            <a:off x="7955280" y="5257800"/>
            <a:ext cx="3566160" cy="457200"/>
          </a:xfrm>
          <a:prstGeom prst="rect">
            <a:avLst/>
          </a:prstGeom>
          <a:noFill/>
          <a:ln/>
        </p:spPr>
        <p:txBody>
          <a:bodyPr wrap="square" lIns="0" tIns="0" rIns="0" bIns="0" rtlCol="0" anchor="ctr"/>
          <a:lstStyle/>
          <a:p>
            <a:pPr indent="0" marL="0">
              <a:buNone/>
            </a:pPr>
            <a:r>
              <a:rPr lang="en-US" sz="1300" dirty="0">
                <a:solidFill>
                  <a:srgbClr val="6D6D6D"/>
                </a:solidFill>
              </a:rPr>
              <a:t>cel mai puternic motor</a:t>
            </a:r>
            <a:endParaRPr lang="en-US" sz="13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Profesorul ca model și climatul emoțional</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Entuziasmul profesorului se ia, la fel și plictiseala</a:t>
            </a:r>
            <a:endParaRPr lang="en-US" sz="1600" dirty="0"/>
          </a:p>
          <a:p>
            <a:pPr marL="228600" indent="-228600">
              <a:spcAft>
                <a:spcPts val="1200"/>
              </a:spcAft>
              <a:buSzPct val="100000"/>
              <a:buChar char="•"/>
            </a:pPr>
            <a:r>
              <a:rPr lang="en-US" sz="1600" dirty="0">
                <a:solidFill>
                  <a:srgbClr val="222222"/>
                </a:solidFill>
              </a:rPr>
              <a:t>O glumă, nume spuse, un cuvânt pentru fiecare: elevul se simte al grupului</a:t>
            </a:r>
            <a:endParaRPr lang="en-US" sz="1600" dirty="0"/>
          </a:p>
          <a:p>
            <a:pPr marL="228600" indent="-228600">
              <a:spcAft>
                <a:spcPts val="1200"/>
              </a:spcAft>
              <a:buSzPct val="100000"/>
              <a:buChar char="•"/>
            </a:pPr>
            <a:r>
              <a:rPr lang="en-US" sz="1600" dirty="0">
                <a:solidFill>
                  <a:srgbClr val="222222"/>
                </a:solidFill>
              </a:rPr>
              <a:t>Greșeala e normală, face parte din învățat, nu e motiv de rușine</a:t>
            </a:r>
            <a:endParaRPr lang="en-US" sz="1600" dirty="0"/>
          </a:p>
          <a:p>
            <a:pPr marL="228600" indent="-228600">
              <a:spcAft>
                <a:spcPts val="1200"/>
              </a:spcAft>
              <a:buSzPct val="100000"/>
              <a:buChar char="•"/>
            </a:pPr>
            <a:r>
              <a:rPr lang="en-US" sz="1600" dirty="0">
                <a:solidFill>
                  <a:srgbClr val="222222"/>
                </a:solidFill>
              </a:rPr>
              <a:t>Nu faci pe nimeni de râs, nu compari în fața clasei</a:t>
            </a:r>
            <a:endParaRPr lang="en-US" sz="1600" dirty="0"/>
          </a:p>
        </p:txBody>
      </p:sp>
      <p:sp>
        <p:nvSpPr>
          <p:cNvPr id="4" name="Entuziasmul se ia."/>
          <p:cNvSpPr txBox="1"/>
          <p:nvPr/>
        </p:nvSpPr>
        <p:spPr>
          <a:xfrm>
            <a:off x="7040880" y="1874520"/>
            <a:ext cx="4480560" cy="822960"/>
          </a:xfrm>
          <a:prstGeom prst="rect">
            <a:avLst/>
          </a:prstGeom>
          <a:noFill/>
          <a:ln/>
        </p:spPr>
        <p:txBody>
          <a:bodyPr wrap="square" lIns="0" tIns="0" rIns="0" bIns="0" rtlCol="0" anchor="ctr"/>
          <a:lstStyle/>
          <a:p>
            <a:pPr indent="0" marL="0">
              <a:buNone/>
            </a:pPr>
            <a:r>
              <a:rPr lang="en-US" sz="2800" b="1" dirty="0">
                <a:solidFill>
                  <a:srgbClr val="1E5B2A"/>
                </a:solidFill>
              </a:rPr>
              <a:t>Entuziasmul se ia.</a:t>
            </a:r>
            <a:endParaRPr lang="en-US" sz="2800" dirty="0"/>
          </a:p>
        </p:txBody>
      </p:sp>
      <p:sp>
        <p:nvSpPr>
          <p:cNvPr id="5" name="Plictiseala la fel."/>
          <p:cNvSpPr txBox="1"/>
          <p:nvPr/>
        </p:nvSpPr>
        <p:spPr>
          <a:xfrm>
            <a:off x="7040880" y="2697480"/>
            <a:ext cx="4480560" cy="822960"/>
          </a:xfrm>
          <a:prstGeom prst="rect">
            <a:avLst/>
          </a:prstGeom>
          <a:noFill/>
          <a:ln/>
        </p:spPr>
        <p:txBody>
          <a:bodyPr wrap="square" lIns="0" tIns="0" rIns="0" bIns="0" rtlCol="0" anchor="ctr"/>
          <a:lstStyle/>
          <a:p>
            <a:pPr indent="0" marL="0">
              <a:buNone/>
            </a:pPr>
            <a:r>
              <a:rPr lang="en-US" sz="2800" b="1" dirty="0">
                <a:solidFill>
                  <a:srgbClr val="6D6D6D"/>
                </a:solidFill>
              </a:rPr>
              <a:t>Plictiseala la fel.</a:t>
            </a:r>
            <a:endParaRPr lang="en-US" sz="2800" dirty="0"/>
          </a:p>
        </p:txBody>
      </p:sp>
      <p:sp>
        <p:nvSpPr>
          <p:cNvPr id="6" name="Caseta reguli"/>
          <p:cNvSpPr/>
          <p:nvPr/>
        </p:nvSpPr>
        <p:spPr>
          <a:xfrm>
            <a:off x="7040880" y="3977640"/>
            <a:ext cx="4480560" cy="1737360"/>
          </a:xfrm>
          <a:prstGeom prst="rect">
            <a:avLst/>
          </a:prstGeom>
          <a:solidFill>
            <a:srgbClr val="F1F7F1"/>
          </a:solidFill>
          <a:ln w="12700">
            <a:solidFill>
              <a:srgbClr val="A5D6A7"/>
            </a:solidFill>
            <a:prstDash val="solid"/>
          </a:ln>
        </p:spPr>
      </p:sp>
      <p:sp>
        <p:nvSpPr>
          <p:cNvPr id="7" name="Text reguli"/>
          <p:cNvSpPr txBox="1"/>
          <p:nvPr/>
        </p:nvSpPr>
        <p:spPr>
          <a:xfrm>
            <a:off x="7269480" y="4069080"/>
            <a:ext cx="4023360" cy="1554480"/>
          </a:xfrm>
          <a:prstGeom prst="rect">
            <a:avLst/>
          </a:prstGeom>
          <a:noFill/>
          <a:ln/>
        </p:spPr>
        <p:txBody>
          <a:bodyPr wrap="square" lIns="0" tIns="0" rIns="0" bIns="0" rtlCol="0" anchor="ctr"/>
          <a:lstStyle/>
          <a:p>
            <a:pPr indent="0" marL="0">
              <a:buNone/>
            </a:pPr>
            <a:r>
              <a:rPr lang="en-US" sz="1500" b="1" dirty="0">
                <a:solidFill>
                  <a:srgbClr val="1E5B2A"/>
                </a:solidFill>
              </a:rPr>
              <a:t>nu faci pe nimeni de râs</a:t>
            </a:r>
            <a:endParaRPr lang="en-US" sz="1500" dirty="0"/>
          </a:p>
          <a:p>
            <a:pPr indent="0" marL="0">
              <a:buNone/>
            </a:pPr>
            <a:r>
              <a:rPr lang="en-US" sz="1500" b="1" dirty="0">
                <a:solidFill>
                  <a:srgbClr val="1E5B2A"/>
                </a:solidFill>
              </a:rPr>
              <a:t>nu compari în fața clasei</a:t>
            </a:r>
            <a:endParaRPr lang="en-US" sz="1500" dirty="0"/>
          </a:p>
          <a:p>
            <a:pPr indent="0" marL="0">
              <a:buNone/>
            </a:pPr>
            <a:r>
              <a:rPr lang="en-US" sz="1500" b="1" dirty="0">
                <a:solidFill>
                  <a:srgbClr val="1E5B2A"/>
                </a:solidFill>
              </a:rPr>
              <a:t>greșeala face parte din învățat</a:t>
            </a:r>
            <a:endParaRPr lang="en-US" sz="15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Studiu de caz: elevul care „nu vrea”</a:t>
            </a:r>
            <a:endParaRPr lang="en-US" sz="3000" dirty="0"/>
          </a:p>
        </p:txBody>
      </p:sp>
      <p:sp>
        <p:nvSpPr>
          <p:cNvPr id="3" name="Puncte"/>
          <p:cNvSpPr txBox="1"/>
          <p:nvPr/>
        </p:nvSpPr>
        <p:spPr>
          <a:xfrm>
            <a:off x="640080" y="1600200"/>
            <a:ext cx="5943600" cy="4480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222222"/>
                </a:solidFill>
              </a:rPr>
              <a:t>Andrei, 14 ani, refuză să participe, stă pe margine, „nu-mi place sportul”</a:t>
            </a:r>
            <a:endParaRPr lang="en-US" sz="1600" dirty="0"/>
          </a:p>
          <a:p>
            <a:pPr marL="228600" indent="-228600">
              <a:spcAft>
                <a:spcPts val="1200"/>
              </a:spcAft>
              <a:buSzPct val="100000"/>
              <a:buChar char="•"/>
            </a:pPr>
            <a:r>
              <a:rPr lang="en-US" sz="1600" dirty="0">
                <a:solidFill>
                  <a:srgbClr val="222222"/>
                </a:solidFill>
              </a:rPr>
              <a:t>Ce aflăm: a greșit de multe ori în fața tuturor, nu mai crede că poate, îi e frică să nu râdă lumea</a:t>
            </a:r>
            <a:endParaRPr lang="en-US" sz="1600" dirty="0"/>
          </a:p>
          <a:p>
            <a:pPr marL="228600" indent="-228600">
              <a:spcAft>
                <a:spcPts val="1200"/>
              </a:spcAft>
              <a:buSzPct val="100000"/>
              <a:buChar char="•"/>
            </a:pPr>
            <a:r>
              <a:rPr lang="en-US" sz="1600" dirty="0">
                <a:solidFill>
                  <a:srgbClr val="222222"/>
                </a:solidFill>
              </a:rPr>
              <a:t>Ce facem: sarcini la care sigur reușește, rol în echipă (arbitru, apoi jucător), laudă pe efort, fără expunere în fața clasei</a:t>
            </a:r>
            <a:endParaRPr lang="en-US" sz="1600" dirty="0"/>
          </a:p>
          <a:p>
            <a:pPr marL="228600" indent="-228600">
              <a:spcAft>
                <a:spcPts val="1200"/>
              </a:spcAft>
              <a:buSzPct val="100000"/>
              <a:buChar char="•"/>
            </a:pPr>
            <a:r>
              <a:rPr lang="en-US" sz="1600" dirty="0">
                <a:solidFill>
                  <a:srgbClr val="222222"/>
                </a:solidFill>
              </a:rPr>
              <a:t>După 6 săptămâni: vine la toate orele, propune el jocuri</a:t>
            </a:r>
            <a:endParaRPr lang="en-US" sz="1600" dirty="0"/>
          </a:p>
        </p:txBody>
      </p:sp>
      <p:sp>
        <p:nvSpPr>
          <p:cNvPr id="4" name="Linie timp"/>
          <p:cNvSpPr/>
          <p:nvPr/>
        </p:nvSpPr>
        <p:spPr>
          <a:xfrm>
            <a:off x="7360920" y="2057400"/>
            <a:ext cx="0" cy="3383280"/>
          </a:xfrm>
          <a:prstGeom prst="line">
            <a:avLst/>
          </a:prstGeom>
          <a:noFill/>
          <a:ln w="38100">
            <a:solidFill>
              <a:srgbClr val="A5D6A7"/>
            </a:solidFill>
            <a:prstDash val="solid"/>
          </a:ln>
        </p:spPr>
      </p:sp>
      <p:sp>
        <p:nvSpPr>
          <p:cNvPr id="5" name="Pas caz 0"/>
          <p:cNvSpPr/>
          <p:nvPr/>
        </p:nvSpPr>
        <p:spPr>
          <a:xfrm>
            <a:off x="7040880" y="1874520"/>
            <a:ext cx="640080" cy="640080"/>
          </a:xfrm>
          <a:prstGeom prst="ellipse">
            <a:avLst/>
          </a:prstGeom>
          <a:solidFill>
            <a:srgbClr val="1E5B2A"/>
          </a:solidFill>
          <a:ln w="12700">
            <a:solidFill>
              <a:srgbClr val="1E5B2A"/>
            </a:solidFill>
            <a:prstDash val="solid"/>
          </a:ln>
        </p:spPr>
      </p:sp>
      <p:sp>
        <p:nvSpPr>
          <p:cNvPr id="6" name="1"/>
          <p:cNvSpPr txBox="1"/>
          <p:nvPr/>
        </p:nvSpPr>
        <p:spPr>
          <a:xfrm>
            <a:off x="704088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Săpt. 1-2: singur, sarcin"/>
          <p:cNvSpPr txBox="1"/>
          <p:nvPr/>
        </p:nvSpPr>
        <p:spPr>
          <a:xfrm>
            <a:off x="7909560" y="1783080"/>
            <a:ext cx="3611880" cy="868680"/>
          </a:xfrm>
          <a:prstGeom prst="rect">
            <a:avLst/>
          </a:prstGeom>
          <a:noFill/>
          <a:ln/>
        </p:spPr>
        <p:txBody>
          <a:bodyPr wrap="square" lIns="0" tIns="0" rIns="0" bIns="0" rtlCol="0" anchor="ctr"/>
          <a:lstStyle/>
          <a:p>
            <a:pPr indent="0" marL="0">
              <a:buNone/>
            </a:pPr>
            <a:r>
              <a:rPr lang="en-US" sz="1300" dirty="0">
                <a:solidFill>
                  <a:srgbClr val="222222"/>
                </a:solidFill>
              </a:rPr>
              <a:t>Săpt. 1-2: singur, sarcini la care sigur reușește</a:t>
            </a:r>
            <a:endParaRPr lang="en-US" sz="1300" dirty="0"/>
          </a:p>
        </p:txBody>
      </p:sp>
      <p:sp>
        <p:nvSpPr>
          <p:cNvPr id="8" name="Pas caz 1"/>
          <p:cNvSpPr/>
          <p:nvPr/>
        </p:nvSpPr>
        <p:spPr>
          <a:xfrm>
            <a:off x="7040880" y="2971800"/>
            <a:ext cx="640080" cy="640080"/>
          </a:xfrm>
          <a:prstGeom prst="ellipse">
            <a:avLst/>
          </a:prstGeom>
          <a:solidFill>
            <a:srgbClr val="1E5B2A"/>
          </a:solidFill>
          <a:ln w="12700">
            <a:solidFill>
              <a:srgbClr val="1E5B2A"/>
            </a:solidFill>
            <a:prstDash val="solid"/>
          </a:ln>
        </p:spPr>
      </p:sp>
      <p:sp>
        <p:nvSpPr>
          <p:cNvPr id="9" name="2"/>
          <p:cNvSpPr txBox="1"/>
          <p:nvPr/>
        </p:nvSpPr>
        <p:spPr>
          <a:xfrm>
            <a:off x="7040880" y="2971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Săpt. 3-4: arbitru sau cr"/>
          <p:cNvSpPr txBox="1"/>
          <p:nvPr/>
        </p:nvSpPr>
        <p:spPr>
          <a:xfrm>
            <a:off x="7909560" y="2880360"/>
            <a:ext cx="3611880" cy="868680"/>
          </a:xfrm>
          <a:prstGeom prst="rect">
            <a:avLst/>
          </a:prstGeom>
          <a:noFill/>
          <a:ln/>
        </p:spPr>
        <p:txBody>
          <a:bodyPr wrap="square" lIns="0" tIns="0" rIns="0" bIns="0" rtlCol="0" anchor="ctr"/>
          <a:lstStyle/>
          <a:p>
            <a:pPr indent="0" marL="0">
              <a:buNone/>
            </a:pPr>
            <a:r>
              <a:rPr lang="en-US" sz="1300" dirty="0">
                <a:solidFill>
                  <a:srgbClr val="222222"/>
                </a:solidFill>
              </a:rPr>
              <a:t>Săpt. 3-4: arbitru sau cronometror, apoi jucător</a:t>
            </a:r>
            <a:endParaRPr lang="en-US" sz="1300" dirty="0"/>
          </a:p>
        </p:txBody>
      </p:sp>
      <p:sp>
        <p:nvSpPr>
          <p:cNvPr id="11" name="Pas caz 2"/>
          <p:cNvSpPr/>
          <p:nvPr/>
        </p:nvSpPr>
        <p:spPr>
          <a:xfrm>
            <a:off x="7040880" y="4069080"/>
            <a:ext cx="640080" cy="640080"/>
          </a:xfrm>
          <a:prstGeom prst="ellipse">
            <a:avLst/>
          </a:prstGeom>
          <a:solidFill>
            <a:srgbClr val="1E5B2A"/>
          </a:solidFill>
          <a:ln w="12700">
            <a:solidFill>
              <a:srgbClr val="1E5B2A"/>
            </a:solidFill>
            <a:prstDash val="solid"/>
          </a:ln>
        </p:spPr>
      </p:sp>
      <p:sp>
        <p:nvSpPr>
          <p:cNvPr id="12" name="3"/>
          <p:cNvSpPr txBox="1"/>
          <p:nvPr/>
        </p:nvSpPr>
        <p:spPr>
          <a:xfrm>
            <a:off x="7040880" y="40690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Săpt. 5-6: laudă pe efort"/>
          <p:cNvSpPr txBox="1"/>
          <p:nvPr/>
        </p:nvSpPr>
        <p:spPr>
          <a:xfrm>
            <a:off x="7909560" y="3977640"/>
            <a:ext cx="3611880" cy="868680"/>
          </a:xfrm>
          <a:prstGeom prst="rect">
            <a:avLst/>
          </a:prstGeom>
          <a:noFill/>
          <a:ln/>
        </p:spPr>
        <p:txBody>
          <a:bodyPr wrap="square" lIns="0" tIns="0" rIns="0" bIns="0" rtlCol="0" anchor="ctr"/>
          <a:lstStyle/>
          <a:p>
            <a:pPr indent="0" marL="0">
              <a:buNone/>
            </a:pPr>
            <a:r>
              <a:rPr lang="en-US" sz="1300" dirty="0">
                <a:solidFill>
                  <a:srgbClr val="222222"/>
                </a:solidFill>
              </a:rPr>
              <a:t>Săpt. 5-6: laudă pe efort, echipe făcute de profesor</a:t>
            </a:r>
            <a:endParaRPr lang="en-US" sz="1300" dirty="0"/>
          </a:p>
        </p:txBody>
      </p:sp>
      <p:sp>
        <p:nvSpPr>
          <p:cNvPr id="14" name="Pas caz 3"/>
          <p:cNvSpPr/>
          <p:nvPr/>
        </p:nvSpPr>
        <p:spPr>
          <a:xfrm>
            <a:off x="7040880" y="5166360"/>
            <a:ext cx="640080" cy="640080"/>
          </a:xfrm>
          <a:prstGeom prst="ellipse">
            <a:avLst/>
          </a:prstGeom>
          <a:solidFill>
            <a:srgbClr val="F2E94E"/>
          </a:solidFill>
          <a:ln w="12700">
            <a:solidFill>
              <a:srgbClr val="F2E94E"/>
            </a:solidFill>
            <a:prstDash val="solid"/>
          </a:ln>
        </p:spPr>
      </p:sp>
      <p:sp>
        <p:nvSpPr>
          <p:cNvPr id="15" name="✓"/>
          <p:cNvSpPr txBox="1"/>
          <p:nvPr/>
        </p:nvSpPr>
        <p:spPr>
          <a:xfrm>
            <a:off x="7040880" y="5166360"/>
            <a:ext cx="640080" cy="640080"/>
          </a:xfrm>
          <a:prstGeom prst="rect">
            <a:avLst/>
          </a:prstGeom>
          <a:noFill/>
          <a:ln/>
        </p:spPr>
        <p:txBody>
          <a:bodyPr wrap="square" lIns="0" tIns="0" rIns="0" bIns="0" rtlCol="0" anchor="ctr"/>
          <a:lstStyle/>
          <a:p>
            <a:pPr algn="ctr" indent="0" marL="0">
              <a:buNone/>
            </a:pPr>
            <a:r>
              <a:rPr lang="en-US" sz="1600" b="1" dirty="0">
                <a:solidFill>
                  <a:srgbClr val="222222"/>
                </a:solidFill>
              </a:rPr>
              <a:t>✓</a:t>
            </a:r>
            <a:endParaRPr lang="en-US" sz="1600" dirty="0"/>
          </a:p>
        </p:txBody>
      </p:sp>
      <p:sp>
        <p:nvSpPr>
          <p:cNvPr id="16" name="Rezultat: vine la toate o"/>
          <p:cNvSpPr txBox="1"/>
          <p:nvPr/>
        </p:nvSpPr>
        <p:spPr>
          <a:xfrm>
            <a:off x="7909560" y="5074920"/>
            <a:ext cx="3611880" cy="868680"/>
          </a:xfrm>
          <a:prstGeom prst="rect">
            <a:avLst/>
          </a:prstGeom>
          <a:noFill/>
          <a:ln/>
        </p:spPr>
        <p:txBody>
          <a:bodyPr wrap="square" lIns="0" tIns="0" rIns="0" bIns="0" rtlCol="0" anchor="ctr"/>
          <a:lstStyle/>
          <a:p>
            <a:pPr indent="0" marL="0">
              <a:buNone/>
            </a:pPr>
            <a:r>
              <a:rPr lang="en-US" sz="1300" dirty="0">
                <a:solidFill>
                  <a:srgbClr val="222222"/>
                </a:solidFill>
              </a:rPr>
              <a:t>Rezultat: vine la toate orele, propune el un joc</a:t>
            </a:r>
            <a:endParaRPr lang="en-US" sz="13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ACTIVITATE PRACTICĂ"/>
          <p:cNvSpPr txBox="1"/>
          <p:nvPr/>
        </p:nvSpPr>
        <p:spPr>
          <a:xfrm>
            <a:off x="731520" y="1280160"/>
            <a:ext cx="7315200" cy="457200"/>
          </a:xfrm>
          <a:prstGeom prst="rect">
            <a:avLst/>
          </a:prstGeom>
          <a:noFill/>
          <a:ln/>
        </p:spPr>
        <p:txBody>
          <a:bodyPr wrap="square" lIns="0" tIns="0" rIns="0" bIns="0" rtlCol="0" anchor="ctr"/>
          <a:lstStyle/>
          <a:p>
            <a:pPr indent="0" marL="0">
              <a:buNone/>
            </a:pPr>
            <a:r>
              <a:rPr lang="en-US" sz="1400" b="1" spc="400" kern="0" dirty="0">
                <a:solidFill>
                  <a:srgbClr val="F2E94E"/>
                </a:solidFill>
              </a:rPr>
              <a:t>ACTIVITATE PRACTICĂ</a:t>
            </a:r>
            <a:endParaRPr lang="en-US" sz="1400" dirty="0"/>
          </a:p>
        </p:txBody>
      </p:sp>
      <p:sp>
        <p:nvSpPr>
          <p:cNvPr id="3" name="Text 0"/>
          <p:cNvSpPr/>
          <p:nvPr>
            <p:ph idx="100" type="title" hasCustomPrompt="1"/>
          </p:nvPr>
        </p:nvSpPr>
        <p:spPr>
          <a:xfrm>
            <a:off x="731520" y="2011680"/>
            <a:ext cx="8686800" cy="2011680"/>
          </a:xfrm>
          <a:prstGeom prst="rect">
            <a:avLst/>
          </a:prstGeom>
          <a:noFill/>
          <a:ln/>
        </p:spPr>
        <p:txBody>
          <a:bodyPr wrap="square" lIns="0" tIns="0" rIns="0" bIns="0" rtlCol="0" anchor="ctr"/>
          <a:lstStyle/>
          <a:p>
            <a:pPr algn="l" indent="0" marL="0">
              <a:buNone/>
            </a:pPr>
            <a:r>
              <a:rPr lang="en-US" sz="3600" b="1" dirty="0">
                <a:solidFill>
                  <a:srgbClr val="FFFFFF"/>
                </a:solidFill>
              </a:rPr>
              <a:t>Cursa motivației</a:t>
            </a:r>
            <a:endParaRPr lang="en-US" sz="3600" dirty="0"/>
          </a:p>
        </p:txBody>
      </p:sp>
      <p:sp>
        <p:nvSpPr>
          <p:cNvPr id="4" name="Text 0"/>
          <p:cNvSpPr/>
          <p:nvPr>
            <p:ph idx="101" type="body" hasCustomPrompt="1"/>
          </p:nvPr>
        </p:nvSpPr>
        <p:spPr>
          <a:xfrm>
            <a:off x="731520" y="4114800"/>
            <a:ext cx="8686800" cy="731520"/>
          </a:xfrm>
          <a:prstGeom prst="rect">
            <a:avLst/>
          </a:prstGeom>
          <a:noFill/>
          <a:ln/>
        </p:spPr>
        <p:txBody>
          <a:bodyPr wrap="square" lIns="0" tIns="0" rIns="0" bIns="0" rtlCol="0" anchor="t"/>
          <a:lstStyle/>
          <a:p>
            <a:pPr algn="l" indent="0" marL="0">
              <a:buNone/>
            </a:pPr>
            <a:r>
              <a:rPr lang="en-US" sz="1800" dirty="0">
                <a:solidFill>
                  <a:srgbClr val="F2E94E"/>
                </a:solidFill>
              </a:rPr>
              <a:t>Toată grupa  ·  10-15 minute  ·  circuit cu 4 stații, fiecare o tehnică de motivare</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Cele patru stații</a:t>
            </a:r>
            <a:endParaRPr lang="en-US" sz="3000" dirty="0"/>
          </a:p>
        </p:txBody>
      </p:sp>
      <p:graphicFrame>
        <p:nvGraphicFramePr>
          <p:cNvPr id="29" name="Tabel statii"/>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2103120"/>
                <a:gridCol w="2194560"/>
                <a:gridCol w="65836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Stația</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 ilustrează</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 se face</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5B2A"/>
                    </a:solidFill>
                  </a:tcPr>
                </a:tc>
              </a:tr>
              <a:tr h="0">
                <a:tc>
                  <a:txBody>
                    <a:bodyPr/>
                    <a:lstStyle/>
                    <a:p>
                      <a:pPr indent="0" marL="0">
                        <a:buNone/>
                      </a:pPr>
                      <a:r>
                        <a:rPr lang="en-US" sz="1200" b="1" dirty="0">
                          <a:solidFill>
                            <a:srgbClr val="1E5B2A"/>
                          </a:solidFill>
                          <a:latin typeface="Calibri" pitchFamily="34" charset="0"/>
                          <a:ea typeface="Calibri" pitchFamily="34" charset="-122"/>
                          <a:cs typeface="Calibri" pitchFamily="34" charset="-120"/>
                        </a:rPr>
                        <a:t>1. Obiectivul meu</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Stabilirea obiectivelor și autonomia</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Fiecare participant își alege singur un obiectiv de 60 de secunde (număr de genuflexiuni, sărituri, pase la perete) și îl scrie pe foaie. Apoi îl execută. Comparația e doar cu propriul obiectiv, nu cu colegii.</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rgbClr val="1E5B2A"/>
                          </a:solidFill>
                          <a:latin typeface="Calibri" pitchFamily="34" charset="0"/>
                          <a:ea typeface="Calibri" pitchFamily="34" charset="-122"/>
                          <a:cs typeface="Calibri" pitchFamily="34" charset="-120"/>
                        </a:rPr>
                        <a:t>2. Trei la unu</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Feedbackul pe efort</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În perechi: unul execută un exercițiu simplu (de exemplu aruncare la țintă de 5 ori), celălalt trebuie să dea trei observații pozitive concrete și una de corecție, apoi se schimbă rolurile. Interzis: „bravo” și „mai bine” fără detalii.</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rgbClr val="1E5B2A"/>
                          </a:solidFill>
                          <a:latin typeface="Calibri" pitchFamily="34" charset="0"/>
                          <a:ea typeface="Calibri" pitchFamily="34" charset="-122"/>
                          <a:cs typeface="Calibri" pitchFamily="34" charset="-120"/>
                        </a:rPr>
                        <a:t>3. Adevărat sau fals, în mișcare</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Jocul și învățarea prin descoperire</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Coordonatorul citește afirmații din prezentare („Motivația extrinsecă este dăunătoare”, „Lauda talentului crește perseverența”, „Sarcinile complexe cer motivație moderată”). Participanții aleargă la conul din stânga pentru adevărat, din dreapta pentru fals. Cine greșește explică de ce a crezut așa, grupul corectează.</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rgbClr val="1E5B2A"/>
                          </a:solidFill>
                          <a:latin typeface="Calibri" pitchFamily="34" charset="0"/>
                          <a:ea typeface="Calibri" pitchFamily="34" charset="-122"/>
                          <a:cs typeface="Calibri" pitchFamily="34" charset="-120"/>
                        </a:rPr>
                        <a:t>4. Piramida vie</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1F7F1"/>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Maslow și climatul de siguranță</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Echipa primește cartonașe cu situații din sala de sport („un elev e luat în râs când ratează”, „profesorul știe numele tuturor”, „sala e rece și nu au apă”, „elevul primește diplomă pentru progres”) și trebuie să le așeze pe treapta corectă a piramidei lui Maslow, desenată pe jos cu conuri. Discuție: ce trebuie rezolvat întâi.</a:t>
                      </a:r>
                      <a:endParaRPr lang="en-US" sz="1200" dirty="0">
                        <a:latin typeface="Calibri" charset="0"/>
                        <a:ea typeface="Calibri" charset="0"/>
                        <a:cs typeface="Calibri"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Materiale: 4 conuri sau m"/>
          <p:cNvSpPr txBox="1"/>
          <p:nvPr/>
        </p:nvSpPr>
        <p:spPr>
          <a:xfrm>
            <a:off x="640080" y="5806440"/>
            <a:ext cx="10881360" cy="457200"/>
          </a:xfrm>
          <a:prstGeom prst="rect">
            <a:avLst/>
          </a:prstGeom>
          <a:noFill/>
          <a:ln/>
        </p:spPr>
        <p:txBody>
          <a:bodyPr wrap="square" lIns="0" tIns="0" rIns="0" bIns="0" rtlCol="0" anchor="ctr"/>
          <a:lstStyle/>
          <a:p>
            <a:pPr indent="0" marL="0">
              <a:buNone/>
            </a:pPr>
            <a:r>
              <a:rPr lang="en-US" sz="1100" i="1" dirty="0">
                <a:solidFill>
                  <a:srgbClr val="6D6D6D"/>
                </a:solidFill>
              </a:rPr>
              <a:t>Materiale: 4 conuri sau markere pentru stații, un cronometru, 8-12 cartonașe cu afirmații, o foaie și un pix pentru fiecare echipă. Echipe de 4-6, 2-3 minute pe stație, apoi toți împreună.</a:t>
            </a:r>
            <a:endParaRPr lang="en-US" sz="11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Ce rămâne</a:t>
            </a:r>
            <a:endParaRPr lang="en-US" sz="3000" dirty="0"/>
          </a:p>
        </p:txBody>
      </p:sp>
      <p:sp>
        <p:nvSpPr>
          <p:cNvPr id="3" name="1"/>
          <p:cNvSpPr txBox="1"/>
          <p:nvPr/>
        </p:nvSpPr>
        <p:spPr>
          <a:xfrm>
            <a:off x="640080" y="1600200"/>
            <a:ext cx="914400" cy="914400"/>
          </a:xfrm>
          <a:prstGeom prst="rect">
            <a:avLst/>
          </a:prstGeom>
          <a:noFill/>
          <a:ln/>
        </p:spPr>
        <p:txBody>
          <a:bodyPr wrap="square" lIns="0" tIns="0" rIns="0" bIns="0" rtlCol="0" anchor="ctr"/>
          <a:lstStyle/>
          <a:p>
            <a:pPr indent="0" marL="0">
              <a:buNone/>
            </a:pPr>
            <a:r>
              <a:rPr lang="en-US" sz="4400" b="1" dirty="0">
                <a:solidFill>
                  <a:srgbClr val="A5D6A7"/>
                </a:solidFill>
              </a:rPr>
              <a:t>1</a:t>
            </a:r>
            <a:endParaRPr lang="en-US" sz="4400" dirty="0"/>
          </a:p>
        </p:txBody>
      </p:sp>
      <p:sp>
        <p:nvSpPr>
          <p:cNvPr id="4" name="Motivația face dintr-un „"/>
          <p:cNvSpPr txBox="1"/>
          <p:nvPr/>
        </p:nvSpPr>
        <p:spPr>
          <a:xfrm>
            <a:off x="1645920" y="1645920"/>
            <a:ext cx="9875520" cy="457200"/>
          </a:xfrm>
          <a:prstGeom prst="rect">
            <a:avLst/>
          </a:prstGeom>
          <a:noFill/>
          <a:ln/>
        </p:spPr>
        <p:txBody>
          <a:bodyPr wrap="square" lIns="0" tIns="0" rIns="0" bIns="0" rtlCol="0" anchor="ctr"/>
          <a:lstStyle/>
          <a:p>
            <a:pPr indent="0" marL="0">
              <a:buNone/>
            </a:pPr>
            <a:r>
              <a:rPr lang="en-US" sz="2000" b="1" dirty="0">
                <a:solidFill>
                  <a:srgbClr val="1E5B2A"/>
                </a:solidFill>
              </a:rPr>
              <a:t>Motivația face dintr-un „pot” un „fac”</a:t>
            </a:r>
            <a:endParaRPr lang="en-US" sz="2000" dirty="0"/>
          </a:p>
        </p:txBody>
      </p:sp>
      <p:sp>
        <p:nvSpPr>
          <p:cNvPr id="5" name="fără ea, talentul stă deg"/>
          <p:cNvSpPr txBox="1"/>
          <p:nvPr/>
        </p:nvSpPr>
        <p:spPr>
          <a:xfrm>
            <a:off x="1645920" y="2103120"/>
            <a:ext cx="9875520" cy="411480"/>
          </a:xfrm>
          <a:prstGeom prst="rect">
            <a:avLst/>
          </a:prstGeom>
          <a:noFill/>
          <a:ln/>
        </p:spPr>
        <p:txBody>
          <a:bodyPr wrap="square" lIns="0" tIns="0" rIns="0" bIns="0" rtlCol="0" anchor="ctr"/>
          <a:lstStyle/>
          <a:p>
            <a:pPr indent="0" marL="0">
              <a:buNone/>
            </a:pPr>
            <a:r>
              <a:rPr lang="en-US" sz="1400" dirty="0">
                <a:solidFill>
                  <a:srgbClr val="6D6D6D"/>
                </a:solidFill>
              </a:rPr>
              <a:t>fără ea, talentul stă degeaba</a:t>
            </a:r>
            <a:endParaRPr lang="en-US" sz="1400" dirty="0"/>
          </a:p>
        </p:txBody>
      </p:sp>
      <p:sp>
        <p:nvSpPr>
          <p:cNvPr id="6" name="Separator 0"/>
          <p:cNvSpPr/>
          <p:nvPr/>
        </p:nvSpPr>
        <p:spPr>
          <a:xfrm>
            <a:off x="1645920" y="2624328"/>
            <a:ext cx="9875520" cy="0"/>
          </a:xfrm>
          <a:prstGeom prst="line">
            <a:avLst/>
          </a:prstGeom>
          <a:noFill/>
          <a:ln w="9525">
            <a:solidFill>
              <a:srgbClr val="D9D9D9"/>
            </a:solidFill>
            <a:prstDash val="solid"/>
          </a:ln>
        </p:spPr>
      </p:sp>
      <p:sp>
        <p:nvSpPr>
          <p:cNvPr id="7" name="2"/>
          <p:cNvSpPr txBox="1"/>
          <p:nvPr/>
        </p:nvSpPr>
        <p:spPr>
          <a:xfrm>
            <a:off x="640080" y="2743200"/>
            <a:ext cx="914400" cy="914400"/>
          </a:xfrm>
          <a:prstGeom prst="rect">
            <a:avLst/>
          </a:prstGeom>
          <a:noFill/>
          <a:ln/>
        </p:spPr>
        <p:txBody>
          <a:bodyPr wrap="square" lIns="0" tIns="0" rIns="0" bIns="0" rtlCol="0" anchor="ctr"/>
          <a:lstStyle/>
          <a:p>
            <a:pPr indent="0" marL="0">
              <a:buNone/>
            </a:pPr>
            <a:r>
              <a:rPr lang="en-US" sz="4400" b="1" dirty="0">
                <a:solidFill>
                  <a:srgbClr val="A5D6A7"/>
                </a:solidFill>
              </a:rPr>
              <a:t>2</a:t>
            </a:r>
            <a:endParaRPr lang="en-US" sz="4400" dirty="0"/>
          </a:p>
        </p:txBody>
      </p:sp>
      <p:sp>
        <p:nvSpPr>
          <p:cNvPr id="8" name="Fiecare teorie îi dă prof"/>
          <p:cNvSpPr txBox="1"/>
          <p:nvPr/>
        </p:nvSpPr>
        <p:spPr>
          <a:xfrm>
            <a:off x="1645920" y="2788920"/>
            <a:ext cx="9875520" cy="457200"/>
          </a:xfrm>
          <a:prstGeom prst="rect">
            <a:avLst/>
          </a:prstGeom>
          <a:noFill/>
          <a:ln/>
        </p:spPr>
        <p:txBody>
          <a:bodyPr wrap="square" lIns="0" tIns="0" rIns="0" bIns="0" rtlCol="0" anchor="ctr"/>
          <a:lstStyle/>
          <a:p>
            <a:pPr indent="0" marL="0">
              <a:buNone/>
            </a:pPr>
            <a:r>
              <a:rPr lang="en-US" sz="2000" b="1" dirty="0">
                <a:solidFill>
                  <a:srgbClr val="1E5B2A"/>
                </a:solidFill>
              </a:rPr>
              <a:t>Fiecare teorie îi dă profesorului câte ceva</a:t>
            </a:r>
            <a:endParaRPr lang="en-US" sz="2000" dirty="0"/>
          </a:p>
        </p:txBody>
      </p:sp>
      <p:sp>
        <p:nvSpPr>
          <p:cNvPr id="9" name="feedback, siguranță, pe c"/>
          <p:cNvSpPr txBox="1"/>
          <p:nvPr/>
        </p:nvSpPr>
        <p:spPr>
          <a:xfrm>
            <a:off x="1645920" y="3246120"/>
            <a:ext cx="9875520" cy="411480"/>
          </a:xfrm>
          <a:prstGeom prst="rect">
            <a:avLst/>
          </a:prstGeom>
          <a:noFill/>
          <a:ln/>
        </p:spPr>
        <p:txBody>
          <a:bodyPr wrap="square" lIns="0" tIns="0" rIns="0" bIns="0" rtlCol="0" anchor="ctr"/>
          <a:lstStyle/>
          <a:p>
            <a:pPr indent="0" marL="0">
              <a:buNone/>
            </a:pPr>
            <a:r>
              <a:rPr lang="en-US" sz="1400" dirty="0">
                <a:solidFill>
                  <a:srgbClr val="6D6D6D"/>
                </a:solidFill>
              </a:rPr>
              <a:t>feedback, siguranță, pe cine dai vina, de ales, sarcini crescătoare</a:t>
            </a:r>
            <a:endParaRPr lang="en-US" sz="1400" dirty="0"/>
          </a:p>
        </p:txBody>
      </p:sp>
      <p:sp>
        <p:nvSpPr>
          <p:cNvPr id="10" name="Separator 1"/>
          <p:cNvSpPr/>
          <p:nvPr/>
        </p:nvSpPr>
        <p:spPr>
          <a:xfrm>
            <a:off x="1645920" y="3767328"/>
            <a:ext cx="9875520" cy="0"/>
          </a:xfrm>
          <a:prstGeom prst="line">
            <a:avLst/>
          </a:prstGeom>
          <a:noFill/>
          <a:ln w="9525">
            <a:solidFill>
              <a:srgbClr val="D9D9D9"/>
            </a:solidFill>
            <a:prstDash val="solid"/>
          </a:ln>
        </p:spPr>
      </p:sp>
      <p:sp>
        <p:nvSpPr>
          <p:cNvPr id="11" name="3"/>
          <p:cNvSpPr txBox="1"/>
          <p:nvPr/>
        </p:nvSpPr>
        <p:spPr>
          <a:xfrm>
            <a:off x="640080" y="3886200"/>
            <a:ext cx="914400" cy="914400"/>
          </a:xfrm>
          <a:prstGeom prst="rect">
            <a:avLst/>
          </a:prstGeom>
          <a:noFill/>
          <a:ln/>
        </p:spPr>
        <p:txBody>
          <a:bodyPr wrap="square" lIns="0" tIns="0" rIns="0" bIns="0" rtlCol="0" anchor="ctr"/>
          <a:lstStyle/>
          <a:p>
            <a:pPr indent="0" marL="0">
              <a:buNone/>
            </a:pPr>
            <a:r>
              <a:rPr lang="en-US" sz="4400" b="1" dirty="0">
                <a:solidFill>
                  <a:srgbClr val="A5D6A7"/>
                </a:solidFill>
              </a:rPr>
              <a:t>3</a:t>
            </a:r>
            <a:endParaRPr lang="en-US" sz="4400" dirty="0"/>
          </a:p>
        </p:txBody>
      </p:sp>
      <p:sp>
        <p:nvSpPr>
          <p:cNvPr id="12" name="Atmosfera se face în fiec"/>
          <p:cNvSpPr txBox="1"/>
          <p:nvPr/>
        </p:nvSpPr>
        <p:spPr>
          <a:xfrm>
            <a:off x="1645920" y="3931920"/>
            <a:ext cx="9875520" cy="457200"/>
          </a:xfrm>
          <a:prstGeom prst="rect">
            <a:avLst/>
          </a:prstGeom>
          <a:noFill/>
          <a:ln/>
        </p:spPr>
        <p:txBody>
          <a:bodyPr wrap="square" lIns="0" tIns="0" rIns="0" bIns="0" rtlCol="0" anchor="ctr"/>
          <a:lstStyle/>
          <a:p>
            <a:pPr indent="0" marL="0">
              <a:buNone/>
            </a:pPr>
            <a:r>
              <a:rPr lang="en-US" sz="2000" b="1" dirty="0">
                <a:solidFill>
                  <a:srgbClr val="1E5B2A"/>
                </a:solidFill>
              </a:rPr>
              <a:t>Atmosfera se face în fiecare oră</a:t>
            </a:r>
            <a:endParaRPr lang="en-US" sz="2000" dirty="0"/>
          </a:p>
        </p:txBody>
      </p:sp>
      <p:sp>
        <p:nvSpPr>
          <p:cNvPr id="13" name="măiestrie, nu ego: modelu"/>
          <p:cNvSpPr txBox="1"/>
          <p:nvPr/>
        </p:nvSpPr>
        <p:spPr>
          <a:xfrm>
            <a:off x="1645920" y="4389120"/>
            <a:ext cx="9875520" cy="411480"/>
          </a:xfrm>
          <a:prstGeom prst="rect">
            <a:avLst/>
          </a:prstGeom>
          <a:noFill/>
          <a:ln/>
        </p:spPr>
        <p:txBody>
          <a:bodyPr wrap="square" lIns="0" tIns="0" rIns="0" bIns="0" rtlCol="0" anchor="ctr"/>
          <a:lstStyle/>
          <a:p>
            <a:pPr indent="0" marL="0">
              <a:buNone/>
            </a:pPr>
            <a:r>
              <a:rPr lang="en-US" sz="1400" dirty="0">
                <a:solidFill>
                  <a:srgbClr val="6D6D6D"/>
                </a:solidFill>
              </a:rPr>
              <a:t>măiestrie, nu ego: modelul TARGET</a:t>
            </a:r>
            <a:endParaRPr lang="en-US" sz="1400" dirty="0"/>
          </a:p>
        </p:txBody>
      </p:sp>
      <p:sp>
        <p:nvSpPr>
          <p:cNvPr id="14" name="Separator 2"/>
          <p:cNvSpPr/>
          <p:nvPr/>
        </p:nvSpPr>
        <p:spPr>
          <a:xfrm>
            <a:off x="1645920" y="4910328"/>
            <a:ext cx="9875520" cy="0"/>
          </a:xfrm>
          <a:prstGeom prst="line">
            <a:avLst/>
          </a:prstGeom>
          <a:noFill/>
          <a:ln w="9525">
            <a:solidFill>
              <a:srgbClr val="D9D9D9"/>
            </a:solidFill>
            <a:prstDash val="solid"/>
          </a:ln>
        </p:spPr>
      </p:sp>
      <p:sp>
        <p:nvSpPr>
          <p:cNvPr id="15" name="4"/>
          <p:cNvSpPr txBox="1"/>
          <p:nvPr/>
        </p:nvSpPr>
        <p:spPr>
          <a:xfrm>
            <a:off x="640080" y="5029200"/>
            <a:ext cx="914400" cy="914400"/>
          </a:xfrm>
          <a:prstGeom prst="rect">
            <a:avLst/>
          </a:prstGeom>
          <a:noFill/>
          <a:ln/>
        </p:spPr>
        <p:txBody>
          <a:bodyPr wrap="square" lIns="0" tIns="0" rIns="0" bIns="0" rtlCol="0" anchor="ctr"/>
          <a:lstStyle/>
          <a:p>
            <a:pPr indent="0" marL="0">
              <a:buNone/>
            </a:pPr>
            <a:r>
              <a:rPr lang="en-US" sz="4400" b="1" dirty="0">
                <a:solidFill>
                  <a:srgbClr val="A5D6A7"/>
                </a:solidFill>
              </a:rPr>
              <a:t>4</a:t>
            </a:r>
            <a:endParaRPr lang="en-US" sz="4400" dirty="0"/>
          </a:p>
        </p:txBody>
      </p:sp>
      <p:sp>
        <p:nvSpPr>
          <p:cNvPr id="16" name="Profesorul nu împinge, fa"/>
          <p:cNvSpPr txBox="1"/>
          <p:nvPr/>
        </p:nvSpPr>
        <p:spPr>
          <a:xfrm>
            <a:off x="1645920" y="5074920"/>
            <a:ext cx="9875520" cy="457200"/>
          </a:xfrm>
          <a:prstGeom prst="rect">
            <a:avLst/>
          </a:prstGeom>
          <a:noFill/>
          <a:ln/>
        </p:spPr>
        <p:txBody>
          <a:bodyPr wrap="square" lIns="0" tIns="0" rIns="0" bIns="0" rtlCol="0" anchor="ctr"/>
          <a:lstStyle/>
          <a:p>
            <a:pPr indent="0" marL="0">
              <a:buNone/>
            </a:pPr>
            <a:r>
              <a:rPr lang="en-US" sz="2000" b="1" dirty="0">
                <a:solidFill>
                  <a:srgbClr val="1E5B2A"/>
                </a:solidFill>
              </a:rPr>
              <a:t>Profesorul nu împinge, face condițiile</a:t>
            </a:r>
            <a:endParaRPr lang="en-US" sz="2000" dirty="0"/>
          </a:p>
        </p:txBody>
      </p:sp>
      <p:sp>
        <p:nvSpPr>
          <p:cNvPr id="17" name="elevii se motivează singu"/>
          <p:cNvSpPr txBox="1"/>
          <p:nvPr/>
        </p:nvSpPr>
        <p:spPr>
          <a:xfrm>
            <a:off x="1645920" y="5532120"/>
            <a:ext cx="9875520" cy="411480"/>
          </a:xfrm>
          <a:prstGeom prst="rect">
            <a:avLst/>
          </a:prstGeom>
          <a:noFill/>
          <a:ln/>
        </p:spPr>
        <p:txBody>
          <a:bodyPr wrap="square" lIns="0" tIns="0" rIns="0" bIns="0" rtlCol="0" anchor="ctr"/>
          <a:lstStyle/>
          <a:p>
            <a:pPr indent="0" marL="0">
              <a:buNone/>
            </a:pPr>
            <a:r>
              <a:rPr lang="en-US" sz="1400" dirty="0">
                <a:solidFill>
                  <a:srgbClr val="6D6D6D"/>
                </a:solidFill>
              </a:rPr>
              <a:t>elevii se motivează singuri când pot alege, se descurcă și se simt ai grupului</a:t>
            </a:r>
            <a:endParaRPr lang="en-US" sz="14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E5B2A"/>
                </a:solidFill>
              </a:rPr>
              <a:t>Bibliografie</a:t>
            </a:r>
            <a:endParaRPr lang="en-US" sz="3000" dirty="0"/>
          </a:p>
        </p:txBody>
      </p:sp>
      <p:sp>
        <p:nvSpPr>
          <p:cNvPr id="3" name="Bibliografie col 1"/>
          <p:cNvSpPr txBox="1"/>
          <p:nvPr/>
        </p:nvSpPr>
        <p:spPr>
          <a:xfrm>
            <a:off x="640080" y="1554480"/>
            <a:ext cx="5349240" cy="4754880"/>
          </a:xfrm>
          <a:prstGeom prst="rect">
            <a:avLst/>
          </a:prstGeom>
          <a:noFill/>
          <a:ln/>
        </p:spPr>
        <p:txBody>
          <a:bodyPr wrap="square" lIns="0" tIns="0" rIns="0" bIns="0" rtlCol="0" anchor="t"/>
          <a:lstStyle/>
          <a:p>
            <a:pPr marL="228600" indent="-228600">
              <a:spcAft>
                <a:spcPts val="500"/>
              </a:spcAft>
              <a:buSzPct val="100000"/>
              <a:buFont typeface="+mj-lt"/>
              <a:buAutoNum type="arabicPeriod" startAt="1"/>
            </a:pPr>
            <a:r>
              <a:rPr lang="en-US" sz="1000" dirty="0">
                <a:solidFill>
                  <a:srgbClr val="222222"/>
                </a:solidFill>
              </a:rPr>
              <a:t>Ames, C. (1992). Classrooms: Goals, structures, and student motivation. Journal of Educational Psychology, 84(3), 261-271.</a:t>
            </a:r>
            <a:endParaRPr lang="en-US" sz="1000" dirty="0"/>
          </a:p>
          <a:p>
            <a:pPr marL="228600" indent="-228600">
              <a:spcAft>
                <a:spcPts val="500"/>
              </a:spcAft>
              <a:buSzPct val="100000"/>
              <a:buFont typeface="+mj-lt"/>
              <a:buAutoNum type="arabicPeriod" startAt="1"/>
            </a:pPr>
            <a:r>
              <a:rPr lang="en-US" sz="1000" dirty="0">
                <a:solidFill>
                  <a:srgbClr val="222222"/>
                </a:solidFill>
              </a:rPr>
              <a:t>Bandura, A. (1997). Self-Efficacy: The Exercise of Control. New York: W. H. Freeman.</a:t>
            </a:r>
            <a:endParaRPr lang="en-US" sz="1000" dirty="0"/>
          </a:p>
          <a:p>
            <a:pPr marL="228600" indent="-228600">
              <a:spcAft>
                <a:spcPts val="500"/>
              </a:spcAft>
              <a:buSzPct val="100000"/>
              <a:buFont typeface="+mj-lt"/>
              <a:buAutoNum type="arabicPeriod" startAt="1"/>
            </a:pPr>
            <a:r>
              <a:rPr lang="en-US" sz="1000" dirty="0">
                <a:solidFill>
                  <a:srgbClr val="222222"/>
                </a:solidFill>
              </a:rPr>
              <a:t>Cosmovici, A., Iacob, L. (coord.) (1999). Psihologie școlară. Iași: Polirom.</a:t>
            </a:r>
            <a:endParaRPr lang="en-US" sz="1000" dirty="0"/>
          </a:p>
          <a:p>
            <a:pPr marL="228600" indent="-228600">
              <a:spcAft>
                <a:spcPts val="500"/>
              </a:spcAft>
              <a:buSzPct val="100000"/>
              <a:buFont typeface="+mj-lt"/>
              <a:buAutoNum type="arabicPeriod" startAt="1"/>
            </a:pPr>
            <a:r>
              <a:rPr lang="en-US" sz="1000" dirty="0">
                <a:solidFill>
                  <a:srgbClr val="222222"/>
                </a:solidFill>
              </a:rPr>
              <a:t>Deci, E. L., Ryan, R. M. (1985). Intrinsic Motivation and Self-Determination in Human Behavior. New York: Plenum Press.</a:t>
            </a:r>
            <a:endParaRPr lang="en-US" sz="1000" dirty="0"/>
          </a:p>
          <a:p>
            <a:pPr marL="228600" indent="-228600">
              <a:spcAft>
                <a:spcPts val="500"/>
              </a:spcAft>
              <a:buSzPct val="100000"/>
              <a:buFont typeface="+mj-lt"/>
              <a:buAutoNum type="arabicPeriod" startAt="1"/>
            </a:pPr>
            <a:r>
              <a:rPr lang="en-US" sz="1000" dirty="0">
                <a:solidFill>
                  <a:srgbClr val="222222"/>
                </a:solidFill>
              </a:rPr>
              <a:t>Deci, E. L., Ryan, R. M. (2000). The „what” and „why” of goal pursuits: Human needs and the self-determination of behavior. Psychological Inquiry, 11(4), 227-268.</a:t>
            </a:r>
            <a:endParaRPr lang="en-US" sz="1000" dirty="0"/>
          </a:p>
          <a:p>
            <a:pPr marL="228600" indent="-228600">
              <a:spcAft>
                <a:spcPts val="500"/>
              </a:spcAft>
              <a:buSzPct val="100000"/>
              <a:buFont typeface="+mj-lt"/>
              <a:buAutoNum type="arabicPeriod" startAt="1"/>
            </a:pPr>
            <a:r>
              <a:rPr lang="en-US" sz="1000" dirty="0">
                <a:solidFill>
                  <a:srgbClr val="222222"/>
                </a:solidFill>
              </a:rPr>
              <a:t>Duda, J. L. (2001). Achievement goal research in sport: Pushing the boundaries and clarifying some misunderstandings. În G. C. Roberts (ed.), Advances in Motivation in Sport and Exercise. Champaign, IL: Human Kinetics.</a:t>
            </a:r>
            <a:endParaRPr lang="en-US" sz="1000" dirty="0"/>
          </a:p>
          <a:p>
            <a:pPr marL="228600" indent="-228600">
              <a:spcAft>
                <a:spcPts val="500"/>
              </a:spcAft>
              <a:buSzPct val="100000"/>
              <a:buFont typeface="+mj-lt"/>
              <a:buAutoNum type="arabicPeriod" startAt="1"/>
            </a:pPr>
            <a:r>
              <a:rPr lang="en-US" sz="1000" dirty="0">
                <a:solidFill>
                  <a:srgbClr val="222222"/>
                </a:solidFill>
              </a:rPr>
              <a:t>Dweck, C. S. (2006). Mindset: The New Psychology of Success. New York: Random House.</a:t>
            </a:r>
            <a:endParaRPr lang="en-US" sz="1000" dirty="0"/>
          </a:p>
          <a:p>
            <a:pPr marL="228600" indent="-228600">
              <a:spcAft>
                <a:spcPts val="500"/>
              </a:spcAft>
              <a:buSzPct val="100000"/>
              <a:buFont typeface="+mj-lt"/>
              <a:buAutoNum type="arabicPeriod" startAt="1"/>
            </a:pPr>
            <a:r>
              <a:rPr lang="en-US" sz="1000" dirty="0">
                <a:solidFill>
                  <a:srgbClr val="222222"/>
                </a:solidFill>
              </a:rPr>
              <a:t>Epstein, J. (1989). Family structures and student motivation: A developmental perspective. În C. Ames, R. Ames (eds.), Research on Motivation in Education, vol. 3. San Diego: Academic Press.</a:t>
            </a:r>
            <a:endParaRPr lang="en-US" sz="1000" dirty="0"/>
          </a:p>
          <a:p>
            <a:pPr marL="228600" indent="-228600">
              <a:spcAft>
                <a:spcPts val="500"/>
              </a:spcAft>
              <a:buSzPct val="100000"/>
              <a:buFont typeface="+mj-lt"/>
              <a:buAutoNum type="arabicPeriod" startAt="1"/>
            </a:pPr>
            <a:r>
              <a:rPr lang="en-US" sz="1000" dirty="0">
                <a:solidFill>
                  <a:srgbClr val="222222"/>
                </a:solidFill>
              </a:rPr>
              <a:t>Epuran, M., Holdevici, I., Tonița, F. (2001). Psihologia sportului de performanță. Teorie și practică. București: FEST.</a:t>
            </a:r>
            <a:endParaRPr lang="en-US" sz="1000" dirty="0"/>
          </a:p>
        </p:txBody>
      </p:sp>
      <p:sp>
        <p:nvSpPr>
          <p:cNvPr id="4" name="Bibliografie col 2"/>
          <p:cNvSpPr txBox="1"/>
          <p:nvPr/>
        </p:nvSpPr>
        <p:spPr>
          <a:xfrm>
            <a:off x="6217920" y="1554480"/>
            <a:ext cx="5349240" cy="4754880"/>
          </a:xfrm>
          <a:prstGeom prst="rect">
            <a:avLst/>
          </a:prstGeom>
          <a:noFill/>
          <a:ln/>
        </p:spPr>
        <p:txBody>
          <a:bodyPr wrap="square" lIns="0" tIns="0" rIns="0" bIns="0" rtlCol="0" anchor="t"/>
          <a:lstStyle/>
          <a:p>
            <a:pPr marL="228600" indent="-228600">
              <a:spcAft>
                <a:spcPts val="500"/>
              </a:spcAft>
              <a:buSzPct val="100000"/>
              <a:buFont typeface="+mj-lt"/>
              <a:buAutoNum type="arabicPeriod" startAt="10"/>
            </a:pPr>
            <a:r>
              <a:rPr lang="en-US" sz="1000" dirty="0">
                <a:solidFill>
                  <a:srgbClr val="222222"/>
                </a:solidFill>
              </a:rPr>
              <a:t>Golu, M. (2005). Fundamentele psihologiei, vol. II. București: Editura Fundației România de Mâine.</a:t>
            </a:r>
            <a:endParaRPr lang="en-US" sz="1000" dirty="0"/>
          </a:p>
          <a:p>
            <a:pPr marL="228600" indent="-228600">
              <a:spcAft>
                <a:spcPts val="500"/>
              </a:spcAft>
              <a:buSzPct val="100000"/>
              <a:buFont typeface="+mj-lt"/>
              <a:buAutoNum type="arabicPeriod" startAt="10"/>
            </a:pPr>
            <a:r>
              <a:rPr lang="en-US" sz="1000" dirty="0">
                <a:solidFill>
                  <a:srgbClr val="222222"/>
                </a:solidFill>
              </a:rPr>
              <a:t>Locke, E. A., Latham, G. P. (2002). Building a practically useful theory of goal setting and task motivation. American Psychologist, 57(9), 705-717.</a:t>
            </a:r>
            <a:endParaRPr lang="en-US" sz="1000" dirty="0"/>
          </a:p>
          <a:p>
            <a:pPr marL="228600" indent="-228600">
              <a:spcAft>
                <a:spcPts val="500"/>
              </a:spcAft>
              <a:buSzPct val="100000"/>
              <a:buFont typeface="+mj-lt"/>
              <a:buAutoNum type="arabicPeriod" startAt="10"/>
            </a:pPr>
            <a:r>
              <a:rPr lang="en-US" sz="1000" dirty="0">
                <a:solidFill>
                  <a:srgbClr val="222222"/>
                </a:solidFill>
              </a:rPr>
              <a:t>Maslow, A. H. (1954). Motivation and Personality. New York: Harper &amp; Row.</a:t>
            </a:r>
            <a:endParaRPr lang="en-US" sz="1000" dirty="0"/>
          </a:p>
          <a:p>
            <a:pPr marL="228600" indent="-228600">
              <a:spcAft>
                <a:spcPts val="500"/>
              </a:spcAft>
              <a:buSzPct val="100000"/>
              <a:buFont typeface="+mj-lt"/>
              <a:buAutoNum type="arabicPeriod" startAt="10"/>
            </a:pPr>
            <a:r>
              <a:rPr lang="en-US" sz="1000" dirty="0">
                <a:solidFill>
                  <a:srgbClr val="222222"/>
                </a:solidFill>
              </a:rPr>
              <a:t>Neacșu, I. (1978). Motivație și învățare. București: Editura Didactică și Pedagogică.</a:t>
            </a:r>
            <a:endParaRPr lang="en-US" sz="1000" dirty="0"/>
          </a:p>
          <a:p>
            <a:pPr marL="228600" indent="-228600">
              <a:spcAft>
                <a:spcPts val="500"/>
              </a:spcAft>
              <a:buSzPct val="100000"/>
              <a:buFont typeface="+mj-lt"/>
              <a:buAutoNum type="arabicPeriod" startAt="10"/>
            </a:pPr>
            <a:r>
              <a:rPr lang="en-US" sz="1000" dirty="0">
                <a:solidFill>
                  <a:srgbClr val="222222"/>
                </a:solidFill>
              </a:rPr>
              <a:t>Pintrich, P. R., Schunk, D. H. (2002). Motivation in Education: Theory, Research, and Applications (ed. a 2-a). Upper Saddle River, NJ: Merrill Prentice Hall.</a:t>
            </a:r>
            <a:endParaRPr lang="en-US" sz="1000" dirty="0"/>
          </a:p>
          <a:p>
            <a:pPr marL="228600" indent="-228600">
              <a:spcAft>
                <a:spcPts val="500"/>
              </a:spcAft>
              <a:buSzPct val="100000"/>
              <a:buFont typeface="+mj-lt"/>
              <a:buAutoNum type="arabicPeriod" startAt="10"/>
            </a:pPr>
            <a:r>
              <a:rPr lang="en-US" sz="1000" dirty="0">
                <a:solidFill>
                  <a:srgbClr val="222222"/>
                </a:solidFill>
              </a:rPr>
              <a:t>Weiner, B. (1985). An attributional theory of achievement motivation and emotion. Psychological Review, 92(4), 548-573.</a:t>
            </a:r>
            <a:endParaRPr lang="en-US" sz="1000" dirty="0"/>
          </a:p>
          <a:p>
            <a:pPr marL="228600" indent="-228600">
              <a:spcAft>
                <a:spcPts val="500"/>
              </a:spcAft>
              <a:buSzPct val="100000"/>
              <a:buFont typeface="+mj-lt"/>
              <a:buAutoNum type="arabicPeriod" startAt="10"/>
            </a:pPr>
            <a:r>
              <a:rPr lang="en-US" sz="1000" dirty="0">
                <a:solidFill>
                  <a:srgbClr val="222222"/>
                </a:solidFill>
              </a:rPr>
              <a:t>Yerkes, R. M., Dodson, J. D. (1908). The relation of strength of stimulus to rapidity of habit-formation. Journal of Comparative Neurology and Psychology, 18, 459-482.</a:t>
            </a:r>
            <a:endParaRPr lang="en-US" sz="1000" dirty="0"/>
          </a:p>
          <a:p>
            <a:pPr marL="228600" indent="-228600">
              <a:spcAft>
                <a:spcPts val="500"/>
              </a:spcAft>
              <a:buSzPct val="100000"/>
              <a:buFont typeface="+mj-lt"/>
              <a:buAutoNum type="arabicPeriod" startAt="10"/>
            </a:pPr>
            <a:r>
              <a:rPr lang="en-US" sz="1000" dirty="0">
                <a:solidFill>
                  <a:srgbClr val="222222"/>
                </a:solidFill>
              </a:rPr>
              <a:t>Zlate, M. (2000). Fundamentele psihologiei. București: Pro Humanitate.</a:t>
            </a:r>
            <a:endParaRPr lang="en-US" sz="1000" dirty="0"/>
          </a:p>
        </p:txBody>
      </p:sp>
      <p:sp>
        <p:nvSpPr>
          <p:cNvPr id="25" name="Slide Number Placeholder 0"/>
          <p:cNvSpPr>
            <a:spLocks noGrp="1"/>
          </p:cNvSpPr>
          <p:nvPr>
            <p:ph type="sldNum" sz="quarter" idx="4294967295"/>
          </p:nvPr>
        </p:nvSpPr>
        <p:spPr>
          <a:xfrm>
            <a:off x="1106424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D6D6D"/>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Teren">
  <a:themeElements>
    <a:clrScheme name="Teren">
      <a:dk1>
        <a:srgbClr val="222222"/>
      </a:dk1>
      <a:lt1>
        <a:srgbClr val="FFFFFF"/>
      </a:lt1>
      <a:dk2>
        <a:srgbClr val="1E5B2A"/>
      </a:dk2>
      <a:lt2>
        <a:srgbClr val="F1F7F1"/>
      </a:lt2>
      <a:accent1>
        <a:srgbClr val="2E7D32"/>
      </a:accent1>
      <a:accent2>
        <a:srgbClr val="F2E94E"/>
      </a:accent2>
      <a:accent3>
        <a:srgbClr val="A5D6A7"/>
      </a:accent3>
      <a:accent4>
        <a:srgbClr val="6D6D6D"/>
      </a:accent4>
      <a:accent5>
        <a:srgbClr val="E8F5E9"/>
      </a:accent5>
      <a:accent6>
        <a:srgbClr val="D9D9D9"/>
      </a:accent6>
      <a:hlink>
        <a:srgbClr val="2E7D32"/>
      </a:hlink>
      <a:folHlink>
        <a:srgbClr val="6D6D6D"/>
      </a:folHlink>
    </a:clrScheme>
    <a:fontScheme name="Ter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Motivația și rolul ei în activitatea umană</dc:title>
  <dc:subject>PptxGenJS Presentation</dc:subject>
  <dc:creator>Grupa 5104 SPM</dc:creator>
  <cp:lastModifiedBy>Grupa 5104 SPM</cp:lastModifiedBy>
  <cp:revision>1</cp:revision>
  <dcterms:created xsi:type="dcterms:W3CDTF">2026-10-21T17:02:34Z</dcterms:created>
  <dcterms:modified xsi:type="dcterms:W3CDTF">2026-10-21T17:02:34Z</dcterms:modified>
</cp:coreProperties>
</file>