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ere" id="{845c981a-07d6-89c4-f035-775e1f988ed5}">
          <p14:sldIdLst>
            <p14:sldId id="256"/>
            <p14:sldId id="257"/>
          </p14:sldIdLst>
        </p14:section>
        <p14:section name="Partea 1" id="{4772eb61-3772-4627-4fb5-f5b98e9b87ef}">
          <p14:sldIdLst>
            <p14:sldId id="258"/>
            <p14:sldId id="259"/>
            <p14:sldId id="260"/>
            <p14:sldId id="261"/>
            <p14:sldId id="262"/>
            <p14:sldId id="263"/>
          </p14:sldIdLst>
        </p14:section>
        <p14:section name="Partea 2" id="{4ee5d4fb-5725-b833-385c-5bf468a62278}">
          <p14:sldIdLst>
            <p14:sldId id="264"/>
            <p14:sldId id="265"/>
            <p14:sldId id="266"/>
            <p14:sldId id="267"/>
            <p14:sldId id="268"/>
            <p14:sldId id="269"/>
          </p14:sldIdLst>
        </p14:section>
        <p14:section name="Partea 3" id="{f29cda82-3fa4-624a-045f-c0a3f2baa82f}">
          <p14:sldIdLst>
            <p14:sldId id="270"/>
            <p14:sldId id="271"/>
            <p14:sldId id="272"/>
            <p14:sldId id="273"/>
            <p14:sldId id="274"/>
            <p14:sldId id="275"/>
          </p14:sldIdLst>
        </p14:section>
        <p14:section name="Partea 4" id="{588af9b8-36b6-d7fc-8d2e-65a52c537434}">
          <p14:sldIdLst>
            <p14:sldId id="276"/>
            <p14:sldId id="277"/>
            <p14:sldId id="278"/>
            <p14:sldId id="279"/>
            <p14:sldId id="280"/>
            <p14:sldId id="281"/>
          </p14:sldIdLst>
        </p14:section>
        <p14:section name="Activitate practică" id="{1645a152-816c-c995-7927-d5de0ece7ae6}">
          <p14:sldIdLst>
            <p14:sldId id="282"/>
            <p14:sldId id="283"/>
          </p14:sldIdLst>
        </p14:section>
        <p14:section name="Încheiere" id="{912fbf0c-7a20-7fcb-4f96-5dc69e130749}">
          <p14:sldIdLst>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C7E"/>
                </a:solidFill>
                <a:latin typeface="+mn-lt"/>
              </a:defRPr>
            </a:pPr>
            <a:r>
              <a:rPr sz="1200" b="0" i="0" u="none" strike="noStrike">
                <a:solidFill>
                  <a:srgbClr val="2F3C7E"/>
                </a:solidFill>
                <a:latin typeface="+mn-lt"/>
              </a:rPr>
              <a:t>Legea Yerkes-Dodson</a:t>
            </a:r>
          </a:p>
        </c:rich>
      </c:tx>
      <c:layout/>
      <c:overlay val="0"/>
    </c:title>
    <c:autoTitleDeleted val="0"/>
    <c:plotArea>
      <c:layout/>
      <c:lineChart>
        <c:varyColors val="0"/>
        <c:ser>
          <c:idx val="0"/>
          <c:order val="0"/>
          <c:tx>
            <c:strRef>
              <c:f>Sheet1!$B$1</c:f>
              <c:strCache>
                <c:ptCount val="1"/>
                <c:pt idx="0">
                  <c:v>Performanță</c:v>
                </c:pt>
              </c:strCache>
            </c:strRef>
          </c:tx>
          <c:spPr>
            <a:solidFill>
              <a:srgbClr val="F96167"/>
            </a:solidFill>
            <a:ln w="38100" cap="flat">
              <a:solidFill>
                <a:srgbClr val="F9616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96167"/>
              </a:solidFill>
              <a:ln w="9525" cap="flat">
                <a:solidFill>
                  <a:srgbClr val="F96167"/>
                </a:solidFill>
                <a:prstDash val="solid"/>
                <a:round/>
              </a:ln>
              <a:effectLst/>
            </c:spPr>
          </c:marker>
          <c:cat>
            <c:multiLvlStrRef>
              <c:f>Sheet1!$A$2:$A$12</c:f>
              <c:multiLvlStrCache>
                <c:ptCount val="11"/>
                <c:lvl>
                  <c:pt idx="0">
                    <c:v>scăzută</c:v>
                  </c:pt>
                  <c:pt idx="1">
                    <c:v> </c:v>
                  </c:pt>
                  <c:pt idx="2">
                    <c:v> </c:v>
                  </c:pt>
                  <c:pt idx="3">
                    <c:v> </c:v>
                  </c:pt>
                  <c:pt idx="4">
                    <c:v> </c:v>
                  </c:pt>
                  <c:pt idx="5">
                    <c:v>optimă</c:v>
                  </c:pt>
                  <c:pt idx="6">
                    <c:v> </c:v>
                  </c:pt>
                  <c:pt idx="7">
                    <c:v> </c:v>
                  </c:pt>
                  <c:pt idx="8">
                    <c:v> </c:v>
                  </c:pt>
                  <c:pt idx="9">
                    <c:v> </c:v>
                  </c:pt>
                  <c:pt idx="10">
                    <c:v>excesivă</c:v>
                  </c:pt>
                </c:lvl>
              </c:multiLvlStrCache>
            </c:multiLvlStrRef>
          </c:cat>
          <c:val>
            <c:numRef>
              <c:f>Sheet1!$B$2:$B$12</c:f>
              <c:numCache>
                <c:formatCode>General</c:formatCode>
                <c:ptCount val="11"/>
                <c:pt idx="0">
                  <c:v>4</c:v>
                </c:pt>
                <c:pt idx="1">
                  <c:v>14</c:v>
                </c:pt>
                <c:pt idx="2">
                  <c:v>32</c:v>
                </c:pt>
                <c:pt idx="3">
                  <c:v>61</c:v>
                </c:pt>
                <c:pt idx="4">
                  <c:v>88</c:v>
                </c:pt>
                <c:pt idx="5">
                  <c:v>100</c:v>
                </c:pt>
                <c:pt idx="6">
                  <c:v>88</c:v>
                </c:pt>
                <c:pt idx="7">
                  <c:v>61</c:v>
                </c:pt>
                <c:pt idx="8">
                  <c:v>32</c:v>
                </c:pt>
                <c:pt idx="9">
                  <c:v>14</c:v>
                </c:pt>
                <c:pt idx="10">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6B7280"/>
                    </a:solidFill>
                    <a:latin typeface="+mn-lt"/>
                  </a:defRPr>
                </a:pPr>
                <a:r>
                  <a:rPr sz="1000" b="0" i="0" u="none" strike="noStrike">
                    <a:solidFill>
                      <a:srgbClr val="6B7280"/>
                    </a:solidFill>
                    <a:latin typeface="+mn-lt"/>
                  </a:rPr>
                  <a:t>intensitatea motivației</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8EAF3"/>
              </a:solidFill>
              <a:prstDash val="solid"/>
              <a:round/>
            </a:ln>
          </c:spPr>
        </c:majorGridlines>
        <c:title>
          <c:tx>
            <c:rich>
              <a:bodyPr/>
              <a:lstStyle/>
              <a:p>
                <a:pPr>
                  <a:defRPr sz="1000" b="0" i="0" u="none" strike="noStrike">
                    <a:solidFill>
                      <a:srgbClr val="6B7280"/>
                    </a:solidFill>
                    <a:latin typeface="+mn-lt"/>
                  </a:defRPr>
                </a:pPr>
                <a:r>
                  <a:rPr sz="1000" b="0" i="0" u="none" strike="noStrike">
                    <a:solidFill>
                      <a:srgbClr val="6B7280"/>
                    </a:solidFill>
                    <a:latin typeface="+mn-lt"/>
                  </a:rPr>
                  <a:t>performanța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valAx>
      <c:spPr>
        <a:solidFill>
          <a:srgbClr val="F3F4F8"/>
        </a:solidFill>
        <a:ln>
          <a:noFill/>
        </a:ln>
        <a:effectLst/>
      </c:spPr>
    </c:plotArea>
    <c:plotVisOnly val="1"/>
    <c:dispBlanksAs val="span"/>
  </c:chart>
  <c:spPr>
    <a:solidFill>
      <a:srgbClr val="F3F4F8"/>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titlu. Completați numele membrilor în caseta de jos (înlocuiți liniile). Primul vorbitor se prezintă, prezintă echipa și spune în două propoziții ce urmează: patru părți și o activitate practică la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Prezentați pe scurt structura: patru părți teoretice, fiecare susținută de un membru, apoi activitatea practică la care participă toată grupa. Spuneți că la final este bibliografia. Nu intrați în conținut aici, maximum un minut.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tranziție. Membrul 1 preia cuvântul.
Bună ziua. Proiectul nostru tratează motivația și rolul ei în activitatea umană, cu accent pe ce înseamnă ea în educație și în educația fizică. Eu voi deschide cu partea de bază: ce este motivația, din ce este formată și cum funcționează. Colegii mei vor continua cu teoriile care o explică, cu rolul ei în activitatea instructiv-educativă și cu tehnicile concrete pe care un profesor le poate folosi la clasă sau în sala de sport. La final vom face împreună o activitate practică.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Să pornim de la o situație simplă. Doi elevi din aceeași clasă, cu aceeași constituție fizică, primesc aceeași sarcină: să alerge 800 de metri. Unul termină, celălalt se oprește după două ture. Diferența nu este de capacitate. Diferența este de motivație. Asta ne arată de la început de ce subiectul contează: motivația este ceea ce transformă o capacitate în rezultat. Fără ea, orice talent rămâne nefolosit.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Definiția cu care lucrăm este următoarea: motivația este ansamblul factorilor interni care declanșează, orientează și mențin comportamentul. Trei verbe aici. Motivația ne pune în mișcare, ne arată încotro și ne ține acolo când vine greul. Ea răspunde la întrebarea „de ce” facem ceva, nu la „cum” facem. Un lucru important: motivația nu se vede direct. Nu-i poți lua cuiva motivația ca pe tensiune, cu un aparat. O deducem din ce face: cât efort depune, cât timp rezistă și ce alege când are de 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doilea punct este structura motivațională a personalității. În psihologia românească, la Cosmovici sau Zlate, motivația este descrisă ca un sistem cu mai multe niveluri. La bază stau trebuințele: lipsa a ceva, resimțită ca o tensiune. Trebuința de apă, de hrană, de mișcare, dar și trebuința de apartenență la un grup sau de apreciere. Când o trebuință devine conștientă și se leagă de un obiect anume, se transformă în motiv. Motivul este cel care împinge efectiv spre acțiune. Mai sus sunt interesele, orientări stabile și selective spre un domeniu: cineva are interes pentru sport, altcineva pentru muzică. Interesele se formează în timp și dau constanță. Apoi convingerile, idei puternice, cu încărcătură afectivă, pe care le apărăm: de exemplu convingerea că munca se răsplătește. Și în vârf, idealurile și aspirațiile: modelul de om și de viață spre care tindem. Un copil care vrea „să ajungă ca antrenorul lui” are un ideal care îi organizează toată activitatea.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ce contează structura asta pentru un profesor? Pentru că fiecare elev are propria configurație. La unul domină trebuința de afirmare, la altul trebuința de siguranță, la altul interesul pur pentru joc. Același stimul, de exemplu o competiție, îl activează pe primul și îl blochează pe al doilea. Un profesor bun învață să citească structura motivațională a fiecărui elev.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Motivația îndeplinește patru funcții. Prima este activarea: ne scoate din starea de repaus, ne dă energie. A doua este orientarea: alege o direcție, un scop. A treia este susținerea: menține efortul în timp, chiar când apar obstacole. A patra este reglarea: ajustează intensitatea efortului după situație. Când un sportiv dozează efortul într-o cursă lungă, aici lucrează funcția de reglare.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tranziție. Membrul 2 preia cuvântul.
Mulțumesc. Colega mea a explicat ce este motivația. Eu voi prezenta cum a fost ea explicată de principalele școli de gândire din psihologie. Nu există o singură teorie corectă. Fiecare a prins o bucată din adevăr și fiecare dă profesorului alt instrument. Voi trece prin cinci perspective: behavioristă, umanistă, cognitivă, teoria autodeterminării și teoria autoeficacității.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este perspectiva behavioristă, legată de numele lui Skinner. Ideea centrală este simplă: un comportament urmat de o recompensă tinde să se repete, iar un comportament urmat de o pedeapsă sau de nimic tinde să dispară. Pentru Skinner, motivația este practic istoricul recompenselor și pedepselor pe care le-a primit cineva. Aplicarea în educație este evidentă: lauda, punctele, stelele, recompensele, feedbackul imediat. În sala de sport funcționează foarte bine: un „bravo” spus imediat după o execuție corectă întărește execuția. Limita se vede repede: dacă dispare recompensa, dispare și comportamentul. Elevul care face sport doar pentru notă se oprește când nu mai e notă.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doua perspectivă este cea umanistă, cu Abraham Maslow și celebra lui piramidă. Maslow spune că trebuințele umane sunt ierarhizate pe cinci niveluri. La bază, trebuințele fiziologice: hrană, apă, somn. Apoi siguranța: fizică și emoțională. Apoi apartenența: să fii acceptat de grup. Apoi stima: respectul celorlalți și respectul de sine. Și în vârf, autorealizarea: să devii ceea ce poți deveni. Regula este că o trebuință superioară apare abia după ce cele de bază sunt satisfăcute. Pentru profesor, concluzia este practică: un elev flămând, nedormit sau speriat nu este disponibil pentru învățare, oricât de bună ar fi lecția. Un copil care se teme că va fi luat în râs la ora de sport nu se va implica, pentru că nevoia lui de siguranță nu este satisfăcută. Întâi clasa trebuie să fie un loc sigur. Performanța vine după.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treia este perspectiva cognitivă, care pune accent pe cum gândim despre succes și eșec. Atkinson a descris motivația de realizare ca rezultatul a două forțe opuse: nevoia de succes și teama de eșec. Elevii la care domină nevoia de succes aleg sarcini de dificultate medie, unde reușita depinde de ei. Cei la care domină teama de eșec aleg fie sarcini foarte ușoare, fie imposibil de grele, pentru că în ambele cazuri nu pot fi învinovățiți. Weiner a dus ideea mai departe cu teoria atribuirii: contează enorm cui atribuim reușita sau eșecul. Dacă un elev atribuie eșecul la ceva intern și controlabil, de exemplu „nu m-am antrenat suficient”, motivația rămâne intactă, pentru că data viitoare poate schimba ceva. Dacă atribuie eșecul la ceva stabil și necontrolabil, „nu am talent”, sau la ceva extern, „arbitrul a fost părtinitor”, motivația se stinge, pentru că nu mai are ce să facă. De aici iese o regulă simplă pentru profesor: lauzi efortul, nu talentul.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patra perspectivă este teoria autodeterminării, a lui Deci și Ryan, probabil cea mai influentă teorie a motivației din ultimii patruzeci de ani. Ei spun că oamenii au trei nevoi psihologice de bază. Autonomia: să simți că tu alegi, că nu ești împins. Competența: să simți că te descurci, că progresezi. Relaționarea: să te simți legat de ceilalți, acceptat. Când aceste trei nevoi sunt satisfăcute, motivația devine intrinsecă și durabilă. Când sunt frustrate, apare ceea ce ei numesc amotivare: elevul nu mai vede sensul. Teoria descrie și un continuum: de la amotivare, prin diferite forme de motivație extrinsecă, până la motivația intrinsecă. Un profesor poate muta elevul pe acest continuum dându-i alegeri, sarcini pe măsura lui și un climat în care se simte parte din grup.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cincea perspectivă este teoria autoeficacității, a lui Albert Bandura. Autoeficacitatea este încrederea că „pot face asta”, într-o situație concretă. Bandura a arătat că această încredere prezice mai bine decât aptitudinea reală cât efort depune cineva și cât timp perseverează. Autoeficacitatea are patru surse. Cea mai puternică este experiența proprie a reușitei: dacă am reușit, cred că pot din nou. A doua este observarea unor modele asemănătoare cu mine: dacă un coleg ca mine a reușit, pot și eu. A treia este încurajarea verbală a cuiva în care am încredere. A patra este starea fizică și emoțională: oboseala și anxietatea scad încrederea. Pentru educația fizică, concluzia practică este să construim sarcini progresive, cu reușită garantată la început, ca elevul să adune experiențe de succes.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tranziție. Membrul 3 preia cuvântul.
Mulțumesc. Până acum am văzut ce este motivația și cum o explică teoriile. Eu voi vorbi despre rolul ei în activitatea instructiv-educativă, adică în ceea ce se întâmplă efectiv la clasă și în sala de sport, între profesor, elev și conținutul de învățat.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Putem privi lecția ca un triunghi cu trei vârfuri: elevul, profesorul și conținutul. Motivația circulă între ele. Elevul vine la oră cu propria lui structură motivațională, cea descrisă de colega mea în prima parte: trebuințe, interese, temeri, convingeri despre sine. Profesorul nu este un observator neutru: el creează climatul și este el însuși un model. Un profesor care vine plictisit la oră transmite plictiseala. Unul căruia îi place ce face transmite și asta, fără să vrea. Iar conținutul, fie că e un exercițiu de gimnastică sau o regulă de joc, devine atractiv sau respingător în funcție de cum este prezentat. Învățarea eficientă apare doar la intersecția celor trei.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Să ne uităm mai atent la motivația pentru învățare a elevului. Ioan Neacșu, în lucrarea lui despre motivație și învățare, descrie mai multe categorii de motive. Motivele cognitive: curiozitatea, dorința de a înțelege cum funcționează ceva. Motivele afective: dorința de a fi apreciat de profesor, de a fi acceptat de colegi. Motivele de autorealizare: a deveni mai bun, a se depăși pe sine. Și, din păcate, motivele negative: teama de notă slabă, de pedeapsă, de rușine în fața clasei. Motivele negative merg pe termen scurt, dar au un cost. Elevul învață să evite, nu să caute. Când tot ce îl mișcă este frica, în momentul în care dispare controlul dispare și efortul.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Educația fizică are un specific aparte, pe care Mihai Epuran l-a descris pe larg în psihologia sportului. În sport, motivația se vede direct, în efort fizic măsurabil. Nu te poți preface că alergi. Asta face sportul un teren excelent pentru a observa și a educa motivația. Un alt aspect: plăcerea mișcării este un motiv intrinsec natural la copii. Copiii mici aleargă de plăcere. Această plăcere se pierde însă dacă este sufocată de exerciții monotone, de comparații permanente și de critică. Mulți adolescenți care spun că urăsc sportul au iubit mișcarea la cinci ani. Cineva i-a dezvățat pe drum. Apoi competiția: motivează puternic pe unii elevi și blochează complet pe alții, mai ales pe cei care pierd mereu. Și nu în ultimul rând, în sport corpul este expus privirii celorlalți. Rușinea legată de corp este unul dintre cei mai puternici demotivatori la vârsta adolescenței, și profesorul trebuie să țină cont de asta când organizează activitățile.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Aici intervine conceptul de climat motivațional, dezvoltat de Carole Ames și aplicat în sport de Joan Duda. Există două tipuri de climat pe care profesorul le creează, de multe ori fără să-și dea seama. Climatul orientat spre măiestrie este cel în care succesul înseamnă progresul propriu, efortul depus, faptul că ai învățat ceva nou. Climatul orientat spre ego este cel în care succesul înseamnă a fi mai bun decât ceilalți. Cercetările sunt clare: climatul de măiestrie produce perseverență, plăcere și mai puțină anxietate, la toți elevii. Climatul de ego motivează doar pe cei câțiva care câștigă mereu, iar pe restul îi învață să evite activitatea. Asta nu înseamnă că scoatem competiția. Ne întrecem în continuare, dar ce se numără la final este cu cât ai progresat tu față de tine.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Pentru a construi un climat de măiestrie există un model practic, cunoscut sub acronimul TARGET, propus de Epstein și dezvoltat de Ames. Fiecare literă este o pârghie pe care profesorul o controlează. T, de la Task, sarcina: sarcini variate, cu dificultate adaptată, ca fiecare să aibă ceva de câștigat. A, de la Authority, autoritate: elevii au un cuvânt de spus, pot alege între variante. R, de la Recognition, recunoaștere: recunoaștem progresul și efortul, de preferat în privat, nu doar pe cei mai buni în fața tuturor. G, de la Grouping, grupare: grupuri mixte, schimbate des, nu „cei buni” și „cei slabi”. E, de la Evaluation, evaluare: raportată la propriul progres, nu la clasament. T, de la Time, timp: timp suficient pentru a învăța, fără grabă. Un profesor care trece prin aceste șase pârghii când își planifică lecția construiește, aproape automat, un climat în care elevii vin cu plăcere.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tranziție. Membrul 4 preia cuvântul.
Mulțumesc. Am ajuns la partea cea mai practică: ce face concret profesorul ca să motiveze. Voi prezenta cinci grupuri de tehnici și apoi un studiu de caz. Toate vin din teoriile prezentate de colegii mei și o să spun la fiecare de unde vine.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tehnică este stabilirea obiectivelor. Cercetările lui Locke și Latham au arătat că obiectivele concrete și măsurabile produc rezultate mult mai bune decât îndemnul vag „fă tot ce poți”. „Săptămâna asta vreau să faci zece flotări corecte” funcționează. „Încearcă mai mult” nu. Obiectivele trebuie să fie pe mai multe orizonturi: pentru ora de azi, pentru luna asta, pentru semestru, ca elevul să vadă legătura dintre efortul de azi și rezultatul de mâine. Dificultatea trebuie să fie moderată: puțin peste ce poate elevul acum, nici prea ușor să se plictisească, nici prea greu să renunțe. Vă amintiți de legea optimului și de autoeficacitatea lui Bandura. Și foarte important: elevul își fixează singur o parte din obiective. Asta satisface nevoia de autonomie din teoria lui Deci și Ryan, iar un obiectiv pe care l-ai ales singur îl aperi altfel.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doua tehnică este feedbackul și recunoașterea. Feedbackul bun are trei calități: este imediat, este concret și este legat de comportament. „Genunchii mai sus la săritură” este un feedback. „Mai bine” nu este. Apoi, lăudăm efortul și progresul, nu talentul: „se vede că ai exersat” în loc de „ești talentat”. Carol Dweck a arătat că elevii lăudați pentru talent devin fricoși, pentru că orice eșec le amenință eticheta, iar cei lăudați pentru efort caută provocări. Asta este exact teoria atribuirii pusă în practică. O regulă utilă este raportul trei la unu: trei observații pozitive la una corectivă. Corecția trebuie să existe, altfel feedbackul devine gol, dar ea se aude mai bine când vine pe un fond pozitiv. Cât despre recompensele extrinseci, puncte, diplome, premii: le folosim rar, pentru progres, nu pentru a fi primul, altfel ucidem motivația intrinsecă a celor care nu ajung niciodată primii.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treia tehnică grupează autonomia, varietatea și jocul. Autonomia înseamnă să oferim alegeri, chiar mici: între două exerciții, în ce ordine parcurg stațiile, cu cine fac pereche. Alegerea nu costă nimic și schimbă mult implicarea. Varietatea răspunde la nevoia de noutate: altă structură a orei, alt joc, altă muzică la încălzire. Monotonia omoară motivația mai sigur decât orice. Jocul este cel mai puternic motivator intrinsec, la toate vârstele, nu doar la copii mici. Un exercițiu de viteză plictisitor devine palpitant când este un joc de prins. Iar învățarea prin descoperire, una dintre metodele care apar chiar în programa acestui curs, înseamnă să lăsăm elevul să găsească el soluția: „cum ai putea să arunci mai departe?”, în loc să-i spunem de la început tehnica. Ce descoperi singur ține mai mult.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patra tehnică este profesorul însuși, ca model, și climatul emoțional pe care îl creează. Entuziasmul profesorului se ia. Din păcate și plictiseala lui. Elevii simt imediat dacă profesorului îi place ce face. Apoi lucrurile mici care satisfac nevoia de relaționare: umorul, folosirea numelor, un cuvânt spus fiecăruia, nu doar celor buni. Și o regulă de climat: greșeala este normală și necesară, face parte din învățare, nu este motiv de rușine. Asta înseamnă fără ridiculizare și fără comparații publice. Un singur moment de ridicol în fața clasei poate strica luni de muncă. Aici lucrăm pe nivelul de siguranță și apartenență din piramida lui Maslow.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Să vedem cum se leagă totul într-un studiu de caz, care este și una dintre metodele cursului. Andrei, 14 ani, clasa a opta. Refuză să participe la ora de sport, stă pe margine, spune că „nu-i place sportul”, aduce scutiri. Un profesor behaviorist ar scădea nota. Să încercăm altfel. Diagnosticul, folosind ce am învățat: Andrei a avut experiențe repetate de eșec public, a fost ales ultimul în echipă, a fost luat în râs când a ratat. Autoeficacitatea lui este la pământ, atribuie eșecul la „n-am talent” și are o teamă puternică de ridicol. Nu-i lipsește motivația. Are o motivație de evitare foarte puternică, ceea ce e altceva. Intervenția, pe șase săptămâni. Prima: sarcini cu reușită garantată, lucru individual la început, fără privitori. A doua: un rol în echipă care nu îl expune, de exemplu arbitru sau cronometror, ca să fie în grup fără să fie evaluat, și abia apoi, treptat, jucător. A treia: feedback exclusiv pe efort și progres, în privat. A patra: zero expunere publică, echipe făcute de profesor, nu alese de elevi. Rezultatul: după șase săptămâni Andrei participă la toate orele, iar în săptămâna a șasea a propus el un joc pentru clasă. Nu l-a făcut nimeni sportiv. L-a adus cineva înapoi în zona în care mișcarea e sigură și plăcută, atât.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circuit cu patru stații, în care fiecare stație ilustrează o tehnică motivațională. Participanții o trăiesc, nu doar o ascultă.
Organizare: Grupa se împarte în 2-3 echipe de 4-6 persoane. Fiecare echipă pornește de la altă stație și le parcurge pe toate, 2-3 minute la fiecare. Un membru al grupului de proiect coordonează fiecare stație.
Materiale: 4 conuri sau markere pentru stații, un cronometru, 8-12 cartonașe cu afirmații, o foaie și un pix pentru fiecare echipă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Stația 1: Obiectivul meu. Fiecare participant își alege singur un obiectiv de 60 de secunde (număr de genuflexiuni, sărituri, pase la perete) și îl scrie pe foaie. Apoi îl execută. Comparația e doar cu propriul obiectiv, nu cu colegii. Întrebare de reflecție: Ce a fost diferit când ai ales tu cifra, față de când ți-o impune cineva?
Stația 2: Trei la unu. În perechi: unul execută un exercițiu simplu (de exemplu aruncare la țintă de 5 ori), celălalt trebuie să dea trei observații pozitive concrete și una de corecție, apoi se schimbă rolurile. Interzis: „bravo” și „mai bine” fără detalii. Întrebare de reflecție: A fost greu să găsești trei lucruri concrete bune? Cum te-ai simțit când le-ai auzit?
Stația 3: Adevărat sau fals, în mișcare. Coordonatorul citește afirmații din prezentare („Motivația extrinsecă este dăunătoare”, „Lauda talentului crește perseverența”, „Sarcinile complexe cer motivație moderată”). Participanții aleargă la conul din stânga pentru adevărat, din dreapta pentru fals. Cine greșește explică de ce a crezut așa, grupul corectează. Întrebare de reflecție: Cât din teorie ți-ai amintit când a trebuit să alergi?
Stația 4: Piramida vie. Echipa primește cartonașe cu situații din sala de sport („un elev e luat în râs când ratează”, „profesorul știe numele tuturor”, „sala e rece și nu au apă”, „elevul primește diplomă pentru progres”) și trebuie să le așeze pe treapta corectă a piramidei lui Maslow, desenată pe jos cu conuri. Discuție: ce trebuie rezolvat întâi. Întrebare de reflecție: Ce situație ți s-a părut cea mai des întâlnită în școală?
Încheiere: Toate echipele se adună. Fiecare echipă spune într-o propoziție ce tehnică i-a plăcut cel mai mult și de ce. Coordonatorul leagă răspunsurile de teoriile din prezentare.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Concluzii, 1-2 minute, spuse de oricare membru. Reluați cele patru idei de pe slide cu o propoziție fiecare și mulțumiți pentru atenție. Apoi lăsați slide-ul cu bibliografia afișat.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Bibliografia rămâne pe ecran la final. Dacă profesorul întreabă, principalele surse românești sunt Neacșu (motivație și învățare), Epuran (psihologia sportului), Cosmovici și Zlate (psihologie generală și școlară).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F3C7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10698480" cy="173736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063240"/>
            <a:ext cx="10698480" cy="1280160"/>
          </a:xfrm>
          <a:prstGeom prst="rect">
            <a:avLst/>
          </a:prstGeom>
          <a:noFill/>
          <a:ln/>
        </p:spPr>
        <p:txBody>
          <a:bodyPr wrap="square" rtlCol="0"/>
          <a:lstStyle>
            <a:lvl1pPr algn="l" indent="0" marL="0">
              <a:buNone/>
              <a:defRPr lang="en-US" sz="1600" dirty="0">
                <a:solidFill>
                  <a:srgbClr val="E8EAF3"/>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2F3C7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463040"/>
          </a:xfrm>
          <a:prstGeom prst="rect">
            <a:avLst/>
          </a:prstGeom>
          <a:noFill/>
          <a:ln/>
        </p:spPr>
        <p:txBody>
          <a:bodyPr wrap="square" rtlCol="0"/>
          <a:lstStyle>
            <a:lvl1pPr algn="l" indent="0" marL="0">
              <a:buNone/>
              <a:defRPr lang="en-US" sz="3800" b="1" dirty="0">
                <a:solidFill>
                  <a:srgbClr val="FFFFFF"/>
                </a:solidFill>
              </a:defRPr>
            </a:lvl1pPr>
          </a:lstStyle>
          <a:p>
            <a:pPr algn="l" indent="0" marL="0">
              <a:buNone/>
            </a:pPr>
            <a:endParaRPr lang="en-US" sz="3800" dirty="0"/>
          </a:p>
        </p:txBody>
      </p:sp>
      <p:sp>
        <p:nvSpPr>
          <p:cNvPr id="3" name="Text 0"/>
          <p:cNvSpPr/>
          <p:nvPr>
            <p:ph idx="101" type="body" hasCustomPrompt="1"/>
          </p:nvPr>
        </p:nvSpPr>
        <p:spPr>
          <a:xfrm>
            <a:off x="731520" y="3931920"/>
            <a:ext cx="10698480" cy="822960"/>
          </a:xfrm>
          <a:prstGeom prst="rect">
            <a:avLst/>
          </a:prstGeom>
          <a:noFill/>
          <a:ln/>
        </p:spPr>
        <p:txBody>
          <a:bodyPr wrap="square" rtlCol="0"/>
          <a:lstStyle>
            <a:lvl1pPr algn="l" indent="0" marL="0">
              <a:buNone/>
              <a:defRPr lang="en-US" sz="1800" dirty="0">
                <a:solidFill>
                  <a:srgbClr val="F9E795"/>
                </a:solidFill>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rtlCol="0"/>
          <a:lstStyle>
            <a:lvl1pPr algn="l" indent="0" marL="0">
              <a:buNone/>
              <a:defRPr lang="en-US" sz="3200" b="1" dirty="0">
                <a:solidFill>
                  <a:srgbClr val="2F3C7E"/>
                </a:solidFill>
              </a:defRPr>
            </a:lvl1pPr>
          </a:lstStyle>
          <a:p>
            <a:pPr algn="l" indent="0" marL="0">
              <a:buNone/>
            </a:pPr>
            <a:endParaRPr lang="en-US" sz="3200" dirty="0"/>
          </a:p>
        </p:txBody>
      </p:sp>
      <p:sp>
        <p:nvSpPr>
          <p:cNvPr id="3"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rgbClr val="6B7280"/>
                </a:solidFill>
              </a:rPr>
              <a:t>Motivația și rolul ei în activitatea umană</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4.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Facultate"/>
          <p:cNvSpPr txBox="1"/>
          <p:nvPr/>
        </p:nvSpPr>
        <p:spPr>
          <a:xfrm>
            <a:off x="731520" y="457200"/>
            <a:ext cx="10698480" cy="365760"/>
          </a:xfrm>
          <a:prstGeom prst="rect">
            <a:avLst/>
          </a:prstGeom>
          <a:noFill/>
          <a:ln/>
        </p:spPr>
        <p:txBody>
          <a:bodyPr wrap="square" lIns="0" tIns="0" rIns="0" bIns="0" rtlCol="0" anchor="ctr"/>
          <a:lstStyle/>
          <a:p>
            <a:pPr indent="0" marL="0">
              <a:buNone/>
            </a:pPr>
            <a:r>
              <a:rPr lang="en-US" sz="1200" dirty="0">
                <a:solidFill>
                  <a:srgbClr val="F9E795"/>
                </a:solidFill>
              </a:rPr>
              <a:t>Universitatea „Vasile Alecsandri” din Bacău  ·  Facultatea de Științe ale Mișcării, Sportului și Sănătății</a:t>
            </a:r>
            <a:endParaRPr lang="en-US" sz="1200" dirty="0"/>
          </a:p>
        </p:txBody>
      </p:sp>
      <p:sp>
        <p:nvSpPr>
          <p:cNvPr id="3" name="Text 0"/>
          <p:cNvSpPr/>
          <p:nvPr>
            <p:ph idx="100" type="title" hasCustomPrompt="1"/>
          </p:nvPr>
        </p:nvSpPr>
        <p:spPr>
          <a:xfrm>
            <a:off x="731520" y="1188720"/>
            <a:ext cx="10698480" cy="1737360"/>
          </a:xfrm>
          <a:prstGeom prst="rect">
            <a:avLst/>
          </a:prstGeom>
          <a:noFill/>
          <a:ln/>
        </p:spPr>
        <p:txBody>
          <a:bodyPr wrap="square" lIns="0" tIns="0" rIns="0" bIns="0" rtlCol="0" anchor="b"/>
          <a:lstStyle/>
          <a:p>
            <a:pPr algn="l" indent="0" marL="0">
              <a:buNone/>
            </a:pPr>
            <a:r>
              <a:rPr lang="en-US" sz="4000" b="1" dirty="0">
                <a:solidFill>
                  <a:srgbClr val="FFFFFF"/>
                </a:solidFill>
              </a:rPr>
              <a:t>Motivația și rolul ei în activitatea umană</a:t>
            </a:r>
            <a:endParaRPr lang="en-US" sz="4000" dirty="0"/>
          </a:p>
        </p:txBody>
      </p:sp>
      <p:sp>
        <p:nvSpPr>
          <p:cNvPr id="4" name="Text 0"/>
          <p:cNvSpPr/>
          <p:nvPr>
            <p:ph idx="101" type="body" hasCustomPrompt="1"/>
          </p:nvPr>
        </p:nvSpPr>
        <p:spPr>
          <a:xfrm>
            <a:off x="731520" y="3063240"/>
            <a:ext cx="10698480" cy="1280160"/>
          </a:xfrm>
          <a:prstGeom prst="rect">
            <a:avLst/>
          </a:prstGeom>
          <a:noFill/>
          <a:ln/>
        </p:spPr>
        <p:txBody>
          <a:bodyPr wrap="square" lIns="0" tIns="0" rIns="0" bIns="0" rtlCol="0" anchor="t"/>
          <a:lstStyle/>
          <a:p>
            <a:pPr algn="l" indent="0" marL="0">
              <a:buNone/>
            </a:pPr>
            <a:r>
              <a:rPr lang="en-US" sz="1600" dirty="0">
                <a:solidFill>
                  <a:srgbClr val="E8EAF3"/>
                </a:solidFill>
              </a:rPr>
              <a:t>Perspective de abordare a motivației, rolul structurii motivaționale a personalității în activitatea instructiv-educativă, tehnici motivaționale de predare</a:t>
            </a:r>
            <a:endParaRPr lang="en-US" sz="1600" dirty="0"/>
          </a:p>
        </p:txBody>
      </p:sp>
      <p:sp>
        <p:nvSpPr>
          <p:cNvPr id="5" name="Panou membri"/>
          <p:cNvSpPr/>
          <p:nvPr/>
        </p:nvSpPr>
        <p:spPr>
          <a:xfrm>
            <a:off x="731520" y="4572000"/>
            <a:ext cx="10698480" cy="1737360"/>
          </a:xfrm>
          <a:prstGeom prst="roundRect">
            <a:avLst>
              <a:gd name="adj" fmla="val 5263"/>
            </a:avLst>
          </a:prstGeom>
          <a:solidFill>
            <a:srgbClr val="FFFFFF">
              <a:alpha val="10000"/>
            </a:srgbClr>
          </a:solidFill>
          <a:ln w="9525">
            <a:solidFill>
              <a:srgbClr val="FFFFFF">
                <a:alpha val="30000"/>
              </a:srgbClr>
            </a:solidFill>
            <a:prstDash val="solid"/>
          </a:ln>
        </p:spPr>
      </p:sp>
      <p:sp>
        <p:nvSpPr>
          <p:cNvPr id="6" name="Eticheta membri"/>
          <p:cNvSpPr txBox="1"/>
          <p:nvPr/>
        </p:nvSpPr>
        <p:spPr>
          <a:xfrm>
            <a:off x="1005840" y="4663440"/>
            <a:ext cx="4572000" cy="365760"/>
          </a:xfrm>
          <a:prstGeom prst="rect">
            <a:avLst/>
          </a:prstGeom>
          <a:noFill/>
          <a:ln/>
        </p:spPr>
        <p:txBody>
          <a:bodyPr wrap="square" lIns="0" tIns="0" rIns="0" bIns="0" rtlCol="0" anchor="ctr"/>
          <a:lstStyle/>
          <a:p>
            <a:pPr indent="0" marL="0">
              <a:buNone/>
            </a:pPr>
            <a:r>
              <a:rPr lang="en-US" sz="1300" b="1" dirty="0">
                <a:solidFill>
                  <a:srgbClr val="F9E795"/>
                </a:solidFill>
              </a:rPr>
              <a:t>Membrii echipei</a:t>
            </a:r>
            <a:endParaRPr lang="en-US" sz="1300" dirty="0"/>
          </a:p>
        </p:txBody>
      </p:sp>
      <p:sp>
        <p:nvSpPr>
          <p:cNvPr id="7" name="Membru 1"/>
          <p:cNvSpPr txBox="1"/>
          <p:nvPr/>
        </p:nvSpPr>
        <p:spPr>
          <a:xfrm>
            <a:off x="1005840" y="5074920"/>
            <a:ext cx="5029200" cy="457200"/>
          </a:xfrm>
          <a:prstGeom prst="rect">
            <a:avLst/>
          </a:prstGeom>
          <a:noFill/>
          <a:ln/>
        </p:spPr>
        <p:txBody>
          <a:bodyPr wrap="square" lIns="0" tIns="0" rIns="0" bIns="0" rtlCol="0" anchor="ctr"/>
          <a:lstStyle/>
          <a:p>
            <a:pPr indent="0" marL="0">
              <a:buNone/>
            </a:pPr>
            <a:r>
              <a:rPr lang="en-US" sz="1500" dirty="0">
                <a:solidFill>
                  <a:srgbClr val="FFFFFF"/>
                </a:solidFill>
              </a:rPr>
              <a:t>Membru 1: ____________________</a:t>
            </a:r>
            <a:endParaRPr lang="en-US" sz="1500" dirty="0"/>
          </a:p>
        </p:txBody>
      </p:sp>
      <p:sp>
        <p:nvSpPr>
          <p:cNvPr id="8" name="Membru 2"/>
          <p:cNvSpPr txBox="1"/>
          <p:nvPr/>
        </p:nvSpPr>
        <p:spPr>
          <a:xfrm>
            <a:off x="6309360" y="5074920"/>
            <a:ext cx="5029200" cy="457200"/>
          </a:xfrm>
          <a:prstGeom prst="rect">
            <a:avLst/>
          </a:prstGeom>
          <a:noFill/>
          <a:ln/>
        </p:spPr>
        <p:txBody>
          <a:bodyPr wrap="square" lIns="0" tIns="0" rIns="0" bIns="0" rtlCol="0" anchor="ctr"/>
          <a:lstStyle/>
          <a:p>
            <a:pPr indent="0" marL="0">
              <a:buNone/>
            </a:pPr>
            <a:r>
              <a:rPr lang="en-US" sz="1500" dirty="0">
                <a:solidFill>
                  <a:srgbClr val="FFFFFF"/>
                </a:solidFill>
              </a:rPr>
              <a:t>Membru 2: ____________________</a:t>
            </a:r>
            <a:endParaRPr lang="en-US" sz="1500" dirty="0"/>
          </a:p>
        </p:txBody>
      </p:sp>
      <p:sp>
        <p:nvSpPr>
          <p:cNvPr id="9" name="Membru 3"/>
          <p:cNvSpPr txBox="1"/>
          <p:nvPr/>
        </p:nvSpPr>
        <p:spPr>
          <a:xfrm>
            <a:off x="1005840" y="5577840"/>
            <a:ext cx="5029200" cy="457200"/>
          </a:xfrm>
          <a:prstGeom prst="rect">
            <a:avLst/>
          </a:prstGeom>
          <a:noFill/>
          <a:ln/>
        </p:spPr>
        <p:txBody>
          <a:bodyPr wrap="square" lIns="0" tIns="0" rIns="0" bIns="0" rtlCol="0" anchor="ctr"/>
          <a:lstStyle/>
          <a:p>
            <a:pPr indent="0" marL="0">
              <a:buNone/>
            </a:pPr>
            <a:r>
              <a:rPr lang="en-US" sz="1500" dirty="0">
                <a:solidFill>
                  <a:srgbClr val="FFFFFF"/>
                </a:solidFill>
              </a:rPr>
              <a:t>Membru 3: ____________________</a:t>
            </a:r>
            <a:endParaRPr lang="en-US" sz="1500" dirty="0"/>
          </a:p>
        </p:txBody>
      </p:sp>
      <p:sp>
        <p:nvSpPr>
          <p:cNvPr id="10" name="Membru 4"/>
          <p:cNvSpPr txBox="1"/>
          <p:nvPr/>
        </p:nvSpPr>
        <p:spPr>
          <a:xfrm>
            <a:off x="6309360" y="5577840"/>
            <a:ext cx="5029200" cy="457200"/>
          </a:xfrm>
          <a:prstGeom prst="rect">
            <a:avLst/>
          </a:prstGeom>
          <a:noFill/>
          <a:ln/>
        </p:spPr>
        <p:txBody>
          <a:bodyPr wrap="square" lIns="0" tIns="0" rIns="0" bIns="0" rtlCol="0" anchor="ctr"/>
          <a:lstStyle/>
          <a:p>
            <a:pPr indent="0" marL="0">
              <a:buNone/>
            </a:pPr>
            <a:r>
              <a:rPr lang="en-US" sz="1500" dirty="0">
                <a:solidFill>
                  <a:srgbClr val="FFFFFF"/>
                </a:solidFill>
              </a:rPr>
              <a:t>Membru 4: ____________________</a:t>
            </a:r>
            <a:endParaRPr lang="en-US" sz="1500" dirty="0"/>
          </a:p>
        </p:txBody>
      </p:sp>
      <p:sp>
        <p:nvSpPr>
          <p:cNvPr id="11" name="Grupa"/>
          <p:cNvSpPr txBox="1"/>
          <p:nvPr/>
        </p:nvSpPr>
        <p:spPr>
          <a:xfrm>
            <a:off x="7772400" y="4663440"/>
            <a:ext cx="3657600" cy="365760"/>
          </a:xfrm>
          <a:prstGeom prst="rect">
            <a:avLst/>
          </a:prstGeom>
          <a:noFill/>
          <a:ln/>
        </p:spPr>
        <p:txBody>
          <a:bodyPr wrap="square" lIns="0" tIns="0" rIns="0" bIns="0" rtlCol="0" anchor="ctr"/>
          <a:lstStyle/>
          <a:p>
            <a:pPr algn="r" indent="0" marL="0">
              <a:buNone/>
            </a:pPr>
            <a:r>
              <a:rPr lang="en-US" sz="1200" dirty="0">
                <a:solidFill>
                  <a:srgbClr val="E8EAF3"/>
                </a:solidFill>
              </a:rPr>
              <a:t>Grupa 5104 SPM  ·  Pedagogie  ·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Structura prezentării</a:t>
            </a:r>
            <a:endParaRPr lang="en-US" sz="3200" dirty="0"/>
          </a:p>
        </p:txBody>
      </p:sp>
      <p:sp>
        <p:nvSpPr>
          <p:cNvPr id="3" name="Cerc 1"/>
          <p:cNvSpPr/>
          <p:nvPr/>
        </p:nvSpPr>
        <p:spPr>
          <a:xfrm>
            <a:off x="731520" y="1600200"/>
            <a:ext cx="640080" cy="640080"/>
          </a:xfrm>
          <a:prstGeom prst="ellipse">
            <a:avLst/>
          </a:prstGeom>
          <a:solidFill>
            <a:srgbClr val="2F3C7E"/>
          </a:solidFill>
          <a:ln w="12700">
            <a:solidFill>
              <a:srgbClr val="2F3C7E"/>
            </a:solidFill>
            <a:prstDash val="solid"/>
          </a:ln>
        </p:spPr>
      </p:sp>
      <p:sp>
        <p:nvSpPr>
          <p:cNvPr id="4" name="Numar 1"/>
          <p:cNvSpPr txBox="1"/>
          <p:nvPr/>
        </p:nvSpPr>
        <p:spPr>
          <a:xfrm>
            <a:off x="731520" y="16002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5" name="Titlu parte 1"/>
          <p:cNvSpPr txBox="1"/>
          <p:nvPr/>
        </p:nvSpPr>
        <p:spPr>
          <a:xfrm>
            <a:off x="1645920" y="1581912"/>
            <a:ext cx="7589520" cy="411480"/>
          </a:xfrm>
          <a:prstGeom prst="rect">
            <a:avLst/>
          </a:prstGeom>
          <a:noFill/>
          <a:ln/>
        </p:spPr>
        <p:txBody>
          <a:bodyPr wrap="square" lIns="0" tIns="0" rIns="0" bIns="0" rtlCol="0" anchor="ctr"/>
          <a:lstStyle/>
          <a:p>
            <a:pPr indent="0" marL="0">
              <a:buNone/>
            </a:pPr>
            <a:r>
              <a:rPr lang="en-US" sz="1800" b="1" dirty="0">
                <a:solidFill>
                  <a:srgbClr val="1F2A44"/>
                </a:solidFill>
              </a:rPr>
              <a:t>Ce este motivația și cum este structurată</a:t>
            </a:r>
            <a:endParaRPr lang="en-US" sz="1800" dirty="0"/>
          </a:p>
        </p:txBody>
      </p:sp>
      <p:sp>
        <p:nvSpPr>
          <p:cNvPr id="6" name="Cine parte 1"/>
          <p:cNvSpPr txBox="1"/>
          <p:nvPr/>
        </p:nvSpPr>
        <p:spPr>
          <a:xfrm>
            <a:off x="1645920" y="1965960"/>
            <a:ext cx="7589520" cy="274320"/>
          </a:xfrm>
          <a:prstGeom prst="rect">
            <a:avLst/>
          </a:prstGeom>
          <a:noFill/>
          <a:ln/>
        </p:spPr>
        <p:txBody>
          <a:bodyPr wrap="square" lIns="0" tIns="0" rIns="0" bIns="0" rtlCol="0" anchor="ctr"/>
          <a:lstStyle/>
          <a:p>
            <a:pPr indent="0" marL="0">
              <a:buNone/>
            </a:pPr>
            <a:r>
              <a:rPr lang="en-US" sz="1200" dirty="0">
                <a:solidFill>
                  <a:srgbClr val="6B7280"/>
                </a:solidFill>
              </a:rPr>
              <a:t>Membrul 1  ·  7-8 minute</a:t>
            </a:r>
            <a:endParaRPr lang="en-US" sz="1200" dirty="0"/>
          </a:p>
        </p:txBody>
      </p:sp>
      <p:sp>
        <p:nvSpPr>
          <p:cNvPr id="7" name="Cerc 2"/>
          <p:cNvSpPr/>
          <p:nvPr/>
        </p:nvSpPr>
        <p:spPr>
          <a:xfrm>
            <a:off x="731520" y="2514600"/>
            <a:ext cx="640080" cy="640080"/>
          </a:xfrm>
          <a:prstGeom prst="ellipse">
            <a:avLst/>
          </a:prstGeom>
          <a:solidFill>
            <a:srgbClr val="2F3C7E"/>
          </a:solidFill>
          <a:ln w="12700">
            <a:solidFill>
              <a:srgbClr val="2F3C7E"/>
            </a:solidFill>
            <a:prstDash val="solid"/>
          </a:ln>
        </p:spPr>
      </p:sp>
      <p:sp>
        <p:nvSpPr>
          <p:cNvPr id="8" name="Numar 2"/>
          <p:cNvSpPr txBox="1"/>
          <p:nvPr/>
        </p:nvSpPr>
        <p:spPr>
          <a:xfrm>
            <a:off x="731520" y="25146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9" name="Titlu parte 2"/>
          <p:cNvSpPr txBox="1"/>
          <p:nvPr/>
        </p:nvSpPr>
        <p:spPr>
          <a:xfrm>
            <a:off x="1645920" y="2496312"/>
            <a:ext cx="7589520" cy="411480"/>
          </a:xfrm>
          <a:prstGeom prst="rect">
            <a:avLst/>
          </a:prstGeom>
          <a:noFill/>
          <a:ln/>
        </p:spPr>
        <p:txBody>
          <a:bodyPr wrap="square" lIns="0" tIns="0" rIns="0" bIns="0" rtlCol="0" anchor="ctr"/>
          <a:lstStyle/>
          <a:p>
            <a:pPr indent="0" marL="0">
              <a:buNone/>
            </a:pPr>
            <a:r>
              <a:rPr lang="en-US" sz="1800" b="1" dirty="0">
                <a:solidFill>
                  <a:srgbClr val="1F2A44"/>
                </a:solidFill>
              </a:rPr>
              <a:t>Perspective de abordare a motivației</a:t>
            </a:r>
            <a:endParaRPr lang="en-US" sz="1800" dirty="0"/>
          </a:p>
        </p:txBody>
      </p:sp>
      <p:sp>
        <p:nvSpPr>
          <p:cNvPr id="10" name="Cine parte 2"/>
          <p:cNvSpPr txBox="1"/>
          <p:nvPr/>
        </p:nvSpPr>
        <p:spPr>
          <a:xfrm>
            <a:off x="1645920" y="2880360"/>
            <a:ext cx="7589520" cy="274320"/>
          </a:xfrm>
          <a:prstGeom prst="rect">
            <a:avLst/>
          </a:prstGeom>
          <a:noFill/>
          <a:ln/>
        </p:spPr>
        <p:txBody>
          <a:bodyPr wrap="square" lIns="0" tIns="0" rIns="0" bIns="0" rtlCol="0" anchor="ctr"/>
          <a:lstStyle/>
          <a:p>
            <a:pPr indent="0" marL="0">
              <a:buNone/>
            </a:pPr>
            <a:r>
              <a:rPr lang="en-US" sz="1200" dirty="0">
                <a:solidFill>
                  <a:srgbClr val="6B7280"/>
                </a:solidFill>
              </a:rPr>
              <a:t>Membrul 2  ·  7-8 minute</a:t>
            </a:r>
            <a:endParaRPr lang="en-US" sz="1200" dirty="0"/>
          </a:p>
        </p:txBody>
      </p:sp>
      <p:sp>
        <p:nvSpPr>
          <p:cNvPr id="11" name="Cerc 3"/>
          <p:cNvSpPr/>
          <p:nvPr/>
        </p:nvSpPr>
        <p:spPr>
          <a:xfrm>
            <a:off x="731520" y="3429000"/>
            <a:ext cx="640080" cy="640080"/>
          </a:xfrm>
          <a:prstGeom prst="ellipse">
            <a:avLst/>
          </a:prstGeom>
          <a:solidFill>
            <a:srgbClr val="2F3C7E"/>
          </a:solidFill>
          <a:ln w="12700">
            <a:solidFill>
              <a:srgbClr val="2F3C7E"/>
            </a:solidFill>
            <a:prstDash val="solid"/>
          </a:ln>
        </p:spPr>
      </p:sp>
      <p:sp>
        <p:nvSpPr>
          <p:cNvPr id="12" name="Numar 3"/>
          <p:cNvSpPr txBox="1"/>
          <p:nvPr/>
        </p:nvSpPr>
        <p:spPr>
          <a:xfrm>
            <a:off x="731520" y="34290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3" name="Titlu parte 3"/>
          <p:cNvSpPr txBox="1"/>
          <p:nvPr/>
        </p:nvSpPr>
        <p:spPr>
          <a:xfrm>
            <a:off x="1645920" y="3410712"/>
            <a:ext cx="7589520" cy="411480"/>
          </a:xfrm>
          <a:prstGeom prst="rect">
            <a:avLst/>
          </a:prstGeom>
          <a:noFill/>
          <a:ln/>
        </p:spPr>
        <p:txBody>
          <a:bodyPr wrap="square" lIns="0" tIns="0" rIns="0" bIns="0" rtlCol="0" anchor="ctr"/>
          <a:lstStyle/>
          <a:p>
            <a:pPr indent="0" marL="0">
              <a:buNone/>
            </a:pPr>
            <a:r>
              <a:rPr lang="en-US" sz="1800" b="1" dirty="0">
                <a:solidFill>
                  <a:srgbClr val="1F2A44"/>
                </a:solidFill>
              </a:rPr>
              <a:t>Rolul structurii motivaționale în activitatea instructiv-educativă</a:t>
            </a:r>
            <a:endParaRPr lang="en-US" sz="1800" dirty="0"/>
          </a:p>
        </p:txBody>
      </p:sp>
      <p:sp>
        <p:nvSpPr>
          <p:cNvPr id="14" name="Cine parte 3"/>
          <p:cNvSpPr txBox="1"/>
          <p:nvPr/>
        </p:nvSpPr>
        <p:spPr>
          <a:xfrm>
            <a:off x="1645920" y="3794760"/>
            <a:ext cx="7589520" cy="274320"/>
          </a:xfrm>
          <a:prstGeom prst="rect">
            <a:avLst/>
          </a:prstGeom>
          <a:noFill/>
          <a:ln/>
        </p:spPr>
        <p:txBody>
          <a:bodyPr wrap="square" lIns="0" tIns="0" rIns="0" bIns="0" rtlCol="0" anchor="ctr"/>
          <a:lstStyle/>
          <a:p>
            <a:pPr indent="0" marL="0">
              <a:buNone/>
            </a:pPr>
            <a:r>
              <a:rPr lang="en-US" sz="1200" dirty="0">
                <a:solidFill>
                  <a:srgbClr val="6B7280"/>
                </a:solidFill>
              </a:rPr>
              <a:t>Membrul 3  ·  7-8 minute</a:t>
            </a:r>
            <a:endParaRPr lang="en-US" sz="1200" dirty="0"/>
          </a:p>
        </p:txBody>
      </p:sp>
      <p:sp>
        <p:nvSpPr>
          <p:cNvPr id="15" name="Cerc 4"/>
          <p:cNvSpPr/>
          <p:nvPr/>
        </p:nvSpPr>
        <p:spPr>
          <a:xfrm>
            <a:off x="731520" y="4343400"/>
            <a:ext cx="640080" cy="640080"/>
          </a:xfrm>
          <a:prstGeom prst="ellipse">
            <a:avLst/>
          </a:prstGeom>
          <a:solidFill>
            <a:srgbClr val="2F3C7E"/>
          </a:solidFill>
          <a:ln w="12700">
            <a:solidFill>
              <a:srgbClr val="2F3C7E"/>
            </a:solidFill>
            <a:prstDash val="solid"/>
          </a:ln>
        </p:spPr>
      </p:sp>
      <p:sp>
        <p:nvSpPr>
          <p:cNvPr id="16" name="Numar 4"/>
          <p:cNvSpPr txBox="1"/>
          <p:nvPr/>
        </p:nvSpPr>
        <p:spPr>
          <a:xfrm>
            <a:off x="731520" y="43434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17" name="Titlu parte 4"/>
          <p:cNvSpPr txBox="1"/>
          <p:nvPr/>
        </p:nvSpPr>
        <p:spPr>
          <a:xfrm>
            <a:off x="1645920" y="4325112"/>
            <a:ext cx="7589520" cy="411480"/>
          </a:xfrm>
          <a:prstGeom prst="rect">
            <a:avLst/>
          </a:prstGeom>
          <a:noFill/>
          <a:ln/>
        </p:spPr>
        <p:txBody>
          <a:bodyPr wrap="square" lIns="0" tIns="0" rIns="0" bIns="0" rtlCol="0" anchor="ctr"/>
          <a:lstStyle/>
          <a:p>
            <a:pPr indent="0" marL="0">
              <a:buNone/>
            </a:pPr>
            <a:r>
              <a:rPr lang="en-US" sz="1800" b="1" dirty="0">
                <a:solidFill>
                  <a:srgbClr val="1F2A44"/>
                </a:solidFill>
              </a:rPr>
              <a:t>Tehnici motivaționale de predare</a:t>
            </a:r>
            <a:endParaRPr lang="en-US" sz="1800" dirty="0"/>
          </a:p>
        </p:txBody>
      </p:sp>
      <p:sp>
        <p:nvSpPr>
          <p:cNvPr id="18" name="Cine parte 4"/>
          <p:cNvSpPr txBox="1"/>
          <p:nvPr/>
        </p:nvSpPr>
        <p:spPr>
          <a:xfrm>
            <a:off x="1645920" y="4709160"/>
            <a:ext cx="7589520" cy="274320"/>
          </a:xfrm>
          <a:prstGeom prst="rect">
            <a:avLst/>
          </a:prstGeom>
          <a:noFill/>
          <a:ln/>
        </p:spPr>
        <p:txBody>
          <a:bodyPr wrap="square" lIns="0" tIns="0" rIns="0" bIns="0" rtlCol="0" anchor="ctr"/>
          <a:lstStyle/>
          <a:p>
            <a:pPr indent="0" marL="0">
              <a:buNone/>
            </a:pPr>
            <a:r>
              <a:rPr lang="en-US" sz="1200" dirty="0">
                <a:solidFill>
                  <a:srgbClr val="6B7280"/>
                </a:solidFill>
              </a:rPr>
              <a:t>Membrul 4  ·  7-8 minute</a:t>
            </a:r>
            <a:endParaRPr lang="en-US" sz="1200" dirty="0"/>
          </a:p>
        </p:txBody>
      </p:sp>
      <p:sp>
        <p:nvSpPr>
          <p:cNvPr id="19" name="Cerc 5"/>
          <p:cNvSpPr/>
          <p:nvPr/>
        </p:nvSpPr>
        <p:spPr>
          <a:xfrm>
            <a:off x="731520" y="5257800"/>
            <a:ext cx="640080" cy="640080"/>
          </a:xfrm>
          <a:prstGeom prst="ellipse">
            <a:avLst/>
          </a:prstGeom>
          <a:solidFill>
            <a:srgbClr val="F96167"/>
          </a:solidFill>
          <a:ln w="12700">
            <a:solidFill>
              <a:srgbClr val="F96167"/>
            </a:solidFill>
            <a:prstDash val="solid"/>
          </a:ln>
        </p:spPr>
      </p:sp>
      <p:sp>
        <p:nvSpPr>
          <p:cNvPr id="20" name="Numar 5"/>
          <p:cNvSpPr txBox="1"/>
          <p:nvPr/>
        </p:nvSpPr>
        <p:spPr>
          <a:xfrm>
            <a:off x="731520" y="5257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21" name="Titlu parte 5"/>
          <p:cNvSpPr txBox="1"/>
          <p:nvPr/>
        </p:nvSpPr>
        <p:spPr>
          <a:xfrm>
            <a:off x="1645920" y="5239512"/>
            <a:ext cx="7589520" cy="411480"/>
          </a:xfrm>
          <a:prstGeom prst="rect">
            <a:avLst/>
          </a:prstGeom>
          <a:noFill/>
          <a:ln/>
        </p:spPr>
        <p:txBody>
          <a:bodyPr wrap="square" lIns="0" tIns="0" rIns="0" bIns="0" rtlCol="0" anchor="ctr"/>
          <a:lstStyle/>
          <a:p>
            <a:pPr indent="0" marL="0">
              <a:buNone/>
            </a:pPr>
            <a:r>
              <a:rPr lang="en-US" sz="1800" b="1" dirty="0">
                <a:solidFill>
                  <a:srgbClr val="1F2A44"/>
                </a:solidFill>
              </a:rPr>
              <a:t>Cursa motivației</a:t>
            </a:r>
            <a:endParaRPr lang="en-US" sz="1800" dirty="0"/>
          </a:p>
        </p:txBody>
      </p:sp>
      <p:sp>
        <p:nvSpPr>
          <p:cNvPr id="22" name="Cine parte 5"/>
          <p:cNvSpPr txBox="1"/>
          <p:nvPr/>
        </p:nvSpPr>
        <p:spPr>
          <a:xfrm>
            <a:off x="1645920" y="5623560"/>
            <a:ext cx="7589520" cy="274320"/>
          </a:xfrm>
          <a:prstGeom prst="rect">
            <a:avLst/>
          </a:prstGeom>
          <a:noFill/>
          <a:ln/>
        </p:spPr>
        <p:txBody>
          <a:bodyPr wrap="square" lIns="0" tIns="0" rIns="0" bIns="0" rtlCol="0" anchor="ctr"/>
          <a:lstStyle/>
          <a:p>
            <a:pPr indent="0" marL="0">
              <a:buNone/>
            </a:pPr>
            <a:r>
              <a:rPr lang="en-US" sz="1200" dirty="0">
                <a:solidFill>
                  <a:srgbClr val="6B7280"/>
                </a:solidFill>
              </a:rPr>
              <a:t>Toată echipa  ·  10-15 minute</a:t>
            </a:r>
            <a:endParaRPr lang="en-US" sz="1200" dirty="0"/>
          </a:p>
        </p:txBody>
      </p:sp>
      <p:sp>
        <p:nvSpPr>
          <p:cNvPr id="23" name="Panou durata"/>
          <p:cNvSpPr/>
          <p:nvPr/>
        </p:nvSpPr>
        <p:spPr>
          <a:xfrm>
            <a:off x="9601200" y="1600200"/>
            <a:ext cx="1920240" cy="4297680"/>
          </a:xfrm>
          <a:prstGeom prst="roundRect">
            <a:avLst>
              <a:gd name="adj" fmla="val 5714"/>
            </a:avLst>
          </a:prstGeom>
          <a:solidFill>
            <a:srgbClr val="F3F4F8"/>
          </a:solidFill>
          <a:ln w="12700">
            <a:solidFill>
              <a:srgbClr val="F3F4F8"/>
            </a:solidFill>
            <a:prstDash val="solid"/>
          </a:ln>
        </p:spPr>
      </p:sp>
      <p:sp>
        <p:nvSpPr>
          <p:cNvPr id="24" name="Minute mare"/>
          <p:cNvSpPr txBox="1"/>
          <p:nvPr/>
        </p:nvSpPr>
        <p:spPr>
          <a:xfrm>
            <a:off x="9601200" y="2103120"/>
            <a:ext cx="1920240" cy="914400"/>
          </a:xfrm>
          <a:prstGeom prst="rect">
            <a:avLst/>
          </a:prstGeom>
          <a:noFill/>
          <a:ln/>
        </p:spPr>
        <p:txBody>
          <a:bodyPr wrap="square" lIns="0" tIns="0" rIns="0" bIns="0" rtlCol="0" anchor="ctr"/>
          <a:lstStyle/>
          <a:p>
            <a:pPr algn="ctr" indent="0" marL="0">
              <a:buNone/>
            </a:pPr>
            <a:r>
              <a:rPr lang="en-US" sz="4400" b="1" dirty="0">
                <a:solidFill>
                  <a:srgbClr val="F96167"/>
                </a:solidFill>
              </a:rPr>
              <a:t>35+</a:t>
            </a:r>
            <a:endParaRPr lang="en-US" sz="4400" dirty="0"/>
          </a:p>
        </p:txBody>
      </p:sp>
      <p:sp>
        <p:nvSpPr>
          <p:cNvPr id="25" name="Minute text"/>
          <p:cNvSpPr txBox="1"/>
          <p:nvPr/>
        </p:nvSpPr>
        <p:spPr>
          <a:xfrm>
            <a:off x="9601200" y="3017520"/>
            <a:ext cx="1920240" cy="365760"/>
          </a:xfrm>
          <a:prstGeom prst="rect">
            <a:avLst/>
          </a:prstGeom>
          <a:noFill/>
          <a:ln/>
        </p:spPr>
        <p:txBody>
          <a:bodyPr wrap="square" lIns="0" tIns="0" rIns="0" bIns="0" rtlCol="0" anchor="ctr"/>
          <a:lstStyle/>
          <a:p>
            <a:pPr algn="ctr" indent="0" marL="0">
              <a:buNone/>
            </a:pPr>
            <a:r>
              <a:rPr lang="en-US" sz="1200" dirty="0">
                <a:solidFill>
                  <a:srgbClr val="6B7280"/>
                </a:solidFill>
              </a:rPr>
              <a:t>minute în total</a:t>
            </a:r>
            <a:endParaRPr lang="en-US" sz="1200" dirty="0"/>
          </a:p>
        </p:txBody>
      </p:sp>
      <p:sp>
        <p:nvSpPr>
          <p:cNvPr id="26" name="Minute detalii"/>
          <p:cNvSpPr txBox="1"/>
          <p:nvPr/>
        </p:nvSpPr>
        <p:spPr>
          <a:xfrm>
            <a:off x="9784080" y="3657600"/>
            <a:ext cx="1554480" cy="1463040"/>
          </a:xfrm>
          <a:prstGeom prst="rect">
            <a:avLst/>
          </a:prstGeom>
          <a:noFill/>
          <a:ln/>
        </p:spPr>
        <p:txBody>
          <a:bodyPr wrap="square" lIns="0" tIns="0" rIns="0" bIns="0" rtlCol="0" anchor="ctr"/>
          <a:lstStyle/>
          <a:p>
            <a:pPr algn="ctr" indent="0" marL="0">
              <a:buNone/>
            </a:pPr>
            <a:r>
              <a:rPr lang="en-US" sz="1100" dirty="0">
                <a:solidFill>
                  <a:srgbClr val="1F2A44"/>
                </a:solidFill>
              </a:rPr>
              <a:t>4 părți teoretice</a:t>
            </a:r>
            <a:endParaRPr lang="en-US" sz="1100" dirty="0"/>
          </a:p>
          <a:p>
            <a:pPr algn="ctr" indent="0" marL="0">
              <a:buNone/>
            </a:pPr>
            <a:r>
              <a:rPr lang="en-US" sz="1100" dirty="0">
                <a:solidFill>
                  <a:srgbClr val="1F2A44"/>
                </a:solidFill>
              </a:rPr>
              <a:t>+ o activitate practică</a:t>
            </a:r>
            <a:endParaRPr lang="en-US" sz="1100" dirty="0"/>
          </a:p>
          <a:p>
            <a:pPr algn="ctr" indent="0" marL="0">
              <a:buNone/>
            </a:pPr>
            <a:r>
              <a:rPr lang="en-US" sz="1100" dirty="0">
                <a:solidFill>
                  <a:srgbClr val="1F2A44"/>
                </a:solidFill>
              </a:rPr>
              <a:t>+ bibliografie</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ticheta parte"/>
          <p:cNvSpPr txBox="1"/>
          <p:nvPr/>
        </p:nvSpPr>
        <p:spPr>
          <a:xfrm>
            <a:off x="731520" y="1463040"/>
            <a:ext cx="5486400" cy="457200"/>
          </a:xfrm>
          <a:prstGeom prst="rect">
            <a:avLst/>
          </a:prstGeom>
          <a:noFill/>
          <a:ln/>
        </p:spPr>
        <p:txBody>
          <a:bodyPr wrap="square" lIns="0" tIns="0" rIns="0" bIns="0" rtlCol="0" anchor="ctr"/>
          <a:lstStyle/>
          <a:p>
            <a:pPr indent="0" marL="0">
              <a:buNone/>
            </a:pPr>
            <a:r>
              <a:rPr lang="en-US" sz="1600" b="1" spc="400" kern="0" dirty="0">
                <a:solidFill>
                  <a:srgbClr val="F9E795"/>
                </a:solidFill>
              </a:rPr>
              <a:t>PARTEA 1</a:t>
            </a:r>
            <a:endParaRPr lang="en-US" sz="1600" dirty="0"/>
          </a:p>
        </p:txBody>
      </p:sp>
      <p:sp>
        <p:nvSpPr>
          <p:cNvPr id="3" name="Numar mare"/>
          <p:cNvSpPr txBox="1"/>
          <p:nvPr/>
        </p:nvSpPr>
        <p:spPr>
          <a:xfrm>
            <a:off x="8503920" y="1097280"/>
            <a:ext cx="2926080" cy="3291840"/>
          </a:xfrm>
          <a:prstGeom prst="rect">
            <a:avLst/>
          </a:prstGeom>
          <a:noFill/>
          <a:ln/>
        </p:spPr>
        <p:txBody>
          <a:bodyPr wrap="square" lIns="0" tIns="0" rIns="0" bIns="0" rtlCol="0" anchor="ctr"/>
          <a:lstStyle/>
          <a:p>
            <a:pPr algn="r" indent="0" marL="0">
              <a:buNone/>
            </a:pPr>
            <a:r>
              <a:rPr lang="en-US" sz="20000" b="1" dirty="0">
                <a:solidFill>
                  <a:srgbClr val="FFFFFF">
                    <a:alpha val="15000"/>
                  </a:srgbClr>
                </a:solidFill>
              </a:rPr>
              <a:t>1</a:t>
            </a:r>
            <a:endParaRPr lang="en-US" sz="20000" dirty="0"/>
          </a:p>
        </p:txBody>
      </p:sp>
      <p:sp>
        <p:nvSpPr>
          <p:cNvPr id="4" name="Text 0"/>
          <p:cNvSpPr/>
          <p:nvPr>
            <p:ph idx="100" type="title" hasCustomPrompt="1"/>
          </p:nvPr>
        </p:nvSpPr>
        <p:spPr>
          <a:xfrm>
            <a:off x="731520" y="2377440"/>
            <a:ext cx="10698480" cy="1463040"/>
          </a:xfrm>
          <a:prstGeom prst="rect">
            <a:avLst/>
          </a:prstGeom>
          <a:noFill/>
          <a:ln/>
        </p:spPr>
        <p:txBody>
          <a:bodyPr wrap="square" lIns="0" tIns="0" rIns="0" bIns="0" rtlCol="0" anchor="ctr"/>
          <a:lstStyle/>
          <a:p>
            <a:pPr algn="l" indent="0" marL="0">
              <a:buNone/>
            </a:pPr>
            <a:r>
              <a:rPr lang="en-US" sz="3800" b="1" dirty="0">
                <a:solidFill>
                  <a:srgbClr val="FFFFFF"/>
                </a:solidFill>
              </a:rPr>
              <a:t>Ce este motivația și cum este structurată</a:t>
            </a:r>
            <a:endParaRPr lang="en-US" sz="3800" dirty="0"/>
          </a:p>
        </p:txBody>
      </p:sp>
      <p:sp>
        <p:nvSpPr>
          <p:cNvPr id="5" name="Text 0"/>
          <p:cNvSpPr/>
          <p:nvPr>
            <p:ph idx="101" type="body" hasCustomPrompt="1"/>
          </p:nvPr>
        </p:nvSpPr>
        <p:spPr>
          <a:xfrm>
            <a:off x="731520" y="3931920"/>
            <a:ext cx="10698480" cy="822960"/>
          </a:xfrm>
          <a:prstGeom prst="rect">
            <a:avLst/>
          </a:prstGeom>
          <a:noFill/>
          <a:ln/>
        </p:spPr>
        <p:txBody>
          <a:bodyPr wrap="square" lIns="0" tIns="0" rIns="0" bIns="0" rtlCol="0" anchor="t"/>
          <a:lstStyle/>
          <a:p>
            <a:pPr algn="l" indent="0" marL="0">
              <a:buNone/>
            </a:pPr>
            <a:r>
              <a:rPr lang="en-US" sz="1800" dirty="0">
                <a:solidFill>
                  <a:srgbClr val="F9E795"/>
                </a:solidFill>
              </a:rPr>
              <a:t>Membrul 1  ·  7-8 minute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Ce înseamnă motivația</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Ansamblul factorilor interni care declanșează, orientează și mențin comportamentul</a:t>
            </a:r>
            <a:endParaRPr lang="en-US" sz="1600" dirty="0"/>
          </a:p>
          <a:p>
            <a:pPr marL="228600" indent="-228600">
              <a:spcAft>
                <a:spcPts val="1000"/>
              </a:spcAft>
              <a:buSzPct val="100000"/>
              <a:buChar char="•"/>
            </a:pPr>
            <a:r>
              <a:rPr lang="en-US" sz="1600" dirty="0">
                <a:solidFill>
                  <a:srgbClr val="1F2A44"/>
                </a:solidFill>
              </a:rPr>
              <a:t>Răspunde la întrebarea „de ce” facem ceva, nu „cum” facem</a:t>
            </a:r>
            <a:endParaRPr lang="en-US" sz="1600" dirty="0"/>
          </a:p>
          <a:p>
            <a:pPr marL="228600" indent="-228600">
              <a:spcAft>
                <a:spcPts val="1000"/>
              </a:spcAft>
              <a:buSzPct val="100000"/>
              <a:buChar char="•"/>
            </a:pPr>
            <a:r>
              <a:rPr lang="en-US" sz="1600" dirty="0">
                <a:solidFill>
                  <a:srgbClr val="1F2A44"/>
                </a:solidFill>
              </a:rPr>
              <a:t>Nu se vede direct: o deducem din efort, perseverență, alegeri</a:t>
            </a:r>
            <a:endParaRPr lang="en-US" sz="1600" dirty="0"/>
          </a:p>
          <a:p>
            <a:pPr marL="228600" indent="-228600">
              <a:spcAft>
                <a:spcPts val="1000"/>
              </a:spcAft>
              <a:buSzPct val="100000"/>
              <a:buChar char="•"/>
            </a:pPr>
            <a:r>
              <a:rPr lang="en-US" sz="1600" dirty="0">
                <a:solidFill>
                  <a:srgbClr val="1F2A44"/>
                </a:solidFill>
              </a:rPr>
              <a:t>Fără motivație, capacitatea rămâne nefolosită</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pic>
        <p:nvPicPr>
          <p:cNvPr id="5" name="Icon fulger" descr="preencoded.png">    </p:cNvPr>
          <p:cNvPicPr>
            <a:picLocks noChangeAspect="1"/>
          </p:cNvPicPr>
          <p:nvPr/>
        </p:nvPicPr>
        <p:blipFill>
          <a:blip r:embed="rId1"/>
          <a:stretch>
            <a:fillRect/>
          </a:stretch>
        </p:blipFill>
        <p:spPr>
          <a:xfrm>
            <a:off x="8732520" y="2103120"/>
            <a:ext cx="1371600" cy="1371600"/>
          </a:xfrm>
          <a:prstGeom prst="rect">
            <a:avLst/>
          </a:prstGeom>
        </p:spPr>
      </p:pic>
      <p:sp>
        <p:nvSpPr>
          <p:cNvPr id="6" name="Eticheta declanșează"/>
          <p:cNvSpPr txBox="1"/>
          <p:nvPr/>
        </p:nvSpPr>
        <p:spPr>
          <a:xfrm>
            <a:off x="7589520" y="3749040"/>
            <a:ext cx="3657600" cy="457200"/>
          </a:xfrm>
          <a:prstGeom prst="rect">
            <a:avLst/>
          </a:prstGeom>
          <a:noFill/>
          <a:ln/>
        </p:spPr>
        <p:txBody>
          <a:bodyPr wrap="square" lIns="254" tIns="254" rIns="254" bIns="254" rtlCol="0" anchor="ctr"/>
          <a:lstStyle/>
          <a:p>
            <a:pPr algn="ctr" indent="0" marL="0">
              <a:buNone/>
            </a:pPr>
            <a:r>
              <a:rPr lang="en-US" sz="1800" b="1" dirty="0">
                <a:solidFill>
                  <a:srgbClr val="2F3C7E"/>
                </a:solidFill>
              </a:rPr>
              <a:t>declanșează</a:t>
            </a:r>
            <a:endParaRPr lang="en-US" sz="1800" dirty="0"/>
          </a:p>
        </p:txBody>
      </p:sp>
      <p:sp>
        <p:nvSpPr>
          <p:cNvPr id="7" name="Eticheta orientează"/>
          <p:cNvSpPr txBox="1"/>
          <p:nvPr/>
        </p:nvSpPr>
        <p:spPr>
          <a:xfrm>
            <a:off x="7589520" y="4297680"/>
            <a:ext cx="3657600" cy="457200"/>
          </a:xfrm>
          <a:prstGeom prst="rect">
            <a:avLst/>
          </a:prstGeom>
          <a:noFill/>
          <a:ln/>
        </p:spPr>
        <p:txBody>
          <a:bodyPr wrap="square" lIns="254" tIns="254" rIns="254" bIns="254" rtlCol="0" anchor="ctr"/>
          <a:lstStyle/>
          <a:p>
            <a:pPr algn="ctr" indent="0" marL="0">
              <a:buNone/>
            </a:pPr>
            <a:r>
              <a:rPr lang="en-US" sz="1800" b="1" dirty="0">
                <a:solidFill>
                  <a:srgbClr val="2F3C7E"/>
                </a:solidFill>
              </a:rPr>
              <a:t>orientează</a:t>
            </a:r>
            <a:endParaRPr lang="en-US" sz="1800" dirty="0"/>
          </a:p>
        </p:txBody>
      </p:sp>
      <p:sp>
        <p:nvSpPr>
          <p:cNvPr id="8" name="Eticheta menține"/>
          <p:cNvSpPr txBox="1"/>
          <p:nvPr/>
        </p:nvSpPr>
        <p:spPr>
          <a:xfrm>
            <a:off x="7589520" y="4846320"/>
            <a:ext cx="3657600" cy="457200"/>
          </a:xfrm>
          <a:prstGeom prst="rect">
            <a:avLst/>
          </a:prstGeom>
          <a:noFill/>
          <a:ln/>
        </p:spPr>
        <p:txBody>
          <a:bodyPr wrap="square" lIns="254" tIns="254" rIns="254" bIns="254" rtlCol="0" anchor="ctr"/>
          <a:lstStyle/>
          <a:p>
            <a:pPr algn="ctr" indent="0" marL="0">
              <a:buNone/>
            </a:pPr>
            <a:r>
              <a:rPr lang="en-US" sz="1800" b="1" dirty="0">
                <a:solidFill>
                  <a:srgbClr val="2F3C7E"/>
                </a:solidFill>
              </a:rPr>
              <a:t>menține</a:t>
            </a:r>
            <a:endParaRPr lang="en-US" sz="1800" dirty="0"/>
          </a:p>
        </p:txBody>
      </p:sp>
      <p:sp>
        <p:nvSpPr>
          <p:cNvPr id="9" name="Eticheta comportamentul"/>
          <p:cNvSpPr txBox="1"/>
          <p:nvPr/>
        </p:nvSpPr>
        <p:spPr>
          <a:xfrm>
            <a:off x="7589520" y="5394960"/>
            <a:ext cx="3657600" cy="365760"/>
          </a:xfrm>
          <a:prstGeom prst="rect">
            <a:avLst/>
          </a:prstGeom>
          <a:noFill/>
          <a:ln/>
        </p:spPr>
        <p:txBody>
          <a:bodyPr wrap="square" lIns="254" tIns="254" rIns="254" bIns="254" rtlCol="0" anchor="ctr"/>
          <a:lstStyle/>
          <a:p>
            <a:pPr algn="ctr" indent="0" marL="0">
              <a:buNone/>
            </a:pPr>
            <a:r>
              <a:rPr lang="en-US" sz="1200" dirty="0">
                <a:solidFill>
                  <a:srgbClr val="6B7280"/>
                </a:solidFill>
              </a:rPr>
              <a:t>comportamentul</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Structura motivațională a personalității</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Trebuințe: lipsa a ceva, resimțită ca tensiune (apă, mișcare, apartenență)</a:t>
            </a:r>
            <a:endParaRPr lang="en-US" sz="1600" dirty="0"/>
          </a:p>
          <a:p>
            <a:pPr marL="228600" indent="-228600">
              <a:spcAft>
                <a:spcPts val="1000"/>
              </a:spcAft>
              <a:buSzPct val="100000"/>
              <a:buChar char="•"/>
            </a:pPr>
            <a:r>
              <a:rPr lang="en-US" sz="1600" dirty="0">
                <a:solidFill>
                  <a:srgbClr val="1F2A44"/>
                </a:solidFill>
              </a:rPr>
              <a:t>Motive: trebuința devenită conștientă, care împinge spre acțiune</a:t>
            </a:r>
            <a:endParaRPr lang="en-US" sz="1600" dirty="0"/>
          </a:p>
          <a:p>
            <a:pPr marL="228600" indent="-228600">
              <a:spcAft>
                <a:spcPts val="1000"/>
              </a:spcAft>
              <a:buSzPct val="100000"/>
              <a:buChar char="•"/>
            </a:pPr>
            <a:r>
              <a:rPr lang="en-US" sz="1600" dirty="0">
                <a:solidFill>
                  <a:srgbClr val="1F2A44"/>
                </a:solidFill>
              </a:rPr>
              <a:t>Interese: orientări stabile spre un domeniu (sportul, muzica)</a:t>
            </a:r>
            <a:endParaRPr lang="en-US" sz="1600" dirty="0"/>
          </a:p>
          <a:p>
            <a:pPr marL="228600" indent="-228600">
              <a:spcAft>
                <a:spcPts val="1000"/>
              </a:spcAft>
              <a:buSzPct val="100000"/>
              <a:buChar char="•"/>
            </a:pPr>
            <a:r>
              <a:rPr lang="en-US" sz="1600" dirty="0">
                <a:solidFill>
                  <a:srgbClr val="1F2A44"/>
                </a:solidFill>
              </a:rPr>
              <a:t>Convingeri: idei cu încărcătură afectivă, pe care le apărăm</a:t>
            </a:r>
            <a:endParaRPr lang="en-US" sz="1600" dirty="0"/>
          </a:p>
          <a:p>
            <a:pPr marL="228600" indent="-228600">
              <a:spcAft>
                <a:spcPts val="1000"/>
              </a:spcAft>
              <a:buSzPct val="100000"/>
              <a:buChar char="•"/>
            </a:pPr>
            <a:r>
              <a:rPr lang="en-US" sz="1600" dirty="0">
                <a:solidFill>
                  <a:srgbClr val="1F2A44"/>
                </a:solidFill>
              </a:rPr>
              <a:t>Idealuri și aspirații: modelul de viață spre care tindem</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Treapta Trebuințe"/>
          <p:cNvSpPr/>
          <p:nvPr/>
        </p:nvSpPr>
        <p:spPr>
          <a:xfrm>
            <a:off x="7680960" y="5047488"/>
            <a:ext cx="1463040" cy="621792"/>
          </a:xfrm>
          <a:prstGeom prst="rect">
            <a:avLst/>
          </a:prstGeom>
          <a:solidFill>
            <a:srgbClr val="2F3C7E">
              <a:alpha val="40000"/>
            </a:srgbClr>
          </a:solidFill>
          <a:ln w="12700">
            <a:solidFill>
              <a:srgbClr val="FFFFFF"/>
            </a:solidFill>
            <a:prstDash val="solid"/>
          </a:ln>
        </p:spPr>
      </p:sp>
      <p:sp>
        <p:nvSpPr>
          <p:cNvPr id="6" name="Eticheta Trebuințe"/>
          <p:cNvSpPr txBox="1"/>
          <p:nvPr/>
        </p:nvSpPr>
        <p:spPr>
          <a:xfrm>
            <a:off x="7680960" y="5047488"/>
            <a:ext cx="1463040" cy="621792"/>
          </a:xfrm>
          <a:prstGeom prst="rect">
            <a:avLst/>
          </a:prstGeom>
          <a:noFill/>
          <a:ln/>
        </p:spPr>
        <p:txBody>
          <a:bodyPr wrap="square" lIns="1270" tIns="1270" rIns="1270" bIns="1270" rtlCol="0" anchor="ctr"/>
          <a:lstStyle/>
          <a:p>
            <a:pPr algn="l" indent="0" marL="0">
              <a:buNone/>
            </a:pPr>
            <a:r>
              <a:rPr lang="en-US" sz="1200" b="1" dirty="0">
                <a:solidFill>
                  <a:srgbClr val="1F2A44"/>
                </a:solidFill>
              </a:rPr>
              <a:t>Trebuințe</a:t>
            </a:r>
            <a:endParaRPr lang="en-US" sz="1200" dirty="0"/>
          </a:p>
        </p:txBody>
      </p:sp>
      <p:sp>
        <p:nvSpPr>
          <p:cNvPr id="7" name="Treapta Motive"/>
          <p:cNvSpPr/>
          <p:nvPr/>
        </p:nvSpPr>
        <p:spPr>
          <a:xfrm>
            <a:off x="7680960" y="4334256"/>
            <a:ext cx="2011680" cy="621792"/>
          </a:xfrm>
          <a:prstGeom prst="rect">
            <a:avLst/>
          </a:prstGeom>
          <a:solidFill>
            <a:srgbClr val="2F3C7E">
              <a:alpha val="52000"/>
            </a:srgbClr>
          </a:solidFill>
          <a:ln w="12700">
            <a:solidFill>
              <a:srgbClr val="FFFFFF"/>
            </a:solidFill>
            <a:prstDash val="solid"/>
          </a:ln>
        </p:spPr>
      </p:sp>
      <p:sp>
        <p:nvSpPr>
          <p:cNvPr id="8" name="Eticheta Motive"/>
          <p:cNvSpPr txBox="1"/>
          <p:nvPr/>
        </p:nvSpPr>
        <p:spPr>
          <a:xfrm>
            <a:off x="7680960" y="4334256"/>
            <a:ext cx="2011680" cy="621792"/>
          </a:xfrm>
          <a:prstGeom prst="rect">
            <a:avLst/>
          </a:prstGeom>
          <a:noFill/>
          <a:ln/>
        </p:spPr>
        <p:txBody>
          <a:bodyPr wrap="square" lIns="1270" tIns="1270" rIns="1270" bIns="1270" rtlCol="0" anchor="ctr"/>
          <a:lstStyle/>
          <a:p>
            <a:pPr algn="l" indent="0" marL="0">
              <a:buNone/>
            </a:pPr>
            <a:r>
              <a:rPr lang="en-US" sz="1200" b="1" dirty="0">
                <a:solidFill>
                  <a:srgbClr val="1F2A44"/>
                </a:solidFill>
              </a:rPr>
              <a:t>Motive</a:t>
            </a:r>
            <a:endParaRPr lang="en-US" sz="1200" dirty="0"/>
          </a:p>
        </p:txBody>
      </p:sp>
      <p:sp>
        <p:nvSpPr>
          <p:cNvPr id="9" name="Treapta Interese"/>
          <p:cNvSpPr/>
          <p:nvPr/>
        </p:nvSpPr>
        <p:spPr>
          <a:xfrm>
            <a:off x="7680960" y="3621024"/>
            <a:ext cx="2560320" cy="621792"/>
          </a:xfrm>
          <a:prstGeom prst="rect">
            <a:avLst/>
          </a:prstGeom>
          <a:solidFill>
            <a:srgbClr val="2F3C7E">
              <a:alpha val="64000"/>
            </a:srgbClr>
          </a:solidFill>
          <a:ln w="12700">
            <a:solidFill>
              <a:srgbClr val="FFFFFF"/>
            </a:solidFill>
            <a:prstDash val="solid"/>
          </a:ln>
        </p:spPr>
      </p:sp>
      <p:sp>
        <p:nvSpPr>
          <p:cNvPr id="10" name="Eticheta Interese"/>
          <p:cNvSpPr txBox="1"/>
          <p:nvPr/>
        </p:nvSpPr>
        <p:spPr>
          <a:xfrm>
            <a:off x="7680960" y="3621024"/>
            <a:ext cx="2560320" cy="621792"/>
          </a:xfrm>
          <a:prstGeom prst="rect">
            <a:avLst/>
          </a:prstGeom>
          <a:noFill/>
          <a:ln/>
        </p:spPr>
        <p:txBody>
          <a:bodyPr wrap="square" lIns="1270" tIns="1270" rIns="1270" bIns="1270" rtlCol="0" anchor="ctr"/>
          <a:lstStyle/>
          <a:p>
            <a:pPr algn="l" indent="0" marL="0">
              <a:buNone/>
            </a:pPr>
            <a:r>
              <a:rPr lang="en-US" sz="1200" b="1" dirty="0">
                <a:solidFill>
                  <a:srgbClr val="FFFFFF"/>
                </a:solidFill>
              </a:rPr>
              <a:t>Interese</a:t>
            </a:r>
            <a:endParaRPr lang="en-US" sz="1200" dirty="0"/>
          </a:p>
        </p:txBody>
      </p:sp>
      <p:sp>
        <p:nvSpPr>
          <p:cNvPr id="11" name="Treapta Convingeri"/>
          <p:cNvSpPr/>
          <p:nvPr/>
        </p:nvSpPr>
        <p:spPr>
          <a:xfrm>
            <a:off x="7680960" y="2907792"/>
            <a:ext cx="3108960" cy="621792"/>
          </a:xfrm>
          <a:prstGeom prst="rect">
            <a:avLst/>
          </a:prstGeom>
          <a:solidFill>
            <a:srgbClr val="2F3C7E">
              <a:alpha val="76000"/>
            </a:srgbClr>
          </a:solidFill>
          <a:ln w="12700">
            <a:solidFill>
              <a:srgbClr val="FFFFFF"/>
            </a:solidFill>
            <a:prstDash val="solid"/>
          </a:ln>
        </p:spPr>
      </p:sp>
      <p:sp>
        <p:nvSpPr>
          <p:cNvPr id="12" name="Eticheta Convingeri"/>
          <p:cNvSpPr txBox="1"/>
          <p:nvPr/>
        </p:nvSpPr>
        <p:spPr>
          <a:xfrm>
            <a:off x="7680960" y="2907792"/>
            <a:ext cx="3108960" cy="621792"/>
          </a:xfrm>
          <a:prstGeom prst="rect">
            <a:avLst/>
          </a:prstGeom>
          <a:noFill/>
          <a:ln/>
        </p:spPr>
        <p:txBody>
          <a:bodyPr wrap="square" lIns="1270" tIns="1270" rIns="1270" bIns="1270" rtlCol="0" anchor="ctr"/>
          <a:lstStyle/>
          <a:p>
            <a:pPr algn="l" indent="0" marL="0">
              <a:buNone/>
            </a:pPr>
            <a:r>
              <a:rPr lang="en-US" sz="1200" b="1" dirty="0">
                <a:solidFill>
                  <a:srgbClr val="FFFFFF"/>
                </a:solidFill>
              </a:rPr>
              <a:t>Convingeri</a:t>
            </a:r>
            <a:endParaRPr lang="en-US" sz="1200" dirty="0"/>
          </a:p>
        </p:txBody>
      </p:sp>
      <p:sp>
        <p:nvSpPr>
          <p:cNvPr id="13" name="Treapta Idealuri"/>
          <p:cNvSpPr/>
          <p:nvPr/>
        </p:nvSpPr>
        <p:spPr>
          <a:xfrm>
            <a:off x="7680960" y="2194560"/>
            <a:ext cx="3657600" cy="621792"/>
          </a:xfrm>
          <a:prstGeom prst="rect">
            <a:avLst/>
          </a:prstGeom>
          <a:solidFill>
            <a:srgbClr val="F96167"/>
          </a:solidFill>
          <a:ln w="12700">
            <a:solidFill>
              <a:srgbClr val="FFFFFF"/>
            </a:solidFill>
            <a:prstDash val="solid"/>
          </a:ln>
        </p:spPr>
      </p:sp>
      <p:sp>
        <p:nvSpPr>
          <p:cNvPr id="14" name="Eticheta Idealuri"/>
          <p:cNvSpPr txBox="1"/>
          <p:nvPr/>
        </p:nvSpPr>
        <p:spPr>
          <a:xfrm>
            <a:off x="7680960" y="2194560"/>
            <a:ext cx="3657600" cy="621792"/>
          </a:xfrm>
          <a:prstGeom prst="rect">
            <a:avLst/>
          </a:prstGeom>
          <a:noFill/>
          <a:ln/>
        </p:spPr>
        <p:txBody>
          <a:bodyPr wrap="square" lIns="1270" tIns="1270" rIns="1270" bIns="1270" rtlCol="0" anchor="ctr"/>
          <a:lstStyle/>
          <a:p>
            <a:pPr algn="l" indent="0" marL="0">
              <a:buNone/>
            </a:pPr>
            <a:r>
              <a:rPr lang="en-US" sz="1200" b="1" dirty="0">
                <a:solidFill>
                  <a:srgbClr val="FFFFFF"/>
                </a:solidFill>
              </a:rPr>
              <a:t>Idealuri</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Funcțiile motivației</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Activare: scoate organismul din starea de repaus</a:t>
            </a:r>
            <a:endParaRPr lang="en-US" sz="1600" dirty="0"/>
          </a:p>
          <a:p>
            <a:pPr marL="228600" indent="-228600">
              <a:spcAft>
                <a:spcPts val="1000"/>
              </a:spcAft>
              <a:buSzPct val="100000"/>
              <a:buChar char="•"/>
            </a:pPr>
            <a:r>
              <a:rPr lang="en-US" sz="1600" dirty="0">
                <a:solidFill>
                  <a:srgbClr val="1F2A44"/>
                </a:solidFill>
              </a:rPr>
              <a:t>Orientare: alege o direcție, un scop</a:t>
            </a:r>
            <a:endParaRPr lang="en-US" sz="1600" dirty="0"/>
          </a:p>
          <a:p>
            <a:pPr marL="228600" indent="-228600">
              <a:spcAft>
                <a:spcPts val="1000"/>
              </a:spcAft>
              <a:buSzPct val="100000"/>
              <a:buChar char="•"/>
            </a:pPr>
            <a:r>
              <a:rPr lang="en-US" sz="1600" dirty="0">
                <a:solidFill>
                  <a:srgbClr val="1F2A44"/>
                </a:solidFill>
              </a:rPr>
              <a:t>Susținere: menține efortul în timp, în ciuda obstacolelor</a:t>
            </a:r>
            <a:endParaRPr lang="en-US" sz="1600" dirty="0"/>
          </a:p>
          <a:p>
            <a:pPr marL="228600" indent="-228600">
              <a:spcAft>
                <a:spcPts val="1000"/>
              </a:spcAft>
              <a:buSzPct val="100000"/>
              <a:buChar char="•"/>
            </a:pPr>
            <a:r>
              <a:rPr lang="en-US" sz="1600" dirty="0">
                <a:solidFill>
                  <a:srgbClr val="1F2A44"/>
                </a:solidFill>
              </a:rPr>
              <a:t>Reglare: ajustează intensitatea efortului după situație</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Cerc icon 0"/>
          <p:cNvSpPr/>
          <p:nvPr/>
        </p:nvSpPr>
        <p:spPr>
          <a:xfrm>
            <a:off x="8138160" y="2011680"/>
            <a:ext cx="822960" cy="822960"/>
          </a:xfrm>
          <a:prstGeom prst="ellipse">
            <a:avLst/>
          </a:prstGeom>
          <a:solidFill>
            <a:srgbClr val="2F3C7E"/>
          </a:solidFill>
          <a:ln w="12700">
            <a:solidFill>
              <a:srgbClr val="2F3C7E"/>
            </a:solidFill>
            <a:prstDash val="solid"/>
          </a:ln>
        </p:spPr>
      </p:sp>
      <p:pic>
        <p:nvPicPr>
          <p:cNvPr id="6" name="Icon 0" descr="preencoded.png">    </p:cNvPr>
          <p:cNvPicPr>
            <a:picLocks noChangeAspect="1"/>
          </p:cNvPicPr>
          <p:nvPr/>
        </p:nvPicPr>
        <p:blipFill>
          <a:blip r:embed="rId1"/>
          <a:stretch>
            <a:fillRect/>
          </a:stretch>
        </p:blipFill>
        <p:spPr>
          <a:xfrm>
            <a:off x="8339328" y="2212848"/>
            <a:ext cx="420624" cy="420624"/>
          </a:xfrm>
          <a:prstGeom prst="rect">
            <a:avLst/>
          </a:prstGeom>
        </p:spPr>
      </p:pic>
      <p:sp>
        <p:nvSpPr>
          <p:cNvPr id="7" name="Eticheta Activare"/>
          <p:cNvSpPr txBox="1"/>
          <p:nvPr/>
        </p:nvSpPr>
        <p:spPr>
          <a:xfrm>
            <a:off x="7635240" y="2926080"/>
            <a:ext cx="1828800" cy="822960"/>
          </a:xfrm>
          <a:prstGeom prst="rect">
            <a:avLst/>
          </a:prstGeom>
          <a:noFill/>
          <a:ln/>
        </p:spPr>
        <p:txBody>
          <a:bodyPr wrap="square" lIns="254" tIns="254" rIns="254" bIns="254" rtlCol="0" anchor="ctr"/>
          <a:lstStyle/>
          <a:p>
            <a:pPr algn="ctr" indent="0" marL="0">
              <a:buNone/>
            </a:pPr>
            <a:r>
              <a:rPr lang="en-US" sz="1300" b="1" dirty="0">
                <a:solidFill>
                  <a:srgbClr val="1F2A44"/>
                </a:solidFill>
              </a:rPr>
              <a:t>Activare</a:t>
            </a:r>
            <a:endParaRPr lang="en-US" sz="1300" dirty="0"/>
          </a:p>
        </p:txBody>
      </p:sp>
      <p:sp>
        <p:nvSpPr>
          <p:cNvPr id="8" name="Cerc icon 1"/>
          <p:cNvSpPr/>
          <p:nvPr/>
        </p:nvSpPr>
        <p:spPr>
          <a:xfrm>
            <a:off x="10149840" y="2011680"/>
            <a:ext cx="822960" cy="822960"/>
          </a:xfrm>
          <a:prstGeom prst="ellipse">
            <a:avLst/>
          </a:prstGeom>
          <a:solidFill>
            <a:srgbClr val="F96167"/>
          </a:solidFill>
          <a:ln w="12700">
            <a:solidFill>
              <a:srgbClr val="F96167"/>
            </a:solidFill>
            <a:prstDash val="solid"/>
          </a:ln>
        </p:spPr>
      </p:sp>
      <p:pic>
        <p:nvPicPr>
          <p:cNvPr id="9" name="Icon 1" descr="preencoded.png">    </p:cNvPr>
          <p:cNvPicPr>
            <a:picLocks noChangeAspect="1"/>
          </p:cNvPicPr>
          <p:nvPr/>
        </p:nvPicPr>
        <p:blipFill>
          <a:blip r:embed="rId2"/>
          <a:stretch>
            <a:fillRect/>
          </a:stretch>
        </p:blipFill>
        <p:spPr>
          <a:xfrm>
            <a:off x="10351008" y="2212848"/>
            <a:ext cx="420624" cy="420624"/>
          </a:xfrm>
          <a:prstGeom prst="rect">
            <a:avLst/>
          </a:prstGeom>
        </p:spPr>
      </p:pic>
      <p:sp>
        <p:nvSpPr>
          <p:cNvPr id="10" name="Eticheta Orientare"/>
          <p:cNvSpPr txBox="1"/>
          <p:nvPr/>
        </p:nvSpPr>
        <p:spPr>
          <a:xfrm>
            <a:off x="9646920" y="2926080"/>
            <a:ext cx="1828800" cy="822960"/>
          </a:xfrm>
          <a:prstGeom prst="rect">
            <a:avLst/>
          </a:prstGeom>
          <a:noFill/>
          <a:ln/>
        </p:spPr>
        <p:txBody>
          <a:bodyPr wrap="square" lIns="254" tIns="254" rIns="254" bIns="254" rtlCol="0" anchor="ctr"/>
          <a:lstStyle/>
          <a:p>
            <a:pPr algn="ctr" indent="0" marL="0">
              <a:buNone/>
            </a:pPr>
            <a:r>
              <a:rPr lang="en-US" sz="1300" b="1" dirty="0">
                <a:solidFill>
                  <a:srgbClr val="1F2A44"/>
                </a:solidFill>
              </a:rPr>
              <a:t>Orientare</a:t>
            </a:r>
            <a:endParaRPr lang="en-US" sz="1300" dirty="0"/>
          </a:p>
        </p:txBody>
      </p:sp>
      <p:sp>
        <p:nvSpPr>
          <p:cNvPr id="11" name="Cerc icon 2"/>
          <p:cNvSpPr/>
          <p:nvPr/>
        </p:nvSpPr>
        <p:spPr>
          <a:xfrm>
            <a:off x="8138160" y="4114800"/>
            <a:ext cx="822960" cy="822960"/>
          </a:xfrm>
          <a:prstGeom prst="ellipse">
            <a:avLst/>
          </a:prstGeom>
          <a:solidFill>
            <a:srgbClr val="2F3C7E"/>
          </a:solidFill>
          <a:ln w="12700">
            <a:solidFill>
              <a:srgbClr val="2F3C7E"/>
            </a:solidFill>
            <a:prstDash val="solid"/>
          </a:ln>
        </p:spPr>
      </p:sp>
      <p:pic>
        <p:nvPicPr>
          <p:cNvPr id="12" name="Icon 2" descr="preencoded.png">    </p:cNvPr>
          <p:cNvPicPr>
            <a:picLocks noChangeAspect="1"/>
          </p:cNvPicPr>
          <p:nvPr/>
        </p:nvPicPr>
        <p:blipFill>
          <a:blip r:embed="rId3"/>
          <a:stretch>
            <a:fillRect/>
          </a:stretch>
        </p:blipFill>
        <p:spPr>
          <a:xfrm>
            <a:off x="8339328" y="4315968"/>
            <a:ext cx="420624" cy="420624"/>
          </a:xfrm>
          <a:prstGeom prst="rect">
            <a:avLst/>
          </a:prstGeom>
        </p:spPr>
      </p:pic>
      <p:sp>
        <p:nvSpPr>
          <p:cNvPr id="13" name="Eticheta Susținere"/>
          <p:cNvSpPr txBox="1"/>
          <p:nvPr/>
        </p:nvSpPr>
        <p:spPr>
          <a:xfrm>
            <a:off x="7635240" y="5029200"/>
            <a:ext cx="1828800" cy="822960"/>
          </a:xfrm>
          <a:prstGeom prst="rect">
            <a:avLst/>
          </a:prstGeom>
          <a:noFill/>
          <a:ln/>
        </p:spPr>
        <p:txBody>
          <a:bodyPr wrap="square" lIns="254" tIns="254" rIns="254" bIns="254" rtlCol="0" anchor="ctr"/>
          <a:lstStyle/>
          <a:p>
            <a:pPr algn="ctr" indent="0" marL="0">
              <a:buNone/>
            </a:pPr>
            <a:r>
              <a:rPr lang="en-US" sz="1300" b="1" dirty="0">
                <a:solidFill>
                  <a:srgbClr val="1F2A44"/>
                </a:solidFill>
              </a:rPr>
              <a:t>Susținere</a:t>
            </a:r>
            <a:endParaRPr lang="en-US" sz="1300" dirty="0"/>
          </a:p>
        </p:txBody>
      </p:sp>
      <p:sp>
        <p:nvSpPr>
          <p:cNvPr id="14" name="Cerc icon 3"/>
          <p:cNvSpPr/>
          <p:nvPr/>
        </p:nvSpPr>
        <p:spPr>
          <a:xfrm>
            <a:off x="10149840" y="4114800"/>
            <a:ext cx="822960" cy="822960"/>
          </a:xfrm>
          <a:prstGeom prst="ellipse">
            <a:avLst/>
          </a:prstGeom>
          <a:solidFill>
            <a:srgbClr val="F96167"/>
          </a:solidFill>
          <a:ln w="12700">
            <a:solidFill>
              <a:srgbClr val="F96167"/>
            </a:solidFill>
            <a:prstDash val="solid"/>
          </a:ln>
        </p:spPr>
      </p:sp>
      <p:pic>
        <p:nvPicPr>
          <p:cNvPr id="15" name="Icon 3" descr="preencoded.png">    </p:cNvPr>
          <p:cNvPicPr>
            <a:picLocks noChangeAspect="1"/>
          </p:cNvPicPr>
          <p:nvPr/>
        </p:nvPicPr>
        <p:blipFill>
          <a:blip r:embed="rId4"/>
          <a:stretch>
            <a:fillRect/>
          </a:stretch>
        </p:blipFill>
        <p:spPr>
          <a:xfrm>
            <a:off x="10351008" y="4315968"/>
            <a:ext cx="420624" cy="420624"/>
          </a:xfrm>
          <a:prstGeom prst="rect">
            <a:avLst/>
          </a:prstGeom>
        </p:spPr>
      </p:pic>
      <p:sp>
        <p:nvSpPr>
          <p:cNvPr id="16" name="Eticheta Reglare"/>
          <p:cNvSpPr txBox="1"/>
          <p:nvPr/>
        </p:nvSpPr>
        <p:spPr>
          <a:xfrm>
            <a:off x="9646920" y="5029200"/>
            <a:ext cx="1828800" cy="822960"/>
          </a:xfrm>
          <a:prstGeom prst="rect">
            <a:avLst/>
          </a:prstGeom>
          <a:noFill/>
          <a:ln/>
        </p:spPr>
        <p:txBody>
          <a:bodyPr wrap="square" lIns="254" tIns="254" rIns="254" bIns="254" rtlCol="0" anchor="ctr"/>
          <a:lstStyle/>
          <a:p>
            <a:pPr algn="ctr" indent="0" marL="0">
              <a:buNone/>
            </a:pPr>
            <a:r>
              <a:rPr lang="en-US" sz="1300" b="1" dirty="0">
                <a:solidFill>
                  <a:srgbClr val="1F2A44"/>
                </a:solidFill>
              </a:rPr>
              <a:t>Reglare</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Motivație intrinsecă și extrinsecă</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Intrinsecă: activitatea e răsplata în sine (plăcerea jocului, curiozitatea)</a:t>
            </a:r>
            <a:endParaRPr lang="en-US" sz="1600" dirty="0"/>
          </a:p>
          <a:p>
            <a:pPr marL="228600" indent="-228600">
              <a:spcAft>
                <a:spcPts val="1000"/>
              </a:spcAft>
              <a:buSzPct val="100000"/>
              <a:buChar char="•"/>
            </a:pPr>
            <a:r>
              <a:rPr lang="en-US" sz="1600" dirty="0">
                <a:solidFill>
                  <a:srgbClr val="1F2A44"/>
                </a:solidFill>
              </a:rPr>
              <a:t>Extrinsecă: scopul e în afara activității (nota, lauda, medalia, evitarea pedepsei)</a:t>
            </a:r>
            <a:endParaRPr lang="en-US" sz="1600" dirty="0"/>
          </a:p>
          <a:p>
            <a:pPr marL="228600" indent="-228600">
              <a:spcAft>
                <a:spcPts val="1000"/>
              </a:spcAft>
              <a:buSzPct val="100000"/>
              <a:buChar char="•"/>
            </a:pPr>
            <a:r>
              <a:rPr lang="en-US" sz="1600" dirty="0">
                <a:solidFill>
                  <a:srgbClr val="1F2A44"/>
                </a:solidFill>
              </a:rPr>
              <a:t>Nu sunt opuse, de obicei coexistă</a:t>
            </a:r>
            <a:endParaRPr lang="en-US" sz="1600" dirty="0"/>
          </a:p>
          <a:p>
            <a:pPr marL="228600" indent="-228600">
              <a:spcAft>
                <a:spcPts val="1000"/>
              </a:spcAft>
              <a:buSzPct val="100000"/>
              <a:buChar char="•"/>
            </a:pPr>
            <a:r>
              <a:rPr lang="en-US" sz="1600" dirty="0">
                <a:solidFill>
                  <a:srgbClr val="1F2A44"/>
                </a:solidFill>
              </a:rPr>
              <a:t>Intrinseca dă rezultate mai durabile; extrinseca pornește motorul când lipsește cea intrinsecă</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Card A"/>
          <p:cNvSpPr/>
          <p:nvPr/>
        </p:nvSpPr>
        <p:spPr>
          <a:xfrm>
            <a:off x="7635240" y="2011680"/>
            <a:ext cx="1737360" cy="3749040"/>
          </a:xfrm>
          <a:prstGeom prst="roundRect">
            <a:avLst>
              <a:gd name="adj" fmla="val 5263"/>
            </a:avLst>
          </a:prstGeom>
          <a:solidFill>
            <a:srgbClr val="2F3C7E"/>
          </a:solidFill>
          <a:ln w="12700">
            <a:solidFill>
              <a:srgbClr val="2F3C7E"/>
            </a:solidFill>
            <a:prstDash val="solid"/>
          </a:ln>
        </p:spPr>
      </p:sp>
      <p:sp>
        <p:nvSpPr>
          <p:cNvPr id="6" name="Card B"/>
          <p:cNvSpPr/>
          <p:nvPr/>
        </p:nvSpPr>
        <p:spPr>
          <a:xfrm>
            <a:off x="9464040" y="2011680"/>
            <a:ext cx="1737360" cy="3749040"/>
          </a:xfrm>
          <a:prstGeom prst="roundRect">
            <a:avLst>
              <a:gd name="adj" fmla="val 5263"/>
            </a:avLst>
          </a:prstGeom>
          <a:solidFill>
            <a:srgbClr val="F96167"/>
          </a:solidFill>
          <a:ln w="12700">
            <a:solidFill>
              <a:srgbClr val="F96167"/>
            </a:solidFill>
            <a:prstDash val="solid"/>
          </a:ln>
        </p:spPr>
      </p:sp>
      <p:pic>
        <p:nvPicPr>
          <p:cNvPr id="7" name="Icon A" descr="preencoded.png">    </p:cNvPr>
          <p:cNvPicPr>
            <a:picLocks noChangeAspect="1"/>
          </p:cNvPicPr>
          <p:nvPr/>
        </p:nvPicPr>
        <p:blipFill>
          <a:blip r:embed="rId1"/>
          <a:stretch>
            <a:fillRect/>
          </a:stretch>
        </p:blipFill>
        <p:spPr>
          <a:xfrm>
            <a:off x="8138160" y="2377440"/>
            <a:ext cx="731520" cy="731520"/>
          </a:xfrm>
          <a:prstGeom prst="rect">
            <a:avLst/>
          </a:prstGeom>
        </p:spPr>
      </p:pic>
      <p:pic>
        <p:nvPicPr>
          <p:cNvPr id="8" name="Icon B" descr="preencoded.png">    </p:cNvPr>
          <p:cNvPicPr>
            <a:picLocks noChangeAspect="1"/>
          </p:cNvPicPr>
          <p:nvPr/>
        </p:nvPicPr>
        <p:blipFill>
          <a:blip r:embed="rId2"/>
          <a:stretch>
            <a:fillRect/>
          </a:stretch>
        </p:blipFill>
        <p:spPr>
          <a:xfrm>
            <a:off x="9966960" y="2377440"/>
            <a:ext cx="731520" cy="731520"/>
          </a:xfrm>
          <a:prstGeom prst="rect">
            <a:avLst/>
          </a:prstGeom>
        </p:spPr>
      </p:pic>
      <p:sp>
        <p:nvSpPr>
          <p:cNvPr id="9" name="Eticheta Intrinsecă"/>
          <p:cNvSpPr txBox="1"/>
          <p:nvPr/>
        </p:nvSpPr>
        <p:spPr>
          <a:xfrm>
            <a:off x="7680960" y="3383280"/>
            <a:ext cx="1645920" cy="914400"/>
          </a:xfrm>
          <a:prstGeom prst="rect">
            <a:avLst/>
          </a:prstGeom>
          <a:noFill/>
          <a:ln/>
        </p:spPr>
        <p:txBody>
          <a:bodyPr wrap="square" lIns="254" tIns="254" rIns="254" bIns="254" rtlCol="0" anchor="ctr"/>
          <a:lstStyle/>
          <a:p>
            <a:pPr algn="ctr" indent="0" marL="0">
              <a:buNone/>
            </a:pPr>
            <a:r>
              <a:rPr lang="en-US" sz="1400" b="1" dirty="0">
                <a:solidFill>
                  <a:srgbClr val="FFFFFF"/>
                </a:solidFill>
              </a:rPr>
              <a:t>Intrinsecă</a:t>
            </a:r>
            <a:endParaRPr lang="en-US" sz="1400" dirty="0"/>
          </a:p>
        </p:txBody>
      </p:sp>
      <p:sp>
        <p:nvSpPr>
          <p:cNvPr id="10" name="Eticheta Extrinsecă"/>
          <p:cNvSpPr txBox="1"/>
          <p:nvPr/>
        </p:nvSpPr>
        <p:spPr>
          <a:xfrm>
            <a:off x="9509760" y="3383280"/>
            <a:ext cx="1645920" cy="914400"/>
          </a:xfrm>
          <a:prstGeom prst="rect">
            <a:avLst/>
          </a:prstGeom>
          <a:noFill/>
          <a:ln/>
        </p:spPr>
        <p:txBody>
          <a:bodyPr wrap="square" lIns="254" tIns="254" rIns="254" bIns="254" rtlCol="0" anchor="ctr"/>
          <a:lstStyle/>
          <a:p>
            <a:pPr algn="ctr" indent="0" marL="0">
              <a:buNone/>
            </a:pPr>
            <a:r>
              <a:rPr lang="en-US" sz="1400" b="1" dirty="0">
                <a:solidFill>
                  <a:srgbClr val="FFFFFF"/>
                </a:solidFill>
              </a:rPr>
              <a:t>Extrinsecă</a:t>
            </a:r>
            <a:endParaRPr lang="en-US" sz="1400" dirty="0"/>
          </a:p>
        </p:txBody>
      </p:sp>
      <p:sp>
        <p:nvSpPr>
          <p:cNvPr id="11" name="Eticheta răsplata e activitat"/>
          <p:cNvSpPr txBox="1"/>
          <p:nvPr/>
        </p:nvSpPr>
        <p:spPr>
          <a:xfrm>
            <a:off x="7680960" y="4389120"/>
            <a:ext cx="1645920" cy="1097280"/>
          </a:xfrm>
          <a:prstGeom prst="rect">
            <a:avLst/>
          </a:prstGeom>
          <a:noFill/>
          <a:ln/>
        </p:spPr>
        <p:txBody>
          <a:bodyPr wrap="square" lIns="254" tIns="254" rIns="254" bIns="254" rtlCol="0" anchor="ctr"/>
          <a:lstStyle/>
          <a:p>
            <a:pPr algn="ctr" indent="0" marL="0">
              <a:buNone/>
            </a:pPr>
            <a:r>
              <a:rPr lang="en-US" sz="1100" dirty="0">
                <a:solidFill>
                  <a:srgbClr val="E8EAF3"/>
                </a:solidFill>
              </a:rPr>
              <a:t>răsplata e activitatea</a:t>
            </a:r>
            <a:endParaRPr lang="en-US" sz="1100" dirty="0"/>
          </a:p>
        </p:txBody>
      </p:sp>
      <p:sp>
        <p:nvSpPr>
          <p:cNvPr id="12" name="Eticheta răsplata e în afară"/>
          <p:cNvSpPr txBox="1"/>
          <p:nvPr/>
        </p:nvSpPr>
        <p:spPr>
          <a:xfrm>
            <a:off x="9509760" y="4389120"/>
            <a:ext cx="1645920" cy="1097280"/>
          </a:xfrm>
          <a:prstGeom prst="rect">
            <a:avLst/>
          </a:prstGeom>
          <a:noFill/>
          <a:ln/>
        </p:spPr>
        <p:txBody>
          <a:bodyPr wrap="square" lIns="254" tIns="254" rIns="254" bIns="254" rtlCol="0" anchor="ctr"/>
          <a:lstStyle/>
          <a:p>
            <a:pPr algn="ctr" indent="0" marL="0">
              <a:buNone/>
            </a:pPr>
            <a:r>
              <a:rPr lang="en-US" sz="1100" dirty="0">
                <a:solidFill>
                  <a:srgbClr val="FFFFFF"/>
                </a:solidFill>
              </a:rPr>
              <a:t>răsplata e în afară</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Legea optimului motivațional</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Yerkes și Dodson (1908): performanța crește cu motivația, dar numai până la un punct</a:t>
            </a:r>
            <a:endParaRPr lang="en-US" sz="1600" dirty="0"/>
          </a:p>
          <a:p>
            <a:pPr marL="228600" indent="-228600">
              <a:spcAft>
                <a:spcPts val="1000"/>
              </a:spcAft>
              <a:buSzPct val="100000"/>
              <a:buChar char="•"/>
            </a:pPr>
            <a:r>
              <a:rPr lang="en-US" sz="1600" dirty="0">
                <a:solidFill>
                  <a:srgbClr val="1F2A44"/>
                </a:solidFill>
              </a:rPr>
              <a:t>Submotivare: plictiseală, efort mic, rezultate slabe</a:t>
            </a:r>
            <a:endParaRPr lang="en-US" sz="1600" dirty="0"/>
          </a:p>
          <a:p>
            <a:pPr marL="228600" indent="-228600">
              <a:spcAft>
                <a:spcPts val="1000"/>
              </a:spcAft>
              <a:buSzPct val="100000"/>
              <a:buChar char="•"/>
            </a:pPr>
            <a:r>
              <a:rPr lang="en-US" sz="1600" dirty="0">
                <a:solidFill>
                  <a:srgbClr val="1F2A44"/>
                </a:solidFill>
              </a:rPr>
              <a:t>Supramotivare: anxietate, crispare, greșeli (sportivul care „îngheață” la concurs)</a:t>
            </a:r>
            <a:endParaRPr lang="en-US" sz="1600" dirty="0"/>
          </a:p>
          <a:p>
            <a:pPr marL="228600" indent="-228600">
              <a:spcAft>
                <a:spcPts val="1000"/>
              </a:spcAft>
              <a:buSzPct val="100000"/>
              <a:buChar char="•"/>
            </a:pPr>
            <a:r>
              <a:rPr lang="en-US" sz="1600" dirty="0">
                <a:solidFill>
                  <a:srgbClr val="1F2A44"/>
                </a:solidFill>
              </a:rPr>
              <a:t>Sarcini simple suportă motivație mare; sarcinile complexe cer motivație moderată</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graphicFrame>
        <p:nvGraphicFramePr>
          <p:cNvPr id="5" name="Chart 0" descr=""/>
          <p:cNvGraphicFramePr/>
          <p:nvPr/>
        </p:nvGraphicFramePr>
        <p:xfrm>
          <a:off x="7498080" y="1920240"/>
          <a:ext cx="3840480" cy="3657600"/>
        </p:xfrm>
        <a:graphic xmlns:a="http://schemas.openxmlformats.org/drawingml/2006/main">
          <a:graphicData uri="http://schemas.openxmlformats.org/drawingml/2006/chart">
            <c:chart xmlns:c="http://schemas.openxmlformats.org/drawingml/2006/chart" r:id="rId1"/>
          </a:graphicData>
        </a:graphic>
      </p:graphicFrame>
      <p:sp>
        <p:nvSpPr>
          <p:cNvPr id="6" name="Eticheta sub"/>
          <p:cNvSpPr txBox="1"/>
          <p:nvPr/>
        </p:nvSpPr>
        <p:spPr>
          <a:xfrm>
            <a:off x="7772400" y="5669280"/>
            <a:ext cx="914400" cy="274320"/>
          </a:xfrm>
          <a:prstGeom prst="rect">
            <a:avLst/>
          </a:prstGeom>
          <a:noFill/>
          <a:ln/>
        </p:spPr>
        <p:txBody>
          <a:bodyPr wrap="square" lIns="254" tIns="254" rIns="254" bIns="254" rtlCol="0" anchor="ctr"/>
          <a:lstStyle/>
          <a:p>
            <a:pPr algn="ctr" indent="0" marL="0">
              <a:buNone/>
            </a:pPr>
            <a:r>
              <a:rPr lang="en-US" sz="1000" dirty="0">
                <a:solidFill>
                  <a:srgbClr val="6B7280"/>
                </a:solidFill>
              </a:rPr>
              <a:t>sub</a:t>
            </a:r>
            <a:endParaRPr lang="en-US" sz="1000" dirty="0"/>
          </a:p>
        </p:txBody>
      </p:sp>
      <p:sp>
        <p:nvSpPr>
          <p:cNvPr id="7" name="Eticheta supra"/>
          <p:cNvSpPr txBox="1"/>
          <p:nvPr/>
        </p:nvSpPr>
        <p:spPr>
          <a:xfrm>
            <a:off x="10149840" y="5669280"/>
            <a:ext cx="914400" cy="274320"/>
          </a:xfrm>
          <a:prstGeom prst="rect">
            <a:avLst/>
          </a:prstGeom>
          <a:noFill/>
          <a:ln/>
        </p:spPr>
        <p:txBody>
          <a:bodyPr wrap="square" lIns="254" tIns="254" rIns="254" bIns="254" rtlCol="0" anchor="ctr"/>
          <a:lstStyle/>
          <a:p>
            <a:pPr algn="ctr" indent="0" marL="0">
              <a:buNone/>
            </a:pPr>
            <a:r>
              <a:rPr lang="en-US" sz="1000" dirty="0">
                <a:solidFill>
                  <a:srgbClr val="6B7280"/>
                </a:solidFill>
              </a:rPr>
              <a:t>supra</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ticheta parte"/>
          <p:cNvSpPr txBox="1"/>
          <p:nvPr/>
        </p:nvSpPr>
        <p:spPr>
          <a:xfrm>
            <a:off x="731520" y="1463040"/>
            <a:ext cx="5486400" cy="457200"/>
          </a:xfrm>
          <a:prstGeom prst="rect">
            <a:avLst/>
          </a:prstGeom>
          <a:noFill/>
          <a:ln/>
        </p:spPr>
        <p:txBody>
          <a:bodyPr wrap="square" lIns="0" tIns="0" rIns="0" bIns="0" rtlCol="0" anchor="ctr"/>
          <a:lstStyle/>
          <a:p>
            <a:pPr indent="0" marL="0">
              <a:buNone/>
            </a:pPr>
            <a:r>
              <a:rPr lang="en-US" sz="1600" b="1" spc="400" kern="0" dirty="0">
                <a:solidFill>
                  <a:srgbClr val="F9E795"/>
                </a:solidFill>
              </a:rPr>
              <a:t>PARTEA 2</a:t>
            </a:r>
            <a:endParaRPr lang="en-US" sz="1600" dirty="0"/>
          </a:p>
        </p:txBody>
      </p:sp>
      <p:sp>
        <p:nvSpPr>
          <p:cNvPr id="3" name="Numar mare"/>
          <p:cNvSpPr txBox="1"/>
          <p:nvPr/>
        </p:nvSpPr>
        <p:spPr>
          <a:xfrm>
            <a:off x="8503920" y="1097280"/>
            <a:ext cx="2926080" cy="3291840"/>
          </a:xfrm>
          <a:prstGeom prst="rect">
            <a:avLst/>
          </a:prstGeom>
          <a:noFill/>
          <a:ln/>
        </p:spPr>
        <p:txBody>
          <a:bodyPr wrap="square" lIns="0" tIns="0" rIns="0" bIns="0" rtlCol="0" anchor="ctr"/>
          <a:lstStyle/>
          <a:p>
            <a:pPr algn="r" indent="0" marL="0">
              <a:buNone/>
            </a:pPr>
            <a:r>
              <a:rPr lang="en-US" sz="20000" b="1" dirty="0">
                <a:solidFill>
                  <a:srgbClr val="FFFFFF">
                    <a:alpha val="15000"/>
                  </a:srgbClr>
                </a:solidFill>
              </a:rPr>
              <a:t>2</a:t>
            </a:r>
            <a:endParaRPr lang="en-US" sz="20000" dirty="0"/>
          </a:p>
        </p:txBody>
      </p:sp>
      <p:sp>
        <p:nvSpPr>
          <p:cNvPr id="4" name="Text 0"/>
          <p:cNvSpPr/>
          <p:nvPr>
            <p:ph idx="100" type="title" hasCustomPrompt="1"/>
          </p:nvPr>
        </p:nvSpPr>
        <p:spPr>
          <a:xfrm>
            <a:off x="731520" y="2377440"/>
            <a:ext cx="10698480" cy="1463040"/>
          </a:xfrm>
          <a:prstGeom prst="rect">
            <a:avLst/>
          </a:prstGeom>
          <a:noFill/>
          <a:ln/>
        </p:spPr>
        <p:txBody>
          <a:bodyPr wrap="square" lIns="0" tIns="0" rIns="0" bIns="0" rtlCol="0" anchor="ctr"/>
          <a:lstStyle/>
          <a:p>
            <a:pPr algn="l" indent="0" marL="0">
              <a:buNone/>
            </a:pPr>
            <a:r>
              <a:rPr lang="en-US" sz="3800" b="1" dirty="0">
                <a:solidFill>
                  <a:srgbClr val="FFFFFF"/>
                </a:solidFill>
              </a:rPr>
              <a:t>Perspective de abordare a motivației</a:t>
            </a:r>
            <a:endParaRPr lang="en-US" sz="3800" dirty="0"/>
          </a:p>
        </p:txBody>
      </p:sp>
      <p:sp>
        <p:nvSpPr>
          <p:cNvPr id="5" name="Text 0"/>
          <p:cNvSpPr/>
          <p:nvPr>
            <p:ph idx="101" type="body" hasCustomPrompt="1"/>
          </p:nvPr>
        </p:nvSpPr>
        <p:spPr>
          <a:xfrm>
            <a:off x="731520" y="3931920"/>
            <a:ext cx="10698480" cy="822960"/>
          </a:xfrm>
          <a:prstGeom prst="rect">
            <a:avLst/>
          </a:prstGeom>
          <a:noFill/>
          <a:ln/>
        </p:spPr>
        <p:txBody>
          <a:bodyPr wrap="square" lIns="0" tIns="0" rIns="0" bIns="0" rtlCol="0" anchor="t"/>
          <a:lstStyle/>
          <a:p>
            <a:pPr algn="l" indent="0" marL="0">
              <a:buNone/>
            </a:pPr>
            <a:r>
              <a:rPr lang="en-US" sz="1800" dirty="0">
                <a:solidFill>
                  <a:srgbClr val="F9E795"/>
                </a:solidFill>
              </a:rPr>
              <a:t>Membrul 2  ·  7-8 minute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Perspectiva behavioristă</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Skinner: comportamentul urmat de recompensă se repetă, cel urmat de pedeapsă se stinge</a:t>
            </a:r>
            <a:endParaRPr lang="en-US" sz="1600" dirty="0"/>
          </a:p>
          <a:p>
            <a:pPr marL="228600" indent="-228600">
              <a:spcAft>
                <a:spcPts val="1000"/>
              </a:spcAft>
              <a:buSzPct val="100000"/>
              <a:buChar char="•"/>
            </a:pPr>
            <a:r>
              <a:rPr lang="en-US" sz="1600" dirty="0">
                <a:solidFill>
                  <a:srgbClr val="1F2A44"/>
                </a:solidFill>
              </a:rPr>
              <a:t>Motivația = istoricul întăririlor primite</a:t>
            </a:r>
            <a:endParaRPr lang="en-US" sz="1600" dirty="0"/>
          </a:p>
          <a:p>
            <a:pPr marL="228600" indent="-228600">
              <a:spcAft>
                <a:spcPts val="1000"/>
              </a:spcAft>
              <a:buSzPct val="100000"/>
              <a:buChar char="•"/>
            </a:pPr>
            <a:r>
              <a:rPr lang="en-US" sz="1600" dirty="0">
                <a:solidFill>
                  <a:srgbClr val="1F2A44"/>
                </a:solidFill>
              </a:rPr>
              <a:t>Aplicare: laudă, puncte, recompense, feedback imediat</a:t>
            </a:r>
            <a:endParaRPr lang="en-US" sz="1600" dirty="0"/>
          </a:p>
          <a:p>
            <a:pPr marL="228600" indent="-228600">
              <a:spcAft>
                <a:spcPts val="1000"/>
              </a:spcAft>
              <a:buSzPct val="100000"/>
              <a:buChar char="•"/>
            </a:pPr>
            <a:r>
              <a:rPr lang="en-US" sz="1600" dirty="0">
                <a:solidFill>
                  <a:srgbClr val="1F2A44"/>
                </a:solidFill>
              </a:rPr>
              <a:t>Limită: dacă dispare recompensa, dispare și comportamentul</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Pas Comportament"/>
          <p:cNvSpPr/>
          <p:nvPr/>
        </p:nvSpPr>
        <p:spPr>
          <a:xfrm>
            <a:off x="8732520" y="2011680"/>
            <a:ext cx="1371600" cy="1371600"/>
          </a:xfrm>
          <a:prstGeom prst="ellipse">
            <a:avLst/>
          </a:prstGeom>
          <a:solidFill>
            <a:srgbClr val="2F3C7E"/>
          </a:solidFill>
          <a:ln w="12700">
            <a:solidFill>
              <a:srgbClr val="2F3C7E"/>
            </a:solidFill>
            <a:prstDash val="solid"/>
          </a:ln>
        </p:spPr>
      </p:sp>
      <p:sp>
        <p:nvSpPr>
          <p:cNvPr id="6" name="Eticheta Comportament"/>
          <p:cNvSpPr txBox="1"/>
          <p:nvPr/>
        </p:nvSpPr>
        <p:spPr>
          <a:xfrm>
            <a:off x="8732520" y="2011680"/>
            <a:ext cx="1371600" cy="1371600"/>
          </a:xfrm>
          <a:prstGeom prst="rect">
            <a:avLst/>
          </a:prstGeom>
          <a:noFill/>
          <a:ln/>
        </p:spPr>
        <p:txBody>
          <a:bodyPr wrap="square" lIns="254" tIns="254" rIns="254" bIns="254" rtlCol="0" anchor="ctr"/>
          <a:lstStyle/>
          <a:p>
            <a:pPr algn="ctr" indent="0" marL="0">
              <a:buNone/>
            </a:pPr>
            <a:r>
              <a:rPr lang="en-US" sz="1200" b="1" dirty="0">
                <a:solidFill>
                  <a:srgbClr val="FFFFFF"/>
                </a:solidFill>
              </a:rPr>
              <a:t>Comportament</a:t>
            </a:r>
            <a:endParaRPr lang="en-US" sz="1200" dirty="0"/>
          </a:p>
        </p:txBody>
      </p:sp>
      <p:sp>
        <p:nvSpPr>
          <p:cNvPr id="7" name="Pas Consecință"/>
          <p:cNvSpPr/>
          <p:nvPr/>
        </p:nvSpPr>
        <p:spPr>
          <a:xfrm>
            <a:off x="7635240" y="4114800"/>
            <a:ext cx="1371600" cy="1371600"/>
          </a:xfrm>
          <a:prstGeom prst="ellipse">
            <a:avLst/>
          </a:prstGeom>
          <a:solidFill>
            <a:srgbClr val="F96167"/>
          </a:solidFill>
          <a:ln w="12700">
            <a:solidFill>
              <a:srgbClr val="F96167"/>
            </a:solidFill>
            <a:prstDash val="solid"/>
          </a:ln>
        </p:spPr>
      </p:sp>
      <p:sp>
        <p:nvSpPr>
          <p:cNvPr id="8" name="Eticheta Consecință"/>
          <p:cNvSpPr txBox="1"/>
          <p:nvPr/>
        </p:nvSpPr>
        <p:spPr>
          <a:xfrm>
            <a:off x="7635240" y="4114800"/>
            <a:ext cx="1371600" cy="1371600"/>
          </a:xfrm>
          <a:prstGeom prst="rect">
            <a:avLst/>
          </a:prstGeom>
          <a:noFill/>
          <a:ln/>
        </p:spPr>
        <p:txBody>
          <a:bodyPr wrap="square" lIns="254" tIns="254" rIns="254" bIns="254" rtlCol="0" anchor="ctr"/>
          <a:lstStyle/>
          <a:p>
            <a:pPr algn="ctr" indent="0" marL="0">
              <a:buNone/>
            </a:pPr>
            <a:r>
              <a:rPr lang="en-US" sz="1200" b="1" dirty="0">
                <a:solidFill>
                  <a:srgbClr val="FFFFFF"/>
                </a:solidFill>
              </a:rPr>
              <a:t>Consecință</a:t>
            </a:r>
            <a:endParaRPr lang="en-US" sz="1200" dirty="0"/>
          </a:p>
        </p:txBody>
      </p:sp>
      <p:sp>
        <p:nvSpPr>
          <p:cNvPr id="9" name="Pas Repetare"/>
          <p:cNvSpPr/>
          <p:nvPr/>
        </p:nvSpPr>
        <p:spPr>
          <a:xfrm>
            <a:off x="9829800" y="4114800"/>
            <a:ext cx="1371600" cy="1371600"/>
          </a:xfrm>
          <a:prstGeom prst="ellipse">
            <a:avLst/>
          </a:prstGeom>
          <a:solidFill>
            <a:srgbClr val="2F3C7E"/>
          </a:solidFill>
          <a:ln w="12700">
            <a:solidFill>
              <a:srgbClr val="2F3C7E"/>
            </a:solidFill>
            <a:prstDash val="solid"/>
          </a:ln>
        </p:spPr>
      </p:sp>
      <p:sp>
        <p:nvSpPr>
          <p:cNvPr id="10" name="Eticheta Repetare"/>
          <p:cNvSpPr txBox="1"/>
          <p:nvPr/>
        </p:nvSpPr>
        <p:spPr>
          <a:xfrm>
            <a:off x="9829800" y="4114800"/>
            <a:ext cx="1371600" cy="1371600"/>
          </a:xfrm>
          <a:prstGeom prst="rect">
            <a:avLst/>
          </a:prstGeom>
          <a:noFill/>
          <a:ln/>
        </p:spPr>
        <p:txBody>
          <a:bodyPr wrap="square" lIns="254" tIns="254" rIns="254" bIns="254" rtlCol="0" anchor="ctr"/>
          <a:lstStyle/>
          <a:p>
            <a:pPr algn="ctr" indent="0" marL="0">
              <a:buNone/>
            </a:pPr>
            <a:r>
              <a:rPr lang="en-US" sz="1200" b="1" dirty="0">
                <a:solidFill>
                  <a:srgbClr val="FFFFFF"/>
                </a:solidFill>
              </a:rPr>
              <a:t>Repetare</a:t>
            </a:r>
            <a:endParaRPr lang="en-US" sz="1200" dirty="0"/>
          </a:p>
        </p:txBody>
      </p:sp>
      <p:sp>
        <p:nvSpPr>
          <p:cNvPr id="11" name="Sageata 1"/>
          <p:cNvSpPr/>
          <p:nvPr/>
        </p:nvSpPr>
        <p:spPr>
          <a:xfrm flipH="1">
            <a:off x="8549640" y="3246120"/>
            <a:ext cx="685800" cy="868680"/>
          </a:xfrm>
          <a:prstGeom prst="line">
            <a:avLst/>
          </a:prstGeom>
          <a:noFill/>
          <a:ln w="25400">
            <a:solidFill>
              <a:srgbClr val="6B7280"/>
            </a:solidFill>
            <a:prstDash val="solid"/>
            <a:tailEnd type="triangle"/>
          </a:ln>
        </p:spPr>
      </p:sp>
      <p:sp>
        <p:nvSpPr>
          <p:cNvPr id="12" name="Sageata 2"/>
          <p:cNvSpPr/>
          <p:nvPr/>
        </p:nvSpPr>
        <p:spPr>
          <a:xfrm>
            <a:off x="9006840" y="4800600"/>
            <a:ext cx="822960" cy="0"/>
          </a:xfrm>
          <a:prstGeom prst="line">
            <a:avLst/>
          </a:prstGeom>
          <a:noFill/>
          <a:ln w="25400">
            <a:solidFill>
              <a:srgbClr val="6B7280"/>
            </a:solidFill>
            <a:prstDash val="solid"/>
            <a:tailEnd type="triangle"/>
          </a:ln>
        </p:spPr>
      </p:sp>
      <p:sp>
        <p:nvSpPr>
          <p:cNvPr id="13" name="Sageata 3"/>
          <p:cNvSpPr/>
          <p:nvPr/>
        </p:nvSpPr>
        <p:spPr>
          <a:xfrm flipV="1">
            <a:off x="9601200" y="3246120"/>
            <a:ext cx="685800" cy="868680"/>
          </a:xfrm>
          <a:prstGeom prst="line">
            <a:avLst/>
          </a:prstGeom>
          <a:noFill/>
          <a:ln w="25400">
            <a:solidFill>
              <a:srgbClr val="6B7280"/>
            </a:solidFill>
            <a:prstDash val="solid"/>
            <a:tailEnd type="triangle"/>
          </a:ln>
        </p:spPr>
      </p:sp>
      <p:sp>
        <p:nvSpPr>
          <p:cNvPr id="14" name="Eticheta recompensa întărește"/>
          <p:cNvSpPr txBox="1"/>
          <p:nvPr/>
        </p:nvSpPr>
        <p:spPr>
          <a:xfrm>
            <a:off x="7589520" y="5623560"/>
            <a:ext cx="3657600" cy="365760"/>
          </a:xfrm>
          <a:prstGeom prst="rect">
            <a:avLst/>
          </a:prstGeom>
          <a:noFill/>
          <a:ln/>
        </p:spPr>
        <p:txBody>
          <a:bodyPr wrap="square" lIns="254" tIns="254" rIns="254" bIns="254" rtlCol="0" anchor="ctr"/>
          <a:lstStyle/>
          <a:p>
            <a:pPr algn="ctr" indent="0" marL="0">
              <a:buNone/>
            </a:pPr>
            <a:r>
              <a:rPr lang="en-US" sz="1100" i="1" dirty="0">
                <a:solidFill>
                  <a:srgbClr val="6B7280"/>
                </a:solidFill>
              </a:rPr>
              <a:t>recompensa întărește, lipsa ei stinge</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Perspectiva umanistă: Maslow</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Trebuințele sunt ierarhizate: fiziologice, siguranță, apartenență, stimă, autorealizare</a:t>
            </a:r>
            <a:endParaRPr lang="en-US" sz="1600" dirty="0"/>
          </a:p>
          <a:p>
            <a:pPr marL="228600" indent="-228600">
              <a:spcAft>
                <a:spcPts val="1000"/>
              </a:spcAft>
              <a:buSzPct val="100000"/>
              <a:buChar char="•"/>
            </a:pPr>
            <a:r>
              <a:rPr lang="en-US" sz="1600" dirty="0">
                <a:solidFill>
                  <a:srgbClr val="1F2A44"/>
                </a:solidFill>
              </a:rPr>
              <a:t>O trebuință superioară apare după satisfacerea celor de bază</a:t>
            </a:r>
            <a:endParaRPr lang="en-US" sz="1600" dirty="0"/>
          </a:p>
          <a:p>
            <a:pPr marL="228600" indent="-228600">
              <a:spcAft>
                <a:spcPts val="1000"/>
              </a:spcAft>
              <a:buSzPct val="100000"/>
              <a:buChar char="•"/>
            </a:pPr>
            <a:r>
              <a:rPr lang="en-US" sz="1600" dirty="0">
                <a:solidFill>
                  <a:srgbClr val="1F2A44"/>
                </a:solidFill>
              </a:rPr>
              <a:t>Un elev flămând, obosit sau speriat nu e disponibil pentru învățare</a:t>
            </a:r>
            <a:endParaRPr lang="en-US" sz="1600" dirty="0"/>
          </a:p>
          <a:p>
            <a:pPr marL="228600" indent="-228600">
              <a:spcAft>
                <a:spcPts val="1000"/>
              </a:spcAft>
              <a:buSzPct val="100000"/>
              <a:buChar char="•"/>
            </a:pPr>
            <a:r>
              <a:rPr lang="en-US" sz="1600" dirty="0">
                <a:solidFill>
                  <a:srgbClr val="1F2A44"/>
                </a:solidFill>
              </a:rPr>
              <a:t>Clasa trebuie să fie un loc sigur înainte de a fi un loc de performanță</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Nivel Autorealizare"/>
          <p:cNvSpPr/>
          <p:nvPr/>
        </p:nvSpPr>
        <p:spPr>
          <a:xfrm>
            <a:off x="8869680" y="1965960"/>
            <a:ext cx="1097280" cy="731520"/>
          </a:xfrm>
          <a:prstGeom prst="trapezoid">
            <a:avLst/>
          </a:prstGeom>
          <a:solidFill>
            <a:srgbClr val="F96167"/>
          </a:solidFill>
          <a:ln w="12700">
            <a:solidFill>
              <a:srgbClr val="FFFFFF"/>
            </a:solidFill>
            <a:prstDash val="solid"/>
          </a:ln>
        </p:spPr>
      </p:sp>
      <p:sp>
        <p:nvSpPr>
          <p:cNvPr id="6" name="Eticheta Autorealizare"/>
          <p:cNvSpPr txBox="1"/>
          <p:nvPr/>
        </p:nvSpPr>
        <p:spPr>
          <a:xfrm>
            <a:off x="8869680" y="1965960"/>
            <a:ext cx="1097280" cy="731520"/>
          </a:xfrm>
          <a:prstGeom prst="rect">
            <a:avLst/>
          </a:prstGeom>
          <a:noFill/>
          <a:ln/>
        </p:spPr>
        <p:txBody>
          <a:bodyPr wrap="square" lIns="254" tIns="254" rIns="254" bIns="254" rtlCol="0" anchor="ctr"/>
          <a:lstStyle/>
          <a:p>
            <a:pPr algn="ctr" indent="0" marL="0">
              <a:buNone/>
            </a:pPr>
            <a:r>
              <a:rPr lang="en-US" sz="1100" b="1" dirty="0">
                <a:solidFill>
                  <a:srgbClr val="FFFFFF"/>
                </a:solidFill>
              </a:rPr>
              <a:t>Autorealizare</a:t>
            </a:r>
            <a:endParaRPr lang="en-US" sz="1100" dirty="0"/>
          </a:p>
        </p:txBody>
      </p:sp>
      <p:sp>
        <p:nvSpPr>
          <p:cNvPr id="7" name="Nivel Stimă"/>
          <p:cNvSpPr/>
          <p:nvPr/>
        </p:nvSpPr>
        <p:spPr>
          <a:xfrm>
            <a:off x="8513064" y="2752344"/>
            <a:ext cx="1810512" cy="731520"/>
          </a:xfrm>
          <a:prstGeom prst="trapezoid">
            <a:avLst/>
          </a:prstGeom>
          <a:solidFill>
            <a:srgbClr val="2F3C7E">
              <a:alpha val="57000"/>
            </a:srgbClr>
          </a:solidFill>
          <a:ln w="12700">
            <a:solidFill>
              <a:srgbClr val="FFFFFF"/>
            </a:solidFill>
            <a:prstDash val="solid"/>
          </a:ln>
        </p:spPr>
      </p:sp>
      <p:sp>
        <p:nvSpPr>
          <p:cNvPr id="8" name="Eticheta Stimă"/>
          <p:cNvSpPr txBox="1"/>
          <p:nvPr/>
        </p:nvSpPr>
        <p:spPr>
          <a:xfrm>
            <a:off x="8513064" y="2752344"/>
            <a:ext cx="1810512" cy="731520"/>
          </a:xfrm>
          <a:prstGeom prst="rect">
            <a:avLst/>
          </a:prstGeom>
          <a:noFill/>
          <a:ln/>
        </p:spPr>
        <p:txBody>
          <a:bodyPr wrap="square" lIns="254" tIns="254" rIns="254" bIns="254" rtlCol="0" anchor="ctr"/>
          <a:lstStyle/>
          <a:p>
            <a:pPr algn="ctr" indent="0" marL="0">
              <a:buNone/>
            </a:pPr>
            <a:r>
              <a:rPr lang="en-US" sz="1100" b="1" dirty="0">
                <a:solidFill>
                  <a:srgbClr val="FFFFFF"/>
                </a:solidFill>
              </a:rPr>
              <a:t>Stimă</a:t>
            </a:r>
            <a:endParaRPr lang="en-US" sz="1100" dirty="0"/>
          </a:p>
        </p:txBody>
      </p:sp>
      <p:sp>
        <p:nvSpPr>
          <p:cNvPr id="9" name="Nivel Apartenență"/>
          <p:cNvSpPr/>
          <p:nvPr/>
        </p:nvSpPr>
        <p:spPr>
          <a:xfrm>
            <a:off x="8156448" y="3538728"/>
            <a:ext cx="2523744" cy="731520"/>
          </a:xfrm>
          <a:prstGeom prst="trapezoid">
            <a:avLst/>
          </a:prstGeom>
          <a:solidFill>
            <a:srgbClr val="2F3C7E">
              <a:alpha val="69000"/>
            </a:srgbClr>
          </a:solidFill>
          <a:ln w="12700">
            <a:solidFill>
              <a:srgbClr val="FFFFFF"/>
            </a:solidFill>
            <a:prstDash val="solid"/>
          </a:ln>
        </p:spPr>
      </p:sp>
      <p:sp>
        <p:nvSpPr>
          <p:cNvPr id="10" name="Eticheta Apartenență"/>
          <p:cNvSpPr txBox="1"/>
          <p:nvPr/>
        </p:nvSpPr>
        <p:spPr>
          <a:xfrm>
            <a:off x="8156448" y="3538728"/>
            <a:ext cx="2523744" cy="731520"/>
          </a:xfrm>
          <a:prstGeom prst="rect">
            <a:avLst/>
          </a:prstGeom>
          <a:noFill/>
          <a:ln/>
        </p:spPr>
        <p:txBody>
          <a:bodyPr wrap="square" lIns="254" tIns="254" rIns="254" bIns="254" rtlCol="0" anchor="ctr"/>
          <a:lstStyle/>
          <a:p>
            <a:pPr algn="ctr" indent="0" marL="0">
              <a:buNone/>
            </a:pPr>
            <a:r>
              <a:rPr lang="en-US" sz="1100" b="1" dirty="0">
                <a:solidFill>
                  <a:srgbClr val="FFFFFF"/>
                </a:solidFill>
              </a:rPr>
              <a:t>Apartenență</a:t>
            </a:r>
            <a:endParaRPr lang="en-US" sz="1100" dirty="0"/>
          </a:p>
        </p:txBody>
      </p:sp>
      <p:sp>
        <p:nvSpPr>
          <p:cNvPr id="11" name="Nivel Siguranță"/>
          <p:cNvSpPr/>
          <p:nvPr/>
        </p:nvSpPr>
        <p:spPr>
          <a:xfrm>
            <a:off x="7799832" y="4325112"/>
            <a:ext cx="3236976" cy="731520"/>
          </a:xfrm>
          <a:prstGeom prst="trapezoid">
            <a:avLst/>
          </a:prstGeom>
          <a:solidFill>
            <a:srgbClr val="2F3C7E">
              <a:alpha val="81000"/>
            </a:srgbClr>
          </a:solidFill>
          <a:ln w="12700">
            <a:solidFill>
              <a:srgbClr val="FFFFFF"/>
            </a:solidFill>
            <a:prstDash val="solid"/>
          </a:ln>
        </p:spPr>
      </p:sp>
      <p:sp>
        <p:nvSpPr>
          <p:cNvPr id="12" name="Eticheta Siguranță"/>
          <p:cNvSpPr txBox="1"/>
          <p:nvPr/>
        </p:nvSpPr>
        <p:spPr>
          <a:xfrm>
            <a:off x="7799832" y="4325112"/>
            <a:ext cx="3236976" cy="731520"/>
          </a:xfrm>
          <a:prstGeom prst="rect">
            <a:avLst/>
          </a:prstGeom>
          <a:noFill/>
          <a:ln/>
        </p:spPr>
        <p:txBody>
          <a:bodyPr wrap="square" lIns="254" tIns="254" rIns="254" bIns="254" rtlCol="0" anchor="ctr"/>
          <a:lstStyle/>
          <a:p>
            <a:pPr algn="ctr" indent="0" marL="0">
              <a:buNone/>
            </a:pPr>
            <a:r>
              <a:rPr lang="en-US" sz="1100" b="1" dirty="0">
                <a:solidFill>
                  <a:srgbClr val="FFFFFF"/>
                </a:solidFill>
              </a:rPr>
              <a:t>Siguranță</a:t>
            </a:r>
            <a:endParaRPr lang="en-US" sz="1100" dirty="0"/>
          </a:p>
        </p:txBody>
      </p:sp>
      <p:sp>
        <p:nvSpPr>
          <p:cNvPr id="13" name="Nivel Fiziologice"/>
          <p:cNvSpPr/>
          <p:nvPr/>
        </p:nvSpPr>
        <p:spPr>
          <a:xfrm>
            <a:off x="7443216" y="5111496"/>
            <a:ext cx="3950208" cy="731520"/>
          </a:xfrm>
          <a:prstGeom prst="trapezoid">
            <a:avLst/>
          </a:prstGeom>
          <a:solidFill>
            <a:srgbClr val="2F3C7E">
              <a:alpha val="93000"/>
            </a:srgbClr>
          </a:solidFill>
          <a:ln w="12700">
            <a:solidFill>
              <a:srgbClr val="FFFFFF"/>
            </a:solidFill>
            <a:prstDash val="solid"/>
          </a:ln>
        </p:spPr>
      </p:sp>
      <p:sp>
        <p:nvSpPr>
          <p:cNvPr id="14" name="Eticheta Fiziologice"/>
          <p:cNvSpPr txBox="1"/>
          <p:nvPr/>
        </p:nvSpPr>
        <p:spPr>
          <a:xfrm>
            <a:off x="7443216" y="5111496"/>
            <a:ext cx="3950208" cy="731520"/>
          </a:xfrm>
          <a:prstGeom prst="rect">
            <a:avLst/>
          </a:prstGeom>
          <a:noFill/>
          <a:ln/>
        </p:spPr>
        <p:txBody>
          <a:bodyPr wrap="square" lIns="254" tIns="254" rIns="254" bIns="254" rtlCol="0" anchor="ctr"/>
          <a:lstStyle/>
          <a:p>
            <a:pPr algn="ctr" indent="0" marL="0">
              <a:buNone/>
            </a:pPr>
            <a:r>
              <a:rPr lang="en-US" sz="1100" b="1" dirty="0">
                <a:solidFill>
                  <a:srgbClr val="FFFFFF"/>
                </a:solidFill>
              </a:rPr>
              <a:t>Fiziologice</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Perspectiva cognitivă</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Atkinson: motivația de realizare = nevoia de succes vs. teama de eșec</a:t>
            </a:r>
            <a:endParaRPr lang="en-US" sz="1600" dirty="0"/>
          </a:p>
          <a:p>
            <a:pPr marL="228600" indent="-228600">
              <a:spcAft>
                <a:spcPts val="1000"/>
              </a:spcAft>
              <a:buSzPct val="100000"/>
              <a:buChar char="•"/>
            </a:pPr>
            <a:r>
              <a:rPr lang="en-US" sz="1600" dirty="0">
                <a:solidFill>
                  <a:srgbClr val="1F2A44"/>
                </a:solidFill>
              </a:rPr>
              <a:t>Weiner (teoria atribuirii): contează cui atribuim reușita sau eșecul</a:t>
            </a:r>
            <a:endParaRPr lang="en-US" sz="1600" dirty="0"/>
          </a:p>
          <a:p>
            <a:pPr marL="228600" indent="-228600">
              <a:spcAft>
                <a:spcPts val="1000"/>
              </a:spcAft>
              <a:buSzPct val="100000"/>
              <a:buChar char="•"/>
            </a:pPr>
            <a:r>
              <a:rPr lang="en-US" sz="1600" dirty="0">
                <a:solidFill>
                  <a:srgbClr val="1F2A44"/>
                </a:solidFill>
              </a:rPr>
              <a:t>Atribuire internă și controlabilă (efortul) susține motivația</a:t>
            </a:r>
            <a:endParaRPr lang="en-US" sz="1600" dirty="0"/>
          </a:p>
          <a:p>
            <a:pPr marL="228600" indent="-228600">
              <a:spcAft>
                <a:spcPts val="1000"/>
              </a:spcAft>
              <a:buSzPct val="100000"/>
              <a:buChar char="•"/>
            </a:pPr>
            <a:r>
              <a:rPr lang="en-US" sz="1600" dirty="0">
                <a:solidFill>
                  <a:srgbClr val="1F2A44"/>
                </a:solidFill>
              </a:rPr>
              <a:t>Atribuire externă sau stabilă („n-am talent”, „arbitrul”) o distruge</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Intrebare atribuire"/>
          <p:cNvSpPr txBox="1"/>
          <p:nvPr/>
        </p:nvSpPr>
        <p:spPr>
          <a:xfrm>
            <a:off x="7589520" y="1920240"/>
            <a:ext cx="3657600" cy="457200"/>
          </a:xfrm>
          <a:prstGeom prst="rect">
            <a:avLst/>
          </a:prstGeom>
          <a:noFill/>
          <a:ln/>
        </p:spPr>
        <p:txBody>
          <a:bodyPr wrap="square" lIns="0" tIns="0" rIns="0" bIns="0" rtlCol="0" anchor="ctr"/>
          <a:lstStyle/>
          <a:p>
            <a:pPr algn="ctr" indent="0" marL="0">
              <a:buNone/>
            </a:pPr>
            <a:r>
              <a:rPr lang="en-US" sz="1400" b="1" dirty="0">
                <a:solidFill>
                  <a:srgbClr val="2F3C7E"/>
                </a:solidFill>
              </a:rPr>
              <a:t>„Am pierdut pentru că…”</a:t>
            </a:r>
            <a:endParaRPr lang="en-US" sz="1400" dirty="0"/>
          </a:p>
        </p:txBody>
      </p:sp>
      <p:sp>
        <p:nvSpPr>
          <p:cNvPr id="6" name="Card intern"/>
          <p:cNvSpPr/>
          <p:nvPr/>
        </p:nvSpPr>
        <p:spPr>
          <a:xfrm>
            <a:off x="7635240" y="2560320"/>
            <a:ext cx="3566160" cy="1417320"/>
          </a:xfrm>
          <a:prstGeom prst="roundRect">
            <a:avLst>
              <a:gd name="adj" fmla="val 6452"/>
            </a:avLst>
          </a:prstGeom>
          <a:solidFill>
            <a:srgbClr val="E6F4EA"/>
          </a:solidFill>
          <a:ln w="12700">
            <a:solidFill>
              <a:srgbClr val="E6F4EA"/>
            </a:solidFill>
            <a:prstDash val="solid"/>
          </a:ln>
        </p:spPr>
      </p:sp>
      <p:sp>
        <p:nvSpPr>
          <p:cNvPr id="7" name="Text intern"/>
          <p:cNvSpPr txBox="1"/>
          <p:nvPr/>
        </p:nvSpPr>
        <p:spPr>
          <a:xfrm>
            <a:off x="7772400" y="2651760"/>
            <a:ext cx="3291840" cy="1234440"/>
          </a:xfrm>
          <a:prstGeom prst="rect">
            <a:avLst/>
          </a:prstGeom>
          <a:noFill/>
          <a:ln/>
        </p:spPr>
        <p:txBody>
          <a:bodyPr wrap="square" lIns="0" tIns="0" rIns="0" bIns="0" rtlCol="0" anchor="ctr"/>
          <a:lstStyle/>
          <a:p>
            <a:pPr indent="0" marL="0">
              <a:buNone/>
            </a:pPr>
            <a:r>
              <a:rPr lang="en-US" sz="1400" b="1" dirty="0">
                <a:solidFill>
                  <a:srgbClr val="1E6B3A"/>
                </a:solidFill>
              </a:rPr>
              <a:t>…nu m-am antrenat destul</a:t>
            </a:r>
            <a:endParaRPr lang="en-US" sz="1400" dirty="0"/>
          </a:p>
          <a:p>
            <a:pPr indent="0" marL="0">
              <a:buNone/>
            </a:pPr>
            <a:r>
              <a:rPr lang="en-US" sz="1100" dirty="0">
                <a:solidFill>
                  <a:srgbClr val="6B7280"/>
                </a:solidFill>
              </a:rPr>
              <a:t>intern · controlabil → motivația rămâne</a:t>
            </a:r>
            <a:endParaRPr lang="en-US" sz="1400" dirty="0"/>
          </a:p>
        </p:txBody>
      </p:sp>
      <p:sp>
        <p:nvSpPr>
          <p:cNvPr id="8" name="Card extern"/>
          <p:cNvSpPr/>
          <p:nvPr/>
        </p:nvSpPr>
        <p:spPr>
          <a:xfrm>
            <a:off x="7635240" y="4160520"/>
            <a:ext cx="3566160" cy="1417320"/>
          </a:xfrm>
          <a:prstGeom prst="roundRect">
            <a:avLst>
              <a:gd name="adj" fmla="val 6452"/>
            </a:avLst>
          </a:prstGeom>
          <a:solidFill>
            <a:srgbClr val="FDE2E3"/>
          </a:solidFill>
          <a:ln w="12700">
            <a:solidFill>
              <a:srgbClr val="FDE2E3"/>
            </a:solidFill>
            <a:prstDash val="solid"/>
          </a:ln>
        </p:spPr>
      </p:sp>
      <p:sp>
        <p:nvSpPr>
          <p:cNvPr id="9" name="Text extern"/>
          <p:cNvSpPr txBox="1"/>
          <p:nvPr/>
        </p:nvSpPr>
        <p:spPr>
          <a:xfrm>
            <a:off x="7772400" y="4251960"/>
            <a:ext cx="3291840" cy="1234440"/>
          </a:xfrm>
          <a:prstGeom prst="rect">
            <a:avLst/>
          </a:prstGeom>
          <a:noFill/>
          <a:ln/>
        </p:spPr>
        <p:txBody>
          <a:bodyPr wrap="square" lIns="0" tIns="0" rIns="0" bIns="0" rtlCol="0" anchor="ctr"/>
          <a:lstStyle/>
          <a:p>
            <a:pPr indent="0" marL="0">
              <a:buNone/>
            </a:pPr>
            <a:r>
              <a:rPr lang="en-US" sz="1400" b="1" dirty="0">
                <a:solidFill>
                  <a:srgbClr val="A3262B"/>
                </a:solidFill>
              </a:rPr>
              <a:t>…n-am talent / arbitrul</a:t>
            </a:r>
            <a:endParaRPr lang="en-US" sz="1400" dirty="0"/>
          </a:p>
          <a:p>
            <a:pPr indent="0" marL="0">
              <a:buNone/>
            </a:pPr>
            <a:r>
              <a:rPr lang="en-US" sz="1100" dirty="0">
                <a:solidFill>
                  <a:srgbClr val="6B7280"/>
                </a:solidFill>
              </a:rPr>
              <a:t>stabil · extern → motivația se stinge</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Teoria autodeterminării: Deci și Ryan</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Trei nevoi psihologice de bază: autonomie, competență, relaționare</a:t>
            </a:r>
            <a:endParaRPr lang="en-US" sz="1600" dirty="0"/>
          </a:p>
          <a:p>
            <a:pPr marL="228600" indent="-228600">
              <a:spcAft>
                <a:spcPts val="1000"/>
              </a:spcAft>
              <a:buSzPct val="100000"/>
              <a:buChar char="•"/>
            </a:pPr>
            <a:r>
              <a:rPr lang="en-US" sz="1600" dirty="0">
                <a:solidFill>
                  <a:srgbClr val="1F2A44"/>
                </a:solidFill>
              </a:rPr>
              <a:t>Când sunt satisfăcute, motivația devine intrinsecă și durabilă</a:t>
            </a:r>
            <a:endParaRPr lang="en-US" sz="1600" dirty="0"/>
          </a:p>
          <a:p>
            <a:pPr marL="228600" indent="-228600">
              <a:spcAft>
                <a:spcPts val="1000"/>
              </a:spcAft>
              <a:buSzPct val="100000"/>
              <a:buChar char="•"/>
            </a:pPr>
            <a:r>
              <a:rPr lang="en-US" sz="1600" dirty="0">
                <a:solidFill>
                  <a:srgbClr val="1F2A44"/>
                </a:solidFill>
              </a:rPr>
              <a:t>Când sunt frustrate, apare amotivarea</a:t>
            </a:r>
            <a:endParaRPr lang="en-US" sz="1600" dirty="0"/>
          </a:p>
          <a:p>
            <a:pPr marL="228600" indent="-228600">
              <a:spcAft>
                <a:spcPts val="1000"/>
              </a:spcAft>
              <a:buSzPct val="100000"/>
              <a:buChar char="•"/>
            </a:pPr>
            <a:r>
              <a:rPr lang="en-US" sz="1600" dirty="0">
                <a:solidFill>
                  <a:srgbClr val="1F2A44"/>
                </a:solidFill>
              </a:rPr>
              <a:t>Continuum: amotivare → extrinsec → intrinsec</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Cerc trei 0"/>
          <p:cNvSpPr/>
          <p:nvPr/>
        </p:nvSpPr>
        <p:spPr>
          <a:xfrm>
            <a:off x="7680960" y="2011680"/>
            <a:ext cx="1005840" cy="1005840"/>
          </a:xfrm>
          <a:prstGeom prst="ellipse">
            <a:avLst/>
          </a:prstGeom>
          <a:solidFill>
            <a:srgbClr val="2F3C7E"/>
          </a:solidFill>
          <a:ln w="12700">
            <a:solidFill>
              <a:srgbClr val="2F3C7E"/>
            </a:solidFill>
            <a:prstDash val="solid"/>
          </a:ln>
        </p:spPr>
      </p:sp>
      <p:pic>
        <p:nvPicPr>
          <p:cNvPr id="6" name="Icon trei 0" descr="preencoded.png">    </p:cNvPr>
          <p:cNvPicPr>
            <a:picLocks noChangeAspect="1"/>
          </p:cNvPicPr>
          <p:nvPr/>
        </p:nvPicPr>
        <p:blipFill>
          <a:blip r:embed="rId1"/>
          <a:stretch>
            <a:fillRect/>
          </a:stretch>
        </p:blipFill>
        <p:spPr>
          <a:xfrm>
            <a:off x="7936992" y="2267712"/>
            <a:ext cx="493776" cy="493776"/>
          </a:xfrm>
          <a:prstGeom prst="rect">
            <a:avLst/>
          </a:prstGeom>
        </p:spPr>
      </p:pic>
      <p:sp>
        <p:nvSpPr>
          <p:cNvPr id="7" name="Eticheta Autonomie"/>
          <p:cNvSpPr txBox="1"/>
          <p:nvPr/>
        </p:nvSpPr>
        <p:spPr>
          <a:xfrm>
            <a:off x="8869680" y="2011680"/>
            <a:ext cx="2468880" cy="1005840"/>
          </a:xfrm>
          <a:prstGeom prst="rect">
            <a:avLst/>
          </a:prstGeom>
          <a:noFill/>
          <a:ln/>
        </p:spPr>
        <p:txBody>
          <a:bodyPr wrap="square" lIns="254" tIns="254" rIns="254" bIns="254" rtlCol="0" anchor="ctr"/>
          <a:lstStyle/>
          <a:p>
            <a:pPr algn="l" indent="0" marL="0">
              <a:buNone/>
            </a:pPr>
            <a:r>
              <a:rPr lang="en-US" sz="1800" b="1" dirty="0">
                <a:solidFill>
                  <a:srgbClr val="1F2A44"/>
                </a:solidFill>
              </a:rPr>
              <a:t>Autonomie</a:t>
            </a:r>
            <a:endParaRPr lang="en-US" sz="1800" dirty="0"/>
          </a:p>
        </p:txBody>
      </p:sp>
      <p:sp>
        <p:nvSpPr>
          <p:cNvPr id="8" name="Cerc trei 1"/>
          <p:cNvSpPr/>
          <p:nvPr/>
        </p:nvSpPr>
        <p:spPr>
          <a:xfrm>
            <a:off x="7680960" y="3337560"/>
            <a:ext cx="1005840" cy="1005840"/>
          </a:xfrm>
          <a:prstGeom prst="ellipse">
            <a:avLst/>
          </a:prstGeom>
          <a:solidFill>
            <a:srgbClr val="F96167"/>
          </a:solidFill>
          <a:ln w="12700">
            <a:solidFill>
              <a:srgbClr val="F96167"/>
            </a:solidFill>
            <a:prstDash val="solid"/>
          </a:ln>
        </p:spPr>
      </p:sp>
      <p:pic>
        <p:nvPicPr>
          <p:cNvPr id="9" name="Icon trei 1" descr="preencoded.png">    </p:cNvPr>
          <p:cNvPicPr>
            <a:picLocks noChangeAspect="1"/>
          </p:cNvPicPr>
          <p:nvPr/>
        </p:nvPicPr>
        <p:blipFill>
          <a:blip r:embed="rId2"/>
          <a:stretch>
            <a:fillRect/>
          </a:stretch>
        </p:blipFill>
        <p:spPr>
          <a:xfrm>
            <a:off x="7936992" y="3593592"/>
            <a:ext cx="493776" cy="493776"/>
          </a:xfrm>
          <a:prstGeom prst="rect">
            <a:avLst/>
          </a:prstGeom>
        </p:spPr>
      </p:pic>
      <p:sp>
        <p:nvSpPr>
          <p:cNvPr id="10" name="Eticheta Competență"/>
          <p:cNvSpPr txBox="1"/>
          <p:nvPr/>
        </p:nvSpPr>
        <p:spPr>
          <a:xfrm>
            <a:off x="8869680" y="3337560"/>
            <a:ext cx="2468880" cy="1005840"/>
          </a:xfrm>
          <a:prstGeom prst="rect">
            <a:avLst/>
          </a:prstGeom>
          <a:noFill/>
          <a:ln/>
        </p:spPr>
        <p:txBody>
          <a:bodyPr wrap="square" lIns="254" tIns="254" rIns="254" bIns="254" rtlCol="0" anchor="ctr"/>
          <a:lstStyle/>
          <a:p>
            <a:pPr algn="l" indent="0" marL="0">
              <a:buNone/>
            </a:pPr>
            <a:r>
              <a:rPr lang="en-US" sz="1800" b="1" dirty="0">
                <a:solidFill>
                  <a:srgbClr val="1F2A44"/>
                </a:solidFill>
              </a:rPr>
              <a:t>Competență</a:t>
            </a:r>
            <a:endParaRPr lang="en-US" sz="1800" dirty="0"/>
          </a:p>
        </p:txBody>
      </p:sp>
      <p:sp>
        <p:nvSpPr>
          <p:cNvPr id="11" name="Cerc trei 2"/>
          <p:cNvSpPr/>
          <p:nvPr/>
        </p:nvSpPr>
        <p:spPr>
          <a:xfrm>
            <a:off x="7680960" y="4663440"/>
            <a:ext cx="1005840" cy="1005840"/>
          </a:xfrm>
          <a:prstGeom prst="ellipse">
            <a:avLst/>
          </a:prstGeom>
          <a:solidFill>
            <a:srgbClr val="2F3C7E"/>
          </a:solidFill>
          <a:ln w="12700">
            <a:solidFill>
              <a:srgbClr val="2F3C7E"/>
            </a:solidFill>
            <a:prstDash val="solid"/>
          </a:ln>
        </p:spPr>
      </p:sp>
      <p:pic>
        <p:nvPicPr>
          <p:cNvPr id="12" name="Icon trei 2" descr="preencoded.png">    </p:cNvPr>
          <p:cNvPicPr>
            <a:picLocks noChangeAspect="1"/>
          </p:cNvPicPr>
          <p:nvPr/>
        </p:nvPicPr>
        <p:blipFill>
          <a:blip r:embed="rId3"/>
          <a:stretch>
            <a:fillRect/>
          </a:stretch>
        </p:blipFill>
        <p:spPr>
          <a:xfrm>
            <a:off x="7936992" y="4919472"/>
            <a:ext cx="493776" cy="493776"/>
          </a:xfrm>
          <a:prstGeom prst="rect">
            <a:avLst/>
          </a:prstGeom>
        </p:spPr>
      </p:pic>
      <p:sp>
        <p:nvSpPr>
          <p:cNvPr id="13" name="Eticheta Relaționare"/>
          <p:cNvSpPr txBox="1"/>
          <p:nvPr/>
        </p:nvSpPr>
        <p:spPr>
          <a:xfrm>
            <a:off x="8869680" y="4663440"/>
            <a:ext cx="2468880" cy="1005840"/>
          </a:xfrm>
          <a:prstGeom prst="rect">
            <a:avLst/>
          </a:prstGeom>
          <a:noFill/>
          <a:ln/>
        </p:spPr>
        <p:txBody>
          <a:bodyPr wrap="square" lIns="254" tIns="254" rIns="254" bIns="254" rtlCol="0" anchor="ctr"/>
          <a:lstStyle/>
          <a:p>
            <a:pPr algn="l" indent="0" marL="0">
              <a:buNone/>
            </a:pPr>
            <a:r>
              <a:rPr lang="en-US" sz="1800" b="1" dirty="0">
                <a:solidFill>
                  <a:srgbClr val="1F2A44"/>
                </a:solidFill>
              </a:rPr>
              <a:t>Relaționare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Autoeficacitatea: Bandura</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Încrederea că „pot face asta” prezice efortul și perseverența</a:t>
            </a:r>
            <a:endParaRPr lang="en-US" sz="1600" dirty="0"/>
          </a:p>
          <a:p>
            <a:pPr marL="228600" indent="-228600">
              <a:spcAft>
                <a:spcPts val="1000"/>
              </a:spcAft>
              <a:buSzPct val="100000"/>
              <a:buChar char="•"/>
            </a:pPr>
            <a:r>
              <a:rPr lang="en-US" sz="1600" dirty="0">
                <a:solidFill>
                  <a:srgbClr val="1F2A44"/>
                </a:solidFill>
              </a:rPr>
              <a:t>Surse: reușite proprii, modele asemănătoare, încurajare, stare fizică</a:t>
            </a:r>
            <a:endParaRPr lang="en-US" sz="1600" dirty="0"/>
          </a:p>
          <a:p>
            <a:pPr marL="228600" indent="-228600">
              <a:spcAft>
                <a:spcPts val="1000"/>
              </a:spcAft>
              <a:buSzPct val="100000"/>
              <a:buChar char="•"/>
            </a:pPr>
            <a:r>
              <a:rPr lang="en-US" sz="1600" dirty="0">
                <a:solidFill>
                  <a:srgbClr val="1F2A44"/>
                </a:solidFill>
              </a:rPr>
              <a:t>Cea mai puternică sursă: experiența reușitei</a:t>
            </a:r>
            <a:endParaRPr lang="en-US" sz="1600" dirty="0"/>
          </a:p>
          <a:p>
            <a:pPr marL="228600" indent="-228600">
              <a:spcAft>
                <a:spcPts val="1000"/>
              </a:spcAft>
              <a:buSzPct val="100000"/>
              <a:buChar char="•"/>
            </a:pPr>
            <a:r>
              <a:rPr lang="en-US" sz="1600" dirty="0">
                <a:solidFill>
                  <a:srgbClr val="1F2A44"/>
                </a:solidFill>
              </a:rPr>
              <a:t>Sarcini progresive, cu reușită garantată la început</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Centru autoeficacitate"/>
          <p:cNvSpPr/>
          <p:nvPr/>
        </p:nvSpPr>
        <p:spPr>
          <a:xfrm>
            <a:off x="8641080" y="3200400"/>
            <a:ext cx="1554480" cy="1554480"/>
          </a:xfrm>
          <a:prstGeom prst="ellipse">
            <a:avLst/>
          </a:prstGeom>
          <a:solidFill>
            <a:srgbClr val="F96167"/>
          </a:solidFill>
          <a:ln w="12700">
            <a:solidFill>
              <a:srgbClr val="F96167"/>
            </a:solidFill>
            <a:prstDash val="solid"/>
          </a:ln>
        </p:spPr>
      </p:sp>
      <p:sp>
        <p:nvSpPr>
          <p:cNvPr id="6" name="Eticheta „Pot!”"/>
          <p:cNvSpPr txBox="1"/>
          <p:nvPr/>
        </p:nvSpPr>
        <p:spPr>
          <a:xfrm>
            <a:off x="8641080" y="3200400"/>
            <a:ext cx="1554480" cy="1554480"/>
          </a:xfrm>
          <a:prstGeom prst="rect">
            <a:avLst/>
          </a:prstGeom>
          <a:noFill/>
          <a:ln/>
        </p:spPr>
        <p:txBody>
          <a:bodyPr wrap="square" lIns="254" tIns="254" rIns="254" bIns="254" rtlCol="0" anchor="ctr"/>
          <a:lstStyle/>
          <a:p>
            <a:pPr algn="ctr" indent="0" marL="0">
              <a:buNone/>
            </a:pPr>
            <a:r>
              <a:rPr lang="en-US" sz="2200" b="1" dirty="0">
                <a:solidFill>
                  <a:srgbClr val="FFFFFF"/>
                </a:solidFill>
              </a:rPr>
              <a:t>„Pot!”</a:t>
            </a:r>
            <a:endParaRPr lang="en-US" sz="2200" dirty="0"/>
          </a:p>
        </p:txBody>
      </p:sp>
      <p:sp>
        <p:nvSpPr>
          <p:cNvPr id="7" name="Sursa Reușite proprii"/>
          <p:cNvSpPr/>
          <p:nvPr/>
        </p:nvSpPr>
        <p:spPr>
          <a:xfrm>
            <a:off x="7543800" y="1920240"/>
            <a:ext cx="1554480" cy="822960"/>
          </a:xfrm>
          <a:prstGeom prst="roundRect">
            <a:avLst>
              <a:gd name="adj" fmla="val 11111"/>
            </a:avLst>
          </a:prstGeom>
          <a:solidFill>
            <a:srgbClr val="2F3C7E"/>
          </a:solidFill>
          <a:ln w="12700">
            <a:solidFill>
              <a:srgbClr val="2F3C7E"/>
            </a:solidFill>
            <a:prstDash val="solid"/>
          </a:ln>
        </p:spPr>
      </p:sp>
      <p:sp>
        <p:nvSpPr>
          <p:cNvPr id="8" name="Eticheta Reușite proprii"/>
          <p:cNvSpPr txBox="1"/>
          <p:nvPr/>
        </p:nvSpPr>
        <p:spPr>
          <a:xfrm>
            <a:off x="7543800" y="1920240"/>
            <a:ext cx="1554480" cy="822960"/>
          </a:xfrm>
          <a:prstGeom prst="rect">
            <a:avLst/>
          </a:prstGeom>
          <a:noFill/>
          <a:ln/>
        </p:spPr>
        <p:txBody>
          <a:bodyPr wrap="square" lIns="254" tIns="254" rIns="254" bIns="254" rtlCol="0" anchor="ctr"/>
          <a:lstStyle/>
          <a:p>
            <a:pPr algn="ctr" indent="0" marL="0">
              <a:buNone/>
            </a:pPr>
            <a:r>
              <a:rPr lang="en-US" sz="1200" b="1" dirty="0">
                <a:solidFill>
                  <a:srgbClr val="FFFFFF"/>
                </a:solidFill>
              </a:rPr>
              <a:t>Reușite proprii</a:t>
            </a:r>
            <a:endParaRPr lang="en-US" sz="1200" dirty="0"/>
          </a:p>
        </p:txBody>
      </p:sp>
      <p:sp>
        <p:nvSpPr>
          <p:cNvPr id="9" name="Sursa Modele"/>
          <p:cNvSpPr/>
          <p:nvPr/>
        </p:nvSpPr>
        <p:spPr>
          <a:xfrm>
            <a:off x="9738360" y="1920240"/>
            <a:ext cx="1554480" cy="822960"/>
          </a:xfrm>
          <a:prstGeom prst="roundRect">
            <a:avLst>
              <a:gd name="adj" fmla="val 11111"/>
            </a:avLst>
          </a:prstGeom>
          <a:solidFill>
            <a:srgbClr val="E8EAF3"/>
          </a:solidFill>
          <a:ln w="12700">
            <a:solidFill>
              <a:srgbClr val="E8EAF3"/>
            </a:solidFill>
            <a:prstDash val="solid"/>
          </a:ln>
        </p:spPr>
      </p:sp>
      <p:sp>
        <p:nvSpPr>
          <p:cNvPr id="10" name="Eticheta Modele"/>
          <p:cNvSpPr txBox="1"/>
          <p:nvPr/>
        </p:nvSpPr>
        <p:spPr>
          <a:xfrm>
            <a:off x="9738360" y="1920240"/>
            <a:ext cx="1554480" cy="822960"/>
          </a:xfrm>
          <a:prstGeom prst="rect">
            <a:avLst/>
          </a:prstGeom>
          <a:noFill/>
          <a:ln/>
        </p:spPr>
        <p:txBody>
          <a:bodyPr wrap="square" lIns="254" tIns="254" rIns="254" bIns="254" rtlCol="0" anchor="ctr"/>
          <a:lstStyle/>
          <a:p>
            <a:pPr algn="ctr" indent="0" marL="0">
              <a:buNone/>
            </a:pPr>
            <a:r>
              <a:rPr lang="en-US" sz="1200" b="1" dirty="0">
                <a:solidFill>
                  <a:srgbClr val="1F2A44"/>
                </a:solidFill>
              </a:rPr>
              <a:t>Modele</a:t>
            </a:r>
            <a:endParaRPr lang="en-US" sz="1200" dirty="0"/>
          </a:p>
        </p:txBody>
      </p:sp>
      <p:sp>
        <p:nvSpPr>
          <p:cNvPr id="11" name="Sursa Încurajare"/>
          <p:cNvSpPr/>
          <p:nvPr/>
        </p:nvSpPr>
        <p:spPr>
          <a:xfrm>
            <a:off x="7543800" y="4937760"/>
            <a:ext cx="1554480" cy="822960"/>
          </a:xfrm>
          <a:prstGeom prst="roundRect">
            <a:avLst>
              <a:gd name="adj" fmla="val 11111"/>
            </a:avLst>
          </a:prstGeom>
          <a:solidFill>
            <a:srgbClr val="E8EAF3"/>
          </a:solidFill>
          <a:ln w="12700">
            <a:solidFill>
              <a:srgbClr val="E8EAF3"/>
            </a:solidFill>
            <a:prstDash val="solid"/>
          </a:ln>
        </p:spPr>
      </p:sp>
      <p:sp>
        <p:nvSpPr>
          <p:cNvPr id="12" name="Eticheta Încurajare"/>
          <p:cNvSpPr txBox="1"/>
          <p:nvPr/>
        </p:nvSpPr>
        <p:spPr>
          <a:xfrm>
            <a:off x="7543800" y="4937760"/>
            <a:ext cx="1554480" cy="822960"/>
          </a:xfrm>
          <a:prstGeom prst="rect">
            <a:avLst/>
          </a:prstGeom>
          <a:noFill/>
          <a:ln/>
        </p:spPr>
        <p:txBody>
          <a:bodyPr wrap="square" lIns="254" tIns="254" rIns="254" bIns="254" rtlCol="0" anchor="ctr"/>
          <a:lstStyle/>
          <a:p>
            <a:pPr algn="ctr" indent="0" marL="0">
              <a:buNone/>
            </a:pPr>
            <a:r>
              <a:rPr lang="en-US" sz="1200" b="1" dirty="0">
                <a:solidFill>
                  <a:srgbClr val="1F2A44"/>
                </a:solidFill>
              </a:rPr>
              <a:t>Încurajare</a:t>
            </a:r>
            <a:endParaRPr lang="en-US" sz="1200" dirty="0"/>
          </a:p>
        </p:txBody>
      </p:sp>
      <p:sp>
        <p:nvSpPr>
          <p:cNvPr id="13" name="Sursa Stare fizică"/>
          <p:cNvSpPr/>
          <p:nvPr/>
        </p:nvSpPr>
        <p:spPr>
          <a:xfrm>
            <a:off x="9738360" y="4937760"/>
            <a:ext cx="1554480" cy="822960"/>
          </a:xfrm>
          <a:prstGeom prst="roundRect">
            <a:avLst>
              <a:gd name="adj" fmla="val 11111"/>
            </a:avLst>
          </a:prstGeom>
          <a:solidFill>
            <a:srgbClr val="E8EAF3"/>
          </a:solidFill>
          <a:ln w="12700">
            <a:solidFill>
              <a:srgbClr val="E8EAF3"/>
            </a:solidFill>
            <a:prstDash val="solid"/>
          </a:ln>
        </p:spPr>
      </p:sp>
      <p:sp>
        <p:nvSpPr>
          <p:cNvPr id="14" name="Eticheta Stare fizică"/>
          <p:cNvSpPr txBox="1"/>
          <p:nvPr/>
        </p:nvSpPr>
        <p:spPr>
          <a:xfrm>
            <a:off x="9738360" y="4937760"/>
            <a:ext cx="1554480" cy="822960"/>
          </a:xfrm>
          <a:prstGeom prst="rect">
            <a:avLst/>
          </a:prstGeom>
          <a:noFill/>
          <a:ln/>
        </p:spPr>
        <p:txBody>
          <a:bodyPr wrap="square" lIns="254" tIns="254" rIns="254" bIns="254" rtlCol="0" anchor="ctr"/>
          <a:lstStyle/>
          <a:p>
            <a:pPr algn="ctr" indent="0" marL="0">
              <a:buNone/>
            </a:pPr>
            <a:r>
              <a:rPr lang="en-US" sz="1200" b="1" dirty="0">
                <a:solidFill>
                  <a:srgbClr val="1F2A44"/>
                </a:solidFill>
              </a:rPr>
              <a:t>Stare fizică</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ticheta parte"/>
          <p:cNvSpPr txBox="1"/>
          <p:nvPr/>
        </p:nvSpPr>
        <p:spPr>
          <a:xfrm>
            <a:off x="731520" y="1463040"/>
            <a:ext cx="5486400" cy="457200"/>
          </a:xfrm>
          <a:prstGeom prst="rect">
            <a:avLst/>
          </a:prstGeom>
          <a:noFill/>
          <a:ln/>
        </p:spPr>
        <p:txBody>
          <a:bodyPr wrap="square" lIns="0" tIns="0" rIns="0" bIns="0" rtlCol="0" anchor="ctr"/>
          <a:lstStyle/>
          <a:p>
            <a:pPr indent="0" marL="0">
              <a:buNone/>
            </a:pPr>
            <a:r>
              <a:rPr lang="en-US" sz="1600" b="1" spc="400" kern="0" dirty="0">
                <a:solidFill>
                  <a:srgbClr val="F9E795"/>
                </a:solidFill>
              </a:rPr>
              <a:t>PARTEA 3</a:t>
            </a:r>
            <a:endParaRPr lang="en-US" sz="1600" dirty="0"/>
          </a:p>
        </p:txBody>
      </p:sp>
      <p:sp>
        <p:nvSpPr>
          <p:cNvPr id="3" name="Numar mare"/>
          <p:cNvSpPr txBox="1"/>
          <p:nvPr/>
        </p:nvSpPr>
        <p:spPr>
          <a:xfrm>
            <a:off x="8503920" y="1097280"/>
            <a:ext cx="2926080" cy="3291840"/>
          </a:xfrm>
          <a:prstGeom prst="rect">
            <a:avLst/>
          </a:prstGeom>
          <a:noFill/>
          <a:ln/>
        </p:spPr>
        <p:txBody>
          <a:bodyPr wrap="square" lIns="0" tIns="0" rIns="0" bIns="0" rtlCol="0" anchor="ctr"/>
          <a:lstStyle/>
          <a:p>
            <a:pPr algn="r" indent="0" marL="0">
              <a:buNone/>
            </a:pPr>
            <a:r>
              <a:rPr lang="en-US" sz="20000" b="1" dirty="0">
                <a:solidFill>
                  <a:srgbClr val="FFFFFF">
                    <a:alpha val="15000"/>
                  </a:srgbClr>
                </a:solidFill>
              </a:rPr>
              <a:t>3</a:t>
            </a:r>
            <a:endParaRPr lang="en-US" sz="20000" dirty="0"/>
          </a:p>
        </p:txBody>
      </p:sp>
      <p:sp>
        <p:nvSpPr>
          <p:cNvPr id="4" name="Text 0"/>
          <p:cNvSpPr/>
          <p:nvPr>
            <p:ph idx="100" type="title" hasCustomPrompt="1"/>
          </p:nvPr>
        </p:nvSpPr>
        <p:spPr>
          <a:xfrm>
            <a:off x="731520" y="2377440"/>
            <a:ext cx="10698480" cy="1463040"/>
          </a:xfrm>
          <a:prstGeom prst="rect">
            <a:avLst/>
          </a:prstGeom>
          <a:noFill/>
          <a:ln/>
        </p:spPr>
        <p:txBody>
          <a:bodyPr wrap="square" lIns="0" tIns="0" rIns="0" bIns="0" rtlCol="0" anchor="ctr"/>
          <a:lstStyle/>
          <a:p>
            <a:pPr algn="l" indent="0" marL="0">
              <a:buNone/>
            </a:pPr>
            <a:r>
              <a:rPr lang="en-US" sz="3800" b="1" dirty="0">
                <a:solidFill>
                  <a:srgbClr val="FFFFFF"/>
                </a:solidFill>
              </a:rPr>
              <a:t>Rolul structurii motivaționale în activitatea instructiv-educativă</a:t>
            </a:r>
            <a:endParaRPr lang="en-US" sz="3800" dirty="0"/>
          </a:p>
        </p:txBody>
      </p:sp>
      <p:sp>
        <p:nvSpPr>
          <p:cNvPr id="5" name="Text 0"/>
          <p:cNvSpPr/>
          <p:nvPr>
            <p:ph idx="101" type="body" hasCustomPrompt="1"/>
          </p:nvPr>
        </p:nvSpPr>
        <p:spPr>
          <a:xfrm>
            <a:off x="731520" y="3931920"/>
            <a:ext cx="10698480" cy="822960"/>
          </a:xfrm>
          <a:prstGeom prst="rect">
            <a:avLst/>
          </a:prstGeom>
          <a:noFill/>
          <a:ln/>
        </p:spPr>
        <p:txBody>
          <a:bodyPr wrap="square" lIns="0" tIns="0" rIns="0" bIns="0" rtlCol="0" anchor="t"/>
          <a:lstStyle/>
          <a:p>
            <a:pPr algn="l" indent="0" marL="0">
              <a:buNone/>
            </a:pPr>
            <a:r>
              <a:rPr lang="en-US" sz="1800" dirty="0">
                <a:solidFill>
                  <a:srgbClr val="F9E795"/>
                </a:solidFill>
              </a:rPr>
              <a:t>Membrul 3  ·  7-8 minute</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Motivația în triunghiul didactic</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Elevul: aduce propria structură motivațională (trebuințe, interese, temeri)</a:t>
            </a:r>
            <a:endParaRPr lang="en-US" sz="1600" dirty="0"/>
          </a:p>
          <a:p>
            <a:pPr marL="228600" indent="-228600">
              <a:spcAft>
                <a:spcPts val="1000"/>
              </a:spcAft>
              <a:buSzPct val="100000"/>
              <a:buChar char="•"/>
            </a:pPr>
            <a:r>
              <a:rPr lang="en-US" sz="1600" dirty="0">
                <a:solidFill>
                  <a:srgbClr val="1F2A44"/>
                </a:solidFill>
              </a:rPr>
              <a:t>Profesorul: creează climatul și modelul; propria lui motivație se vede</a:t>
            </a:r>
            <a:endParaRPr lang="en-US" sz="1600" dirty="0"/>
          </a:p>
          <a:p>
            <a:pPr marL="228600" indent="-228600">
              <a:spcAft>
                <a:spcPts val="1000"/>
              </a:spcAft>
              <a:buSzPct val="100000"/>
              <a:buChar char="•"/>
            </a:pPr>
            <a:r>
              <a:rPr lang="en-US" sz="1600" dirty="0">
                <a:solidFill>
                  <a:srgbClr val="1F2A44"/>
                </a:solidFill>
              </a:rPr>
              <a:t>Conținutul: devine atractiv sau respingător în funcție de cum e prezentat</a:t>
            </a:r>
            <a:endParaRPr lang="en-US" sz="1600" dirty="0"/>
          </a:p>
          <a:p>
            <a:pPr marL="228600" indent="-228600">
              <a:spcAft>
                <a:spcPts val="1000"/>
              </a:spcAft>
              <a:buSzPct val="100000"/>
              <a:buChar char="•"/>
            </a:pPr>
            <a:r>
              <a:rPr lang="en-US" sz="1600" dirty="0">
                <a:solidFill>
                  <a:srgbClr val="1F2A44"/>
                </a:solidFill>
              </a:rPr>
              <a:t>Învățarea eficientă apare la intersecția celor trei</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Triunghi didactic"/>
          <p:cNvSpPr/>
          <p:nvPr/>
        </p:nvSpPr>
        <p:spPr>
          <a:xfrm>
            <a:off x="8183880" y="2560320"/>
            <a:ext cx="2468880" cy="2377440"/>
          </a:xfrm>
          <a:prstGeom prst="triangle">
            <a:avLst/>
          </a:prstGeom>
          <a:solidFill>
            <a:srgbClr val="E8EAF3"/>
          </a:solidFill>
          <a:ln w="19050">
            <a:solidFill>
              <a:srgbClr val="2F3C7E"/>
            </a:solidFill>
            <a:prstDash val="solid"/>
          </a:ln>
        </p:spPr>
      </p:sp>
      <p:sp>
        <p:nvSpPr>
          <p:cNvPr id="6" name="Eticheta motivația"/>
          <p:cNvSpPr txBox="1"/>
          <p:nvPr/>
        </p:nvSpPr>
        <p:spPr>
          <a:xfrm>
            <a:off x="8183880" y="3840480"/>
            <a:ext cx="2468880" cy="457200"/>
          </a:xfrm>
          <a:prstGeom prst="rect">
            <a:avLst/>
          </a:prstGeom>
          <a:noFill/>
          <a:ln/>
        </p:spPr>
        <p:txBody>
          <a:bodyPr wrap="square" lIns="254" tIns="254" rIns="254" bIns="254" rtlCol="0" anchor="ctr"/>
          <a:lstStyle/>
          <a:p>
            <a:pPr algn="ctr" indent="0" marL="0">
              <a:buNone/>
            </a:pPr>
            <a:r>
              <a:rPr lang="en-US" sz="1300" i="1" dirty="0">
                <a:solidFill>
                  <a:srgbClr val="2F3C7E"/>
                </a:solidFill>
              </a:rPr>
              <a:t>motivația</a:t>
            </a:r>
            <a:endParaRPr lang="en-US" sz="1300" dirty="0"/>
          </a:p>
        </p:txBody>
      </p:sp>
      <p:sp>
        <p:nvSpPr>
          <p:cNvPr id="7" name="Varf Elevul"/>
          <p:cNvSpPr/>
          <p:nvPr/>
        </p:nvSpPr>
        <p:spPr>
          <a:xfrm>
            <a:off x="8732520" y="1920240"/>
            <a:ext cx="1371600" cy="548640"/>
          </a:xfrm>
          <a:prstGeom prst="roundRect">
            <a:avLst>
              <a:gd name="adj" fmla="val 16667"/>
            </a:avLst>
          </a:prstGeom>
          <a:solidFill>
            <a:srgbClr val="F96167"/>
          </a:solidFill>
          <a:ln w="12700">
            <a:solidFill>
              <a:srgbClr val="F96167"/>
            </a:solidFill>
            <a:prstDash val="solid"/>
          </a:ln>
        </p:spPr>
      </p:sp>
      <p:sp>
        <p:nvSpPr>
          <p:cNvPr id="8" name="Eticheta Elevul"/>
          <p:cNvSpPr txBox="1"/>
          <p:nvPr/>
        </p:nvSpPr>
        <p:spPr>
          <a:xfrm>
            <a:off x="8732520" y="1920240"/>
            <a:ext cx="1371600" cy="548640"/>
          </a:xfrm>
          <a:prstGeom prst="rect">
            <a:avLst/>
          </a:prstGeom>
          <a:noFill/>
          <a:ln/>
        </p:spPr>
        <p:txBody>
          <a:bodyPr wrap="square" lIns="254" tIns="254" rIns="254" bIns="254" rtlCol="0" anchor="ctr"/>
          <a:lstStyle/>
          <a:p>
            <a:pPr algn="ctr" indent="0" marL="0">
              <a:buNone/>
            </a:pPr>
            <a:r>
              <a:rPr lang="en-US" sz="1300" b="1" dirty="0">
                <a:solidFill>
                  <a:srgbClr val="FFFFFF"/>
                </a:solidFill>
              </a:rPr>
              <a:t>Elevul</a:t>
            </a:r>
            <a:endParaRPr lang="en-US" sz="1300" dirty="0"/>
          </a:p>
        </p:txBody>
      </p:sp>
      <p:sp>
        <p:nvSpPr>
          <p:cNvPr id="9" name="Varf Profesorul"/>
          <p:cNvSpPr/>
          <p:nvPr/>
        </p:nvSpPr>
        <p:spPr>
          <a:xfrm>
            <a:off x="7498080" y="4663440"/>
            <a:ext cx="1371600" cy="548640"/>
          </a:xfrm>
          <a:prstGeom prst="roundRect">
            <a:avLst>
              <a:gd name="adj" fmla="val 16667"/>
            </a:avLst>
          </a:prstGeom>
          <a:solidFill>
            <a:srgbClr val="2F3C7E"/>
          </a:solidFill>
          <a:ln w="12700">
            <a:solidFill>
              <a:srgbClr val="2F3C7E"/>
            </a:solidFill>
            <a:prstDash val="solid"/>
          </a:ln>
        </p:spPr>
      </p:sp>
      <p:sp>
        <p:nvSpPr>
          <p:cNvPr id="10" name="Eticheta Profesorul"/>
          <p:cNvSpPr txBox="1"/>
          <p:nvPr/>
        </p:nvSpPr>
        <p:spPr>
          <a:xfrm>
            <a:off x="7498080" y="4663440"/>
            <a:ext cx="1371600" cy="548640"/>
          </a:xfrm>
          <a:prstGeom prst="rect">
            <a:avLst/>
          </a:prstGeom>
          <a:noFill/>
          <a:ln/>
        </p:spPr>
        <p:txBody>
          <a:bodyPr wrap="square" lIns="254" tIns="254" rIns="254" bIns="254" rtlCol="0" anchor="ctr"/>
          <a:lstStyle/>
          <a:p>
            <a:pPr algn="ctr" indent="0" marL="0">
              <a:buNone/>
            </a:pPr>
            <a:r>
              <a:rPr lang="en-US" sz="1300" b="1" dirty="0">
                <a:solidFill>
                  <a:srgbClr val="FFFFFF"/>
                </a:solidFill>
              </a:rPr>
              <a:t>Profesorul</a:t>
            </a:r>
            <a:endParaRPr lang="en-US" sz="1300" dirty="0"/>
          </a:p>
        </p:txBody>
      </p:sp>
      <p:sp>
        <p:nvSpPr>
          <p:cNvPr id="11" name="Varf Conținutul"/>
          <p:cNvSpPr/>
          <p:nvPr/>
        </p:nvSpPr>
        <p:spPr>
          <a:xfrm>
            <a:off x="9966960" y="4663440"/>
            <a:ext cx="1371600" cy="548640"/>
          </a:xfrm>
          <a:prstGeom prst="roundRect">
            <a:avLst>
              <a:gd name="adj" fmla="val 16667"/>
            </a:avLst>
          </a:prstGeom>
          <a:solidFill>
            <a:srgbClr val="2F3C7E"/>
          </a:solidFill>
          <a:ln w="12700">
            <a:solidFill>
              <a:srgbClr val="2F3C7E"/>
            </a:solidFill>
            <a:prstDash val="solid"/>
          </a:ln>
        </p:spPr>
      </p:sp>
      <p:sp>
        <p:nvSpPr>
          <p:cNvPr id="12" name="Eticheta Conținutul"/>
          <p:cNvSpPr txBox="1"/>
          <p:nvPr/>
        </p:nvSpPr>
        <p:spPr>
          <a:xfrm>
            <a:off x="9966960" y="4663440"/>
            <a:ext cx="1371600" cy="548640"/>
          </a:xfrm>
          <a:prstGeom prst="rect">
            <a:avLst/>
          </a:prstGeom>
          <a:noFill/>
          <a:ln/>
        </p:spPr>
        <p:txBody>
          <a:bodyPr wrap="square" lIns="254" tIns="254" rIns="254" bIns="254" rtlCol="0" anchor="ctr"/>
          <a:lstStyle/>
          <a:p>
            <a:pPr algn="ctr" indent="0" marL="0">
              <a:buNone/>
            </a:pPr>
            <a:r>
              <a:rPr lang="en-US" sz="1300" b="1" dirty="0">
                <a:solidFill>
                  <a:srgbClr val="FFFFFF"/>
                </a:solidFill>
              </a:rPr>
              <a:t>Conținutul</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Motivația pentru învățare la elev</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Motive cognitive: curiozitatea, nevoia de a înțelege</a:t>
            </a:r>
            <a:endParaRPr lang="en-US" sz="1600" dirty="0"/>
          </a:p>
          <a:p>
            <a:pPr marL="228600" indent="-228600">
              <a:spcAft>
                <a:spcPts val="1000"/>
              </a:spcAft>
              <a:buSzPct val="100000"/>
              <a:buChar char="•"/>
            </a:pPr>
            <a:r>
              <a:rPr lang="en-US" sz="1600" dirty="0">
                <a:solidFill>
                  <a:srgbClr val="1F2A44"/>
                </a:solidFill>
              </a:rPr>
              <a:t>Motive afective: dorința de a fi apreciat de profesor și colegi</a:t>
            </a:r>
            <a:endParaRPr lang="en-US" sz="1600" dirty="0"/>
          </a:p>
          <a:p>
            <a:pPr marL="228600" indent="-228600">
              <a:spcAft>
                <a:spcPts val="1000"/>
              </a:spcAft>
              <a:buSzPct val="100000"/>
              <a:buChar char="•"/>
            </a:pPr>
            <a:r>
              <a:rPr lang="en-US" sz="1600" dirty="0">
                <a:solidFill>
                  <a:srgbClr val="1F2A44"/>
                </a:solidFill>
              </a:rPr>
              <a:t>Motive de autorealizare: a deveni mai bun, a se depăși</a:t>
            </a:r>
            <a:endParaRPr lang="en-US" sz="1600" dirty="0"/>
          </a:p>
          <a:p>
            <a:pPr marL="228600" indent="-228600">
              <a:spcAft>
                <a:spcPts val="1000"/>
              </a:spcAft>
              <a:buSzPct val="100000"/>
              <a:buChar char="•"/>
            </a:pPr>
            <a:r>
              <a:rPr lang="en-US" sz="1600" dirty="0">
                <a:solidFill>
                  <a:srgbClr val="1F2A44"/>
                </a:solidFill>
              </a:rPr>
              <a:t>Motive negative: teama de notă slabă, de pedeapsă, de rușine</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Cerc icon 0"/>
          <p:cNvSpPr/>
          <p:nvPr/>
        </p:nvSpPr>
        <p:spPr>
          <a:xfrm>
            <a:off x="8138160" y="2011680"/>
            <a:ext cx="822960" cy="822960"/>
          </a:xfrm>
          <a:prstGeom prst="ellipse">
            <a:avLst/>
          </a:prstGeom>
          <a:solidFill>
            <a:srgbClr val="2F3C7E"/>
          </a:solidFill>
          <a:ln w="12700">
            <a:solidFill>
              <a:srgbClr val="2F3C7E"/>
            </a:solidFill>
            <a:prstDash val="solid"/>
          </a:ln>
        </p:spPr>
      </p:sp>
      <p:pic>
        <p:nvPicPr>
          <p:cNvPr id="6" name="Icon 0" descr="preencoded.png">    </p:cNvPr>
          <p:cNvPicPr>
            <a:picLocks noChangeAspect="1"/>
          </p:cNvPicPr>
          <p:nvPr/>
        </p:nvPicPr>
        <p:blipFill>
          <a:blip r:embed="rId1"/>
          <a:stretch>
            <a:fillRect/>
          </a:stretch>
        </p:blipFill>
        <p:spPr>
          <a:xfrm>
            <a:off x="8339328" y="2212848"/>
            <a:ext cx="420624" cy="420624"/>
          </a:xfrm>
          <a:prstGeom prst="rect">
            <a:avLst/>
          </a:prstGeom>
        </p:spPr>
      </p:pic>
      <p:sp>
        <p:nvSpPr>
          <p:cNvPr id="7" name="Eticheta Motive cognitive"/>
          <p:cNvSpPr txBox="1"/>
          <p:nvPr/>
        </p:nvSpPr>
        <p:spPr>
          <a:xfrm>
            <a:off x="7635240" y="2926080"/>
            <a:ext cx="1828800" cy="822960"/>
          </a:xfrm>
          <a:prstGeom prst="rect">
            <a:avLst/>
          </a:prstGeom>
          <a:noFill/>
          <a:ln/>
        </p:spPr>
        <p:txBody>
          <a:bodyPr wrap="square" lIns="254" tIns="254" rIns="254" bIns="254" rtlCol="0" anchor="ctr"/>
          <a:lstStyle/>
          <a:p>
            <a:pPr algn="ctr" indent="0" marL="0">
              <a:buNone/>
            </a:pPr>
            <a:r>
              <a:rPr lang="en-US" sz="1300" b="1" dirty="0">
                <a:solidFill>
                  <a:srgbClr val="1F2A44"/>
                </a:solidFill>
              </a:rPr>
              <a:t>Motive cognitive</a:t>
            </a:r>
            <a:endParaRPr lang="en-US" sz="1300" dirty="0"/>
          </a:p>
        </p:txBody>
      </p:sp>
      <p:sp>
        <p:nvSpPr>
          <p:cNvPr id="8" name="Cerc icon 1"/>
          <p:cNvSpPr/>
          <p:nvPr/>
        </p:nvSpPr>
        <p:spPr>
          <a:xfrm>
            <a:off x="10149840" y="2011680"/>
            <a:ext cx="822960" cy="822960"/>
          </a:xfrm>
          <a:prstGeom prst="ellipse">
            <a:avLst/>
          </a:prstGeom>
          <a:solidFill>
            <a:srgbClr val="F96167"/>
          </a:solidFill>
          <a:ln w="12700">
            <a:solidFill>
              <a:srgbClr val="F96167"/>
            </a:solidFill>
            <a:prstDash val="solid"/>
          </a:ln>
        </p:spPr>
      </p:sp>
      <p:pic>
        <p:nvPicPr>
          <p:cNvPr id="9" name="Icon 1" descr="preencoded.png">    </p:cNvPr>
          <p:cNvPicPr>
            <a:picLocks noChangeAspect="1"/>
          </p:cNvPicPr>
          <p:nvPr/>
        </p:nvPicPr>
        <p:blipFill>
          <a:blip r:embed="rId2"/>
          <a:stretch>
            <a:fillRect/>
          </a:stretch>
        </p:blipFill>
        <p:spPr>
          <a:xfrm>
            <a:off x="10351008" y="2212848"/>
            <a:ext cx="420624" cy="420624"/>
          </a:xfrm>
          <a:prstGeom prst="rect">
            <a:avLst/>
          </a:prstGeom>
        </p:spPr>
      </p:pic>
      <p:sp>
        <p:nvSpPr>
          <p:cNvPr id="10" name="Eticheta Motive afective"/>
          <p:cNvSpPr txBox="1"/>
          <p:nvPr/>
        </p:nvSpPr>
        <p:spPr>
          <a:xfrm>
            <a:off x="9646920" y="2926080"/>
            <a:ext cx="1828800" cy="822960"/>
          </a:xfrm>
          <a:prstGeom prst="rect">
            <a:avLst/>
          </a:prstGeom>
          <a:noFill/>
          <a:ln/>
        </p:spPr>
        <p:txBody>
          <a:bodyPr wrap="square" lIns="254" tIns="254" rIns="254" bIns="254" rtlCol="0" anchor="ctr"/>
          <a:lstStyle/>
          <a:p>
            <a:pPr algn="ctr" indent="0" marL="0">
              <a:buNone/>
            </a:pPr>
            <a:r>
              <a:rPr lang="en-US" sz="1300" b="1" dirty="0">
                <a:solidFill>
                  <a:srgbClr val="1F2A44"/>
                </a:solidFill>
              </a:rPr>
              <a:t>Motive afective</a:t>
            </a:r>
            <a:endParaRPr lang="en-US" sz="1300" dirty="0"/>
          </a:p>
        </p:txBody>
      </p:sp>
      <p:sp>
        <p:nvSpPr>
          <p:cNvPr id="11" name="Cerc icon 2"/>
          <p:cNvSpPr/>
          <p:nvPr/>
        </p:nvSpPr>
        <p:spPr>
          <a:xfrm>
            <a:off x="8138160" y="4114800"/>
            <a:ext cx="822960" cy="822960"/>
          </a:xfrm>
          <a:prstGeom prst="ellipse">
            <a:avLst/>
          </a:prstGeom>
          <a:solidFill>
            <a:srgbClr val="2F3C7E"/>
          </a:solidFill>
          <a:ln w="12700">
            <a:solidFill>
              <a:srgbClr val="2F3C7E"/>
            </a:solidFill>
            <a:prstDash val="solid"/>
          </a:ln>
        </p:spPr>
      </p:sp>
      <p:pic>
        <p:nvPicPr>
          <p:cNvPr id="12" name="Icon 2" descr="preencoded.png">    </p:cNvPr>
          <p:cNvPicPr>
            <a:picLocks noChangeAspect="1"/>
          </p:cNvPicPr>
          <p:nvPr/>
        </p:nvPicPr>
        <p:blipFill>
          <a:blip r:embed="rId3"/>
          <a:stretch>
            <a:fillRect/>
          </a:stretch>
        </p:blipFill>
        <p:spPr>
          <a:xfrm>
            <a:off x="8339328" y="4315968"/>
            <a:ext cx="420624" cy="420624"/>
          </a:xfrm>
          <a:prstGeom prst="rect">
            <a:avLst/>
          </a:prstGeom>
        </p:spPr>
      </p:pic>
      <p:sp>
        <p:nvSpPr>
          <p:cNvPr id="13" name="Eticheta Motive de autorealiz"/>
          <p:cNvSpPr txBox="1"/>
          <p:nvPr/>
        </p:nvSpPr>
        <p:spPr>
          <a:xfrm>
            <a:off x="7635240" y="5029200"/>
            <a:ext cx="1828800" cy="822960"/>
          </a:xfrm>
          <a:prstGeom prst="rect">
            <a:avLst/>
          </a:prstGeom>
          <a:noFill/>
          <a:ln/>
        </p:spPr>
        <p:txBody>
          <a:bodyPr wrap="square" lIns="254" tIns="254" rIns="254" bIns="254" rtlCol="0" anchor="ctr"/>
          <a:lstStyle/>
          <a:p>
            <a:pPr algn="ctr" indent="0" marL="0">
              <a:buNone/>
            </a:pPr>
            <a:r>
              <a:rPr lang="en-US" sz="1300" b="1" dirty="0">
                <a:solidFill>
                  <a:srgbClr val="1F2A44"/>
                </a:solidFill>
              </a:rPr>
              <a:t>Motive de autorealizare</a:t>
            </a:r>
            <a:endParaRPr lang="en-US" sz="1300" dirty="0"/>
          </a:p>
        </p:txBody>
      </p:sp>
      <p:sp>
        <p:nvSpPr>
          <p:cNvPr id="14" name="Cerc icon 3"/>
          <p:cNvSpPr/>
          <p:nvPr/>
        </p:nvSpPr>
        <p:spPr>
          <a:xfrm>
            <a:off x="10149840" y="4114800"/>
            <a:ext cx="822960" cy="822960"/>
          </a:xfrm>
          <a:prstGeom prst="ellipse">
            <a:avLst/>
          </a:prstGeom>
          <a:solidFill>
            <a:srgbClr val="F96167"/>
          </a:solidFill>
          <a:ln w="12700">
            <a:solidFill>
              <a:srgbClr val="F96167"/>
            </a:solidFill>
            <a:prstDash val="solid"/>
          </a:ln>
        </p:spPr>
      </p:sp>
      <p:pic>
        <p:nvPicPr>
          <p:cNvPr id="15" name="Icon 3" descr="preencoded.png">    </p:cNvPr>
          <p:cNvPicPr>
            <a:picLocks noChangeAspect="1"/>
          </p:cNvPicPr>
          <p:nvPr/>
        </p:nvPicPr>
        <p:blipFill>
          <a:blip r:embed="rId4"/>
          <a:stretch>
            <a:fillRect/>
          </a:stretch>
        </p:blipFill>
        <p:spPr>
          <a:xfrm>
            <a:off x="10351008" y="4315968"/>
            <a:ext cx="420624" cy="420624"/>
          </a:xfrm>
          <a:prstGeom prst="rect">
            <a:avLst/>
          </a:prstGeom>
        </p:spPr>
      </p:pic>
      <p:sp>
        <p:nvSpPr>
          <p:cNvPr id="16" name="Eticheta Motive negative"/>
          <p:cNvSpPr txBox="1"/>
          <p:nvPr/>
        </p:nvSpPr>
        <p:spPr>
          <a:xfrm>
            <a:off x="9646920" y="5029200"/>
            <a:ext cx="1828800" cy="822960"/>
          </a:xfrm>
          <a:prstGeom prst="rect">
            <a:avLst/>
          </a:prstGeom>
          <a:noFill/>
          <a:ln/>
        </p:spPr>
        <p:txBody>
          <a:bodyPr wrap="square" lIns="254" tIns="254" rIns="254" bIns="254" rtlCol="0" anchor="ctr"/>
          <a:lstStyle/>
          <a:p>
            <a:pPr algn="ctr" indent="0" marL="0">
              <a:buNone/>
            </a:pPr>
            <a:r>
              <a:rPr lang="en-US" sz="1300" b="1" dirty="0">
                <a:solidFill>
                  <a:srgbClr val="1F2A44"/>
                </a:solidFill>
              </a:rPr>
              <a:t>Motive negative</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Specificul educației fizice și sportului</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Epuran: în sport motivația se vede direct, în efort fizic măsurabil</a:t>
            </a:r>
            <a:endParaRPr lang="en-US" sz="1600" dirty="0"/>
          </a:p>
          <a:p>
            <a:pPr marL="228600" indent="-228600">
              <a:spcAft>
                <a:spcPts val="1000"/>
              </a:spcAft>
              <a:buSzPct val="100000"/>
              <a:buChar char="•"/>
            </a:pPr>
            <a:r>
              <a:rPr lang="en-US" sz="1600" dirty="0">
                <a:solidFill>
                  <a:srgbClr val="1F2A44"/>
                </a:solidFill>
              </a:rPr>
              <a:t>Plăcerea mișcării este un motiv intrinsec natural la copii, dar se pierde dacă e sufocată</a:t>
            </a:r>
            <a:endParaRPr lang="en-US" sz="1600" dirty="0"/>
          </a:p>
          <a:p>
            <a:pPr marL="228600" indent="-228600">
              <a:spcAft>
                <a:spcPts val="1000"/>
              </a:spcAft>
              <a:buSzPct val="100000"/>
              <a:buChar char="•"/>
            </a:pPr>
            <a:r>
              <a:rPr lang="en-US" sz="1600" dirty="0">
                <a:solidFill>
                  <a:srgbClr val="1F2A44"/>
                </a:solidFill>
              </a:rPr>
              <a:t>Competiția motivează pe unii și blochează pe alții</a:t>
            </a:r>
            <a:endParaRPr lang="en-US" sz="1600" dirty="0"/>
          </a:p>
          <a:p>
            <a:pPr marL="228600" indent="-228600">
              <a:spcAft>
                <a:spcPts val="1000"/>
              </a:spcAft>
              <a:buSzPct val="100000"/>
              <a:buChar char="•"/>
            </a:pPr>
            <a:r>
              <a:rPr lang="en-US" sz="1600" dirty="0">
                <a:solidFill>
                  <a:srgbClr val="1F2A44"/>
                </a:solidFill>
              </a:rPr>
              <a:t>Corpul expus privirii celorlalți: rușinea e un demotivator major la adolescenți</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pic>
        <p:nvPicPr>
          <p:cNvPr id="5" name="Icon alergator" descr="preencoded.png">    </p:cNvPr>
          <p:cNvPicPr>
            <a:picLocks noChangeAspect="1"/>
          </p:cNvPicPr>
          <p:nvPr/>
        </p:nvPicPr>
        <p:blipFill>
          <a:blip r:embed="rId1"/>
          <a:stretch>
            <a:fillRect/>
          </a:stretch>
        </p:blipFill>
        <p:spPr>
          <a:xfrm>
            <a:off x="8686800" y="2011680"/>
            <a:ext cx="1463040" cy="1463040"/>
          </a:xfrm>
          <a:prstGeom prst="rect">
            <a:avLst/>
          </a:prstGeom>
        </p:spPr>
      </p:pic>
      <p:sp>
        <p:nvSpPr>
          <p:cNvPr id="6" name="Eticheta În sport motivația s"/>
          <p:cNvSpPr txBox="1"/>
          <p:nvPr/>
        </p:nvSpPr>
        <p:spPr>
          <a:xfrm>
            <a:off x="7680960" y="3749040"/>
            <a:ext cx="3474720" cy="1005840"/>
          </a:xfrm>
          <a:prstGeom prst="rect">
            <a:avLst/>
          </a:prstGeom>
          <a:noFill/>
          <a:ln/>
        </p:spPr>
        <p:txBody>
          <a:bodyPr wrap="square" lIns="254" tIns="254" rIns="254" bIns="254" rtlCol="0" anchor="ctr"/>
          <a:lstStyle/>
          <a:p>
            <a:pPr algn="ctr" indent="0" marL="0">
              <a:buNone/>
            </a:pPr>
            <a:r>
              <a:rPr lang="en-US" sz="1400" b="1" dirty="0">
                <a:solidFill>
                  <a:srgbClr val="2F3C7E"/>
                </a:solidFill>
              </a:rPr>
              <a:t>În sport motivația se vede: nu te poți preface că alergi.</a:t>
            </a:r>
            <a:endParaRPr lang="en-US" sz="1400" dirty="0"/>
          </a:p>
        </p:txBody>
      </p:sp>
      <p:sp>
        <p:nvSpPr>
          <p:cNvPr id="7" name="Eticheta M. Epuran"/>
          <p:cNvSpPr txBox="1"/>
          <p:nvPr/>
        </p:nvSpPr>
        <p:spPr>
          <a:xfrm>
            <a:off x="7680960" y="4754880"/>
            <a:ext cx="3474720" cy="365760"/>
          </a:xfrm>
          <a:prstGeom prst="rect">
            <a:avLst/>
          </a:prstGeom>
          <a:noFill/>
          <a:ln/>
        </p:spPr>
        <p:txBody>
          <a:bodyPr wrap="square" lIns="254" tIns="254" rIns="254" bIns="254" rtlCol="0" anchor="ctr"/>
          <a:lstStyle/>
          <a:p>
            <a:pPr algn="ctr" indent="0" marL="0">
              <a:buNone/>
            </a:pPr>
            <a:r>
              <a:rPr lang="en-US" sz="1100" i="1" dirty="0">
                <a:solidFill>
                  <a:srgbClr val="6B7280"/>
                </a:solidFill>
              </a:rPr>
              <a:t>M. Epuran</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Climat de măiestrie sau climat de ego</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Climat de măiestrie: succesul = progresul propriu, efortul, învățarea</a:t>
            </a:r>
            <a:endParaRPr lang="en-US" sz="1600" dirty="0"/>
          </a:p>
          <a:p>
            <a:pPr marL="228600" indent="-228600">
              <a:spcAft>
                <a:spcPts val="1000"/>
              </a:spcAft>
              <a:buSzPct val="100000"/>
              <a:buChar char="•"/>
            </a:pPr>
            <a:r>
              <a:rPr lang="en-US" sz="1600" dirty="0">
                <a:solidFill>
                  <a:srgbClr val="1F2A44"/>
                </a:solidFill>
              </a:rPr>
              <a:t>Climat de ego: succesul = a fi mai bun decât ceilalți</a:t>
            </a:r>
            <a:endParaRPr lang="en-US" sz="1600" dirty="0"/>
          </a:p>
          <a:p>
            <a:pPr marL="228600" indent="-228600">
              <a:spcAft>
                <a:spcPts val="1000"/>
              </a:spcAft>
              <a:buSzPct val="100000"/>
              <a:buChar char="•"/>
            </a:pPr>
            <a:r>
              <a:rPr lang="en-US" sz="1600" dirty="0">
                <a:solidFill>
                  <a:srgbClr val="1F2A44"/>
                </a:solidFill>
              </a:rPr>
              <a:t>Măiestria produce perseverență, plăcere, mai puțină anxietate</a:t>
            </a:r>
            <a:endParaRPr lang="en-US" sz="1600" dirty="0"/>
          </a:p>
          <a:p>
            <a:pPr marL="228600" indent="-228600">
              <a:spcAft>
                <a:spcPts val="1000"/>
              </a:spcAft>
              <a:buSzPct val="100000"/>
              <a:buChar char="•"/>
            </a:pPr>
            <a:r>
              <a:rPr lang="en-US" sz="1600" dirty="0">
                <a:solidFill>
                  <a:srgbClr val="1F2A44"/>
                </a:solidFill>
              </a:rPr>
              <a:t>Ego-ul motivează doar pe cei câțiva care câștigă mereu</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Card A"/>
          <p:cNvSpPr/>
          <p:nvPr/>
        </p:nvSpPr>
        <p:spPr>
          <a:xfrm>
            <a:off x="7635240" y="2011680"/>
            <a:ext cx="1737360" cy="3749040"/>
          </a:xfrm>
          <a:prstGeom prst="roundRect">
            <a:avLst>
              <a:gd name="adj" fmla="val 5263"/>
            </a:avLst>
          </a:prstGeom>
          <a:solidFill>
            <a:srgbClr val="2F3C7E"/>
          </a:solidFill>
          <a:ln w="12700">
            <a:solidFill>
              <a:srgbClr val="2F3C7E"/>
            </a:solidFill>
            <a:prstDash val="solid"/>
          </a:ln>
        </p:spPr>
      </p:sp>
      <p:sp>
        <p:nvSpPr>
          <p:cNvPr id="6" name="Card B"/>
          <p:cNvSpPr/>
          <p:nvPr/>
        </p:nvSpPr>
        <p:spPr>
          <a:xfrm>
            <a:off x="9464040" y="2011680"/>
            <a:ext cx="1737360" cy="3749040"/>
          </a:xfrm>
          <a:prstGeom prst="roundRect">
            <a:avLst>
              <a:gd name="adj" fmla="val 5263"/>
            </a:avLst>
          </a:prstGeom>
          <a:solidFill>
            <a:srgbClr val="F96167"/>
          </a:solidFill>
          <a:ln w="12700">
            <a:solidFill>
              <a:srgbClr val="F96167"/>
            </a:solidFill>
            <a:prstDash val="solid"/>
          </a:ln>
        </p:spPr>
      </p:sp>
      <p:pic>
        <p:nvPicPr>
          <p:cNvPr id="7" name="Icon A" descr="preencoded.png">    </p:cNvPr>
          <p:cNvPicPr>
            <a:picLocks noChangeAspect="1"/>
          </p:cNvPicPr>
          <p:nvPr/>
        </p:nvPicPr>
        <p:blipFill>
          <a:blip r:embed="rId1"/>
          <a:stretch>
            <a:fillRect/>
          </a:stretch>
        </p:blipFill>
        <p:spPr>
          <a:xfrm>
            <a:off x="8138160" y="2377440"/>
            <a:ext cx="731520" cy="731520"/>
          </a:xfrm>
          <a:prstGeom prst="rect">
            <a:avLst/>
          </a:prstGeom>
        </p:spPr>
      </p:pic>
      <p:pic>
        <p:nvPicPr>
          <p:cNvPr id="8" name="Icon B" descr="preencoded.png">    </p:cNvPr>
          <p:cNvPicPr>
            <a:picLocks noChangeAspect="1"/>
          </p:cNvPicPr>
          <p:nvPr/>
        </p:nvPicPr>
        <p:blipFill>
          <a:blip r:embed="rId2"/>
          <a:stretch>
            <a:fillRect/>
          </a:stretch>
        </p:blipFill>
        <p:spPr>
          <a:xfrm>
            <a:off x="9966960" y="2377440"/>
            <a:ext cx="731520" cy="731520"/>
          </a:xfrm>
          <a:prstGeom prst="rect">
            <a:avLst/>
          </a:prstGeom>
        </p:spPr>
      </p:pic>
      <p:sp>
        <p:nvSpPr>
          <p:cNvPr id="9" name="Eticheta Climat de măiestrie"/>
          <p:cNvSpPr txBox="1"/>
          <p:nvPr/>
        </p:nvSpPr>
        <p:spPr>
          <a:xfrm>
            <a:off x="7680960" y="3383280"/>
            <a:ext cx="1645920" cy="914400"/>
          </a:xfrm>
          <a:prstGeom prst="rect">
            <a:avLst/>
          </a:prstGeom>
          <a:noFill/>
          <a:ln/>
        </p:spPr>
        <p:txBody>
          <a:bodyPr wrap="square" lIns="254" tIns="254" rIns="254" bIns="254" rtlCol="0" anchor="ctr"/>
          <a:lstStyle/>
          <a:p>
            <a:pPr algn="ctr" indent="0" marL="0">
              <a:buNone/>
            </a:pPr>
            <a:r>
              <a:rPr lang="en-US" sz="1400" b="1" dirty="0">
                <a:solidFill>
                  <a:srgbClr val="FFFFFF"/>
                </a:solidFill>
              </a:rPr>
              <a:t>Climat de măiestrie</a:t>
            </a:r>
            <a:endParaRPr lang="en-US" sz="1400" dirty="0"/>
          </a:p>
        </p:txBody>
      </p:sp>
      <p:sp>
        <p:nvSpPr>
          <p:cNvPr id="10" name="Eticheta Climat de ego"/>
          <p:cNvSpPr txBox="1"/>
          <p:nvPr/>
        </p:nvSpPr>
        <p:spPr>
          <a:xfrm>
            <a:off x="9509760" y="3383280"/>
            <a:ext cx="1645920" cy="914400"/>
          </a:xfrm>
          <a:prstGeom prst="rect">
            <a:avLst/>
          </a:prstGeom>
          <a:noFill/>
          <a:ln/>
        </p:spPr>
        <p:txBody>
          <a:bodyPr wrap="square" lIns="254" tIns="254" rIns="254" bIns="254" rtlCol="0" anchor="ctr"/>
          <a:lstStyle/>
          <a:p>
            <a:pPr algn="ctr" indent="0" marL="0">
              <a:buNone/>
            </a:pPr>
            <a:r>
              <a:rPr lang="en-US" sz="1400" b="1" dirty="0">
                <a:solidFill>
                  <a:srgbClr val="FFFFFF"/>
                </a:solidFill>
              </a:rPr>
              <a:t>Climat de ego</a:t>
            </a:r>
            <a:endParaRPr lang="en-US" sz="1400" dirty="0"/>
          </a:p>
        </p:txBody>
      </p:sp>
      <p:sp>
        <p:nvSpPr>
          <p:cNvPr id="11" name="Eticheta progresul propriu"/>
          <p:cNvSpPr txBox="1"/>
          <p:nvPr/>
        </p:nvSpPr>
        <p:spPr>
          <a:xfrm>
            <a:off x="7680960" y="4389120"/>
            <a:ext cx="1645920" cy="1097280"/>
          </a:xfrm>
          <a:prstGeom prst="rect">
            <a:avLst/>
          </a:prstGeom>
          <a:noFill/>
          <a:ln/>
        </p:spPr>
        <p:txBody>
          <a:bodyPr wrap="square" lIns="254" tIns="254" rIns="254" bIns="254" rtlCol="0" anchor="ctr"/>
          <a:lstStyle/>
          <a:p>
            <a:pPr algn="ctr" indent="0" marL="0">
              <a:buNone/>
            </a:pPr>
            <a:r>
              <a:rPr lang="en-US" sz="1100" dirty="0">
                <a:solidFill>
                  <a:srgbClr val="E8EAF3"/>
                </a:solidFill>
              </a:rPr>
              <a:t>progresul propriu</a:t>
            </a:r>
            <a:endParaRPr lang="en-US" sz="1100" dirty="0"/>
          </a:p>
        </p:txBody>
      </p:sp>
      <p:sp>
        <p:nvSpPr>
          <p:cNvPr id="12" name="Eticheta a fi mai bun decât a"/>
          <p:cNvSpPr txBox="1"/>
          <p:nvPr/>
        </p:nvSpPr>
        <p:spPr>
          <a:xfrm>
            <a:off x="9509760" y="4389120"/>
            <a:ext cx="1645920" cy="1097280"/>
          </a:xfrm>
          <a:prstGeom prst="rect">
            <a:avLst/>
          </a:prstGeom>
          <a:noFill/>
          <a:ln/>
        </p:spPr>
        <p:txBody>
          <a:bodyPr wrap="square" lIns="254" tIns="254" rIns="254" bIns="254" rtlCol="0" anchor="ctr"/>
          <a:lstStyle/>
          <a:p>
            <a:pPr algn="ctr" indent="0" marL="0">
              <a:buNone/>
            </a:pPr>
            <a:r>
              <a:rPr lang="en-US" sz="1100" dirty="0">
                <a:solidFill>
                  <a:srgbClr val="FFFFFF"/>
                </a:solidFill>
              </a:rPr>
              <a:t>a fi mai bun decât alții</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Modelul TARGET pentru climat de măiestrie</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Task: sarcini variate, cu dificultate adaptată</a:t>
            </a:r>
            <a:endParaRPr lang="en-US" sz="1600" dirty="0"/>
          </a:p>
          <a:p>
            <a:pPr marL="228600" indent="-228600">
              <a:spcAft>
                <a:spcPts val="1000"/>
              </a:spcAft>
              <a:buSzPct val="100000"/>
              <a:buChar char="•"/>
            </a:pPr>
            <a:r>
              <a:rPr lang="en-US" sz="1600" dirty="0">
                <a:solidFill>
                  <a:srgbClr val="1F2A44"/>
                </a:solidFill>
              </a:rPr>
              <a:t>Authority: elevii au un cuvânt de spus</a:t>
            </a:r>
            <a:endParaRPr lang="en-US" sz="1600" dirty="0"/>
          </a:p>
          <a:p>
            <a:pPr marL="228600" indent="-228600">
              <a:spcAft>
                <a:spcPts val="1000"/>
              </a:spcAft>
              <a:buSzPct val="100000"/>
              <a:buChar char="•"/>
            </a:pPr>
            <a:r>
              <a:rPr lang="en-US" sz="1600" dirty="0">
                <a:solidFill>
                  <a:srgbClr val="1F2A44"/>
                </a:solidFill>
              </a:rPr>
              <a:t>Recognition: recunoașterea progresului, în privat</a:t>
            </a:r>
            <a:endParaRPr lang="en-US" sz="1600" dirty="0"/>
          </a:p>
          <a:p>
            <a:pPr marL="228600" indent="-228600">
              <a:spcAft>
                <a:spcPts val="1000"/>
              </a:spcAft>
              <a:buSzPct val="100000"/>
              <a:buChar char="•"/>
            </a:pPr>
            <a:r>
              <a:rPr lang="en-US" sz="1600" dirty="0">
                <a:solidFill>
                  <a:srgbClr val="1F2A44"/>
                </a:solidFill>
              </a:rPr>
              <a:t>Grouping: grupuri mixte, schimbate des</a:t>
            </a:r>
            <a:endParaRPr lang="en-US" sz="1600" dirty="0"/>
          </a:p>
          <a:p>
            <a:pPr marL="228600" indent="-228600">
              <a:spcAft>
                <a:spcPts val="1000"/>
              </a:spcAft>
              <a:buSzPct val="100000"/>
              <a:buChar char="•"/>
            </a:pPr>
            <a:r>
              <a:rPr lang="en-US" sz="1600" dirty="0">
                <a:solidFill>
                  <a:srgbClr val="1F2A44"/>
                </a:solidFill>
              </a:rPr>
              <a:t>Evaluation: raportată la propriul progres</a:t>
            </a:r>
            <a:endParaRPr lang="en-US" sz="1600" dirty="0"/>
          </a:p>
          <a:p>
            <a:pPr marL="228600" indent="-228600">
              <a:spcAft>
                <a:spcPts val="1000"/>
              </a:spcAft>
              <a:buSzPct val="100000"/>
              <a:buChar char="•"/>
            </a:pPr>
            <a:r>
              <a:rPr lang="en-US" sz="1600" dirty="0">
                <a:solidFill>
                  <a:srgbClr val="1F2A44"/>
                </a:solidFill>
              </a:rPr>
              <a:t>Time: timp suficient pentru a învăța</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Litera 0"/>
          <p:cNvSpPr/>
          <p:nvPr/>
        </p:nvSpPr>
        <p:spPr>
          <a:xfrm>
            <a:off x="7680960" y="1920240"/>
            <a:ext cx="548640" cy="548640"/>
          </a:xfrm>
          <a:prstGeom prst="roundRect">
            <a:avLst>
              <a:gd name="adj" fmla="val 13333"/>
            </a:avLst>
          </a:prstGeom>
          <a:solidFill>
            <a:srgbClr val="2F3C7E"/>
          </a:solidFill>
          <a:ln w="12700">
            <a:solidFill>
              <a:srgbClr val="2F3C7E"/>
            </a:solidFill>
            <a:prstDash val="solid"/>
          </a:ln>
        </p:spPr>
      </p:sp>
      <p:sp>
        <p:nvSpPr>
          <p:cNvPr id="6" name="Eticheta T"/>
          <p:cNvSpPr txBox="1"/>
          <p:nvPr/>
        </p:nvSpPr>
        <p:spPr>
          <a:xfrm>
            <a:off x="7680960" y="1920240"/>
            <a:ext cx="548640" cy="548640"/>
          </a:xfrm>
          <a:prstGeom prst="rect">
            <a:avLst/>
          </a:prstGeom>
          <a:noFill/>
          <a:ln/>
        </p:spPr>
        <p:txBody>
          <a:bodyPr wrap="square" lIns="254" tIns="254" rIns="254" bIns="254" rtlCol="0" anchor="ctr"/>
          <a:lstStyle/>
          <a:p>
            <a:pPr algn="ctr" indent="0" marL="0">
              <a:buNone/>
            </a:pPr>
            <a:r>
              <a:rPr lang="en-US" sz="1800" b="1" dirty="0">
                <a:solidFill>
                  <a:srgbClr val="FFFFFF"/>
                </a:solidFill>
              </a:rPr>
              <a:t>T</a:t>
            </a:r>
            <a:endParaRPr lang="en-US" sz="1800" dirty="0"/>
          </a:p>
        </p:txBody>
      </p:sp>
      <p:sp>
        <p:nvSpPr>
          <p:cNvPr id="7" name="Eticheta Task"/>
          <p:cNvSpPr txBox="1"/>
          <p:nvPr/>
        </p:nvSpPr>
        <p:spPr>
          <a:xfrm>
            <a:off x="8366760" y="1920240"/>
            <a:ext cx="2743200" cy="548640"/>
          </a:xfrm>
          <a:prstGeom prst="rect">
            <a:avLst/>
          </a:prstGeom>
          <a:noFill/>
          <a:ln/>
        </p:spPr>
        <p:txBody>
          <a:bodyPr wrap="square" lIns="254" tIns="254" rIns="254" bIns="254" rtlCol="0" anchor="ctr"/>
          <a:lstStyle/>
          <a:p>
            <a:pPr algn="l" indent="0" marL="0">
              <a:buNone/>
            </a:pPr>
            <a:r>
              <a:rPr lang="en-US" sz="1500" b="1" dirty="0">
                <a:solidFill>
                  <a:srgbClr val="1F2A44"/>
                </a:solidFill>
              </a:rPr>
              <a:t>Task</a:t>
            </a:r>
            <a:endParaRPr lang="en-US" sz="1500" dirty="0"/>
          </a:p>
        </p:txBody>
      </p:sp>
      <p:sp>
        <p:nvSpPr>
          <p:cNvPr id="8" name="Litera 1"/>
          <p:cNvSpPr/>
          <p:nvPr/>
        </p:nvSpPr>
        <p:spPr>
          <a:xfrm>
            <a:off x="7680960" y="2596896"/>
            <a:ext cx="548640" cy="548640"/>
          </a:xfrm>
          <a:prstGeom prst="roundRect">
            <a:avLst>
              <a:gd name="adj" fmla="val 13333"/>
            </a:avLst>
          </a:prstGeom>
          <a:solidFill>
            <a:srgbClr val="F96167"/>
          </a:solidFill>
          <a:ln w="12700">
            <a:solidFill>
              <a:srgbClr val="F96167"/>
            </a:solidFill>
            <a:prstDash val="solid"/>
          </a:ln>
        </p:spPr>
      </p:sp>
      <p:sp>
        <p:nvSpPr>
          <p:cNvPr id="9" name="Eticheta A"/>
          <p:cNvSpPr txBox="1"/>
          <p:nvPr/>
        </p:nvSpPr>
        <p:spPr>
          <a:xfrm>
            <a:off x="7680960" y="2596896"/>
            <a:ext cx="548640" cy="548640"/>
          </a:xfrm>
          <a:prstGeom prst="rect">
            <a:avLst/>
          </a:prstGeom>
          <a:noFill/>
          <a:ln/>
        </p:spPr>
        <p:txBody>
          <a:bodyPr wrap="square" lIns="254" tIns="254" rIns="254" bIns="254" rtlCol="0" anchor="ctr"/>
          <a:lstStyle/>
          <a:p>
            <a:pPr algn="ctr" indent="0" marL="0">
              <a:buNone/>
            </a:pPr>
            <a:r>
              <a:rPr lang="en-US" sz="1800" b="1" dirty="0">
                <a:solidFill>
                  <a:srgbClr val="FFFFFF"/>
                </a:solidFill>
              </a:rPr>
              <a:t>A</a:t>
            </a:r>
            <a:endParaRPr lang="en-US" sz="1800" dirty="0"/>
          </a:p>
        </p:txBody>
      </p:sp>
      <p:sp>
        <p:nvSpPr>
          <p:cNvPr id="10" name="Eticheta Authority"/>
          <p:cNvSpPr txBox="1"/>
          <p:nvPr/>
        </p:nvSpPr>
        <p:spPr>
          <a:xfrm>
            <a:off x="8366760" y="2596896"/>
            <a:ext cx="2743200" cy="548640"/>
          </a:xfrm>
          <a:prstGeom prst="rect">
            <a:avLst/>
          </a:prstGeom>
          <a:noFill/>
          <a:ln/>
        </p:spPr>
        <p:txBody>
          <a:bodyPr wrap="square" lIns="254" tIns="254" rIns="254" bIns="254" rtlCol="0" anchor="ctr"/>
          <a:lstStyle/>
          <a:p>
            <a:pPr algn="l" indent="0" marL="0">
              <a:buNone/>
            </a:pPr>
            <a:r>
              <a:rPr lang="en-US" sz="1500" b="1" dirty="0">
                <a:solidFill>
                  <a:srgbClr val="1F2A44"/>
                </a:solidFill>
              </a:rPr>
              <a:t>Authority</a:t>
            </a:r>
            <a:endParaRPr lang="en-US" sz="1500" dirty="0"/>
          </a:p>
        </p:txBody>
      </p:sp>
      <p:sp>
        <p:nvSpPr>
          <p:cNvPr id="11" name="Litera 2"/>
          <p:cNvSpPr/>
          <p:nvPr/>
        </p:nvSpPr>
        <p:spPr>
          <a:xfrm>
            <a:off x="7680960" y="3273552"/>
            <a:ext cx="548640" cy="548640"/>
          </a:xfrm>
          <a:prstGeom prst="roundRect">
            <a:avLst>
              <a:gd name="adj" fmla="val 13333"/>
            </a:avLst>
          </a:prstGeom>
          <a:solidFill>
            <a:srgbClr val="2F3C7E"/>
          </a:solidFill>
          <a:ln w="12700">
            <a:solidFill>
              <a:srgbClr val="2F3C7E"/>
            </a:solidFill>
            <a:prstDash val="solid"/>
          </a:ln>
        </p:spPr>
      </p:sp>
      <p:sp>
        <p:nvSpPr>
          <p:cNvPr id="12" name="Eticheta R"/>
          <p:cNvSpPr txBox="1"/>
          <p:nvPr/>
        </p:nvSpPr>
        <p:spPr>
          <a:xfrm>
            <a:off x="7680960" y="3273552"/>
            <a:ext cx="548640" cy="548640"/>
          </a:xfrm>
          <a:prstGeom prst="rect">
            <a:avLst/>
          </a:prstGeom>
          <a:noFill/>
          <a:ln/>
        </p:spPr>
        <p:txBody>
          <a:bodyPr wrap="square" lIns="254" tIns="254" rIns="254" bIns="254" rtlCol="0" anchor="ctr"/>
          <a:lstStyle/>
          <a:p>
            <a:pPr algn="ctr" indent="0" marL="0">
              <a:buNone/>
            </a:pPr>
            <a:r>
              <a:rPr lang="en-US" sz="1800" b="1" dirty="0">
                <a:solidFill>
                  <a:srgbClr val="FFFFFF"/>
                </a:solidFill>
              </a:rPr>
              <a:t>R</a:t>
            </a:r>
            <a:endParaRPr lang="en-US" sz="1800" dirty="0"/>
          </a:p>
        </p:txBody>
      </p:sp>
      <p:sp>
        <p:nvSpPr>
          <p:cNvPr id="13" name="Eticheta Recognition"/>
          <p:cNvSpPr txBox="1"/>
          <p:nvPr/>
        </p:nvSpPr>
        <p:spPr>
          <a:xfrm>
            <a:off x="8366760" y="3273552"/>
            <a:ext cx="2743200" cy="548640"/>
          </a:xfrm>
          <a:prstGeom prst="rect">
            <a:avLst/>
          </a:prstGeom>
          <a:noFill/>
          <a:ln/>
        </p:spPr>
        <p:txBody>
          <a:bodyPr wrap="square" lIns="254" tIns="254" rIns="254" bIns="254" rtlCol="0" anchor="ctr"/>
          <a:lstStyle/>
          <a:p>
            <a:pPr algn="l" indent="0" marL="0">
              <a:buNone/>
            </a:pPr>
            <a:r>
              <a:rPr lang="en-US" sz="1500" b="1" dirty="0">
                <a:solidFill>
                  <a:srgbClr val="1F2A44"/>
                </a:solidFill>
              </a:rPr>
              <a:t>Recognition</a:t>
            </a:r>
            <a:endParaRPr lang="en-US" sz="1500" dirty="0"/>
          </a:p>
        </p:txBody>
      </p:sp>
      <p:sp>
        <p:nvSpPr>
          <p:cNvPr id="14" name="Litera 3"/>
          <p:cNvSpPr/>
          <p:nvPr/>
        </p:nvSpPr>
        <p:spPr>
          <a:xfrm>
            <a:off x="7680960" y="3950208"/>
            <a:ext cx="548640" cy="548640"/>
          </a:xfrm>
          <a:prstGeom prst="roundRect">
            <a:avLst>
              <a:gd name="adj" fmla="val 13333"/>
            </a:avLst>
          </a:prstGeom>
          <a:solidFill>
            <a:srgbClr val="F96167"/>
          </a:solidFill>
          <a:ln w="12700">
            <a:solidFill>
              <a:srgbClr val="F96167"/>
            </a:solidFill>
            <a:prstDash val="solid"/>
          </a:ln>
        </p:spPr>
      </p:sp>
      <p:sp>
        <p:nvSpPr>
          <p:cNvPr id="15" name="Eticheta G"/>
          <p:cNvSpPr txBox="1"/>
          <p:nvPr/>
        </p:nvSpPr>
        <p:spPr>
          <a:xfrm>
            <a:off x="7680960" y="3950208"/>
            <a:ext cx="548640" cy="548640"/>
          </a:xfrm>
          <a:prstGeom prst="rect">
            <a:avLst/>
          </a:prstGeom>
          <a:noFill/>
          <a:ln/>
        </p:spPr>
        <p:txBody>
          <a:bodyPr wrap="square" lIns="254" tIns="254" rIns="254" bIns="254" rtlCol="0" anchor="ctr"/>
          <a:lstStyle/>
          <a:p>
            <a:pPr algn="ctr" indent="0" marL="0">
              <a:buNone/>
            </a:pPr>
            <a:r>
              <a:rPr lang="en-US" sz="1800" b="1" dirty="0">
                <a:solidFill>
                  <a:srgbClr val="FFFFFF"/>
                </a:solidFill>
              </a:rPr>
              <a:t>G</a:t>
            </a:r>
            <a:endParaRPr lang="en-US" sz="1800" dirty="0"/>
          </a:p>
        </p:txBody>
      </p:sp>
      <p:sp>
        <p:nvSpPr>
          <p:cNvPr id="16" name="Eticheta Grouping"/>
          <p:cNvSpPr txBox="1"/>
          <p:nvPr/>
        </p:nvSpPr>
        <p:spPr>
          <a:xfrm>
            <a:off x="8366760" y="3950208"/>
            <a:ext cx="2743200" cy="548640"/>
          </a:xfrm>
          <a:prstGeom prst="rect">
            <a:avLst/>
          </a:prstGeom>
          <a:noFill/>
          <a:ln/>
        </p:spPr>
        <p:txBody>
          <a:bodyPr wrap="square" lIns="254" tIns="254" rIns="254" bIns="254" rtlCol="0" anchor="ctr"/>
          <a:lstStyle/>
          <a:p>
            <a:pPr algn="l" indent="0" marL="0">
              <a:buNone/>
            </a:pPr>
            <a:r>
              <a:rPr lang="en-US" sz="1500" b="1" dirty="0">
                <a:solidFill>
                  <a:srgbClr val="1F2A44"/>
                </a:solidFill>
              </a:rPr>
              <a:t>Grouping</a:t>
            </a:r>
            <a:endParaRPr lang="en-US" sz="1500" dirty="0"/>
          </a:p>
        </p:txBody>
      </p:sp>
      <p:sp>
        <p:nvSpPr>
          <p:cNvPr id="17" name="Litera 4"/>
          <p:cNvSpPr/>
          <p:nvPr/>
        </p:nvSpPr>
        <p:spPr>
          <a:xfrm>
            <a:off x="7680960" y="4626864"/>
            <a:ext cx="548640" cy="548640"/>
          </a:xfrm>
          <a:prstGeom prst="roundRect">
            <a:avLst>
              <a:gd name="adj" fmla="val 13333"/>
            </a:avLst>
          </a:prstGeom>
          <a:solidFill>
            <a:srgbClr val="2F3C7E"/>
          </a:solidFill>
          <a:ln w="12700">
            <a:solidFill>
              <a:srgbClr val="2F3C7E"/>
            </a:solidFill>
            <a:prstDash val="solid"/>
          </a:ln>
        </p:spPr>
      </p:sp>
      <p:sp>
        <p:nvSpPr>
          <p:cNvPr id="18" name="Eticheta E"/>
          <p:cNvSpPr txBox="1"/>
          <p:nvPr/>
        </p:nvSpPr>
        <p:spPr>
          <a:xfrm>
            <a:off x="7680960" y="4626864"/>
            <a:ext cx="548640" cy="548640"/>
          </a:xfrm>
          <a:prstGeom prst="rect">
            <a:avLst/>
          </a:prstGeom>
          <a:noFill/>
          <a:ln/>
        </p:spPr>
        <p:txBody>
          <a:bodyPr wrap="square" lIns="254" tIns="254" rIns="254" bIns="254" rtlCol="0" anchor="ctr"/>
          <a:lstStyle/>
          <a:p>
            <a:pPr algn="ctr" indent="0" marL="0">
              <a:buNone/>
            </a:pPr>
            <a:r>
              <a:rPr lang="en-US" sz="1800" b="1" dirty="0">
                <a:solidFill>
                  <a:srgbClr val="FFFFFF"/>
                </a:solidFill>
              </a:rPr>
              <a:t>E</a:t>
            </a:r>
            <a:endParaRPr lang="en-US" sz="1800" dirty="0"/>
          </a:p>
        </p:txBody>
      </p:sp>
      <p:sp>
        <p:nvSpPr>
          <p:cNvPr id="19" name="Eticheta Evaluation"/>
          <p:cNvSpPr txBox="1"/>
          <p:nvPr/>
        </p:nvSpPr>
        <p:spPr>
          <a:xfrm>
            <a:off x="8366760" y="4626864"/>
            <a:ext cx="2743200" cy="548640"/>
          </a:xfrm>
          <a:prstGeom prst="rect">
            <a:avLst/>
          </a:prstGeom>
          <a:noFill/>
          <a:ln/>
        </p:spPr>
        <p:txBody>
          <a:bodyPr wrap="square" lIns="254" tIns="254" rIns="254" bIns="254" rtlCol="0" anchor="ctr"/>
          <a:lstStyle/>
          <a:p>
            <a:pPr algn="l" indent="0" marL="0">
              <a:buNone/>
            </a:pPr>
            <a:r>
              <a:rPr lang="en-US" sz="1500" b="1" dirty="0">
                <a:solidFill>
                  <a:srgbClr val="1F2A44"/>
                </a:solidFill>
              </a:rPr>
              <a:t>Evaluation</a:t>
            </a:r>
            <a:endParaRPr lang="en-US" sz="1500" dirty="0"/>
          </a:p>
        </p:txBody>
      </p:sp>
      <p:sp>
        <p:nvSpPr>
          <p:cNvPr id="20" name="Litera 5"/>
          <p:cNvSpPr/>
          <p:nvPr/>
        </p:nvSpPr>
        <p:spPr>
          <a:xfrm>
            <a:off x="7680960" y="5303520"/>
            <a:ext cx="548640" cy="548640"/>
          </a:xfrm>
          <a:prstGeom prst="roundRect">
            <a:avLst>
              <a:gd name="adj" fmla="val 13333"/>
            </a:avLst>
          </a:prstGeom>
          <a:solidFill>
            <a:srgbClr val="F96167"/>
          </a:solidFill>
          <a:ln w="12700">
            <a:solidFill>
              <a:srgbClr val="F96167"/>
            </a:solidFill>
            <a:prstDash val="solid"/>
          </a:ln>
        </p:spPr>
      </p:sp>
      <p:sp>
        <p:nvSpPr>
          <p:cNvPr id="21" name="Eticheta T"/>
          <p:cNvSpPr txBox="1"/>
          <p:nvPr/>
        </p:nvSpPr>
        <p:spPr>
          <a:xfrm>
            <a:off x="7680960" y="5303520"/>
            <a:ext cx="548640" cy="548640"/>
          </a:xfrm>
          <a:prstGeom prst="rect">
            <a:avLst/>
          </a:prstGeom>
          <a:noFill/>
          <a:ln/>
        </p:spPr>
        <p:txBody>
          <a:bodyPr wrap="square" lIns="254" tIns="254" rIns="254" bIns="254" rtlCol="0" anchor="ctr"/>
          <a:lstStyle/>
          <a:p>
            <a:pPr algn="ctr" indent="0" marL="0">
              <a:buNone/>
            </a:pPr>
            <a:r>
              <a:rPr lang="en-US" sz="1800" b="1" dirty="0">
                <a:solidFill>
                  <a:srgbClr val="FFFFFF"/>
                </a:solidFill>
              </a:rPr>
              <a:t>T</a:t>
            </a:r>
            <a:endParaRPr lang="en-US" sz="1800" dirty="0"/>
          </a:p>
        </p:txBody>
      </p:sp>
      <p:sp>
        <p:nvSpPr>
          <p:cNvPr id="22" name="Eticheta Time"/>
          <p:cNvSpPr txBox="1"/>
          <p:nvPr/>
        </p:nvSpPr>
        <p:spPr>
          <a:xfrm>
            <a:off x="8366760" y="5303520"/>
            <a:ext cx="2743200" cy="548640"/>
          </a:xfrm>
          <a:prstGeom prst="rect">
            <a:avLst/>
          </a:prstGeom>
          <a:noFill/>
          <a:ln/>
        </p:spPr>
        <p:txBody>
          <a:bodyPr wrap="square" lIns="254" tIns="254" rIns="254" bIns="254" rtlCol="0" anchor="ctr"/>
          <a:lstStyle/>
          <a:p>
            <a:pPr algn="l" indent="0" marL="0">
              <a:buNone/>
            </a:pPr>
            <a:r>
              <a:rPr lang="en-US" sz="1500" b="1" dirty="0">
                <a:solidFill>
                  <a:srgbClr val="1F2A44"/>
                </a:solidFill>
              </a:rPr>
              <a:t>Time</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Eticheta parte"/>
          <p:cNvSpPr txBox="1"/>
          <p:nvPr/>
        </p:nvSpPr>
        <p:spPr>
          <a:xfrm>
            <a:off x="731520" y="1463040"/>
            <a:ext cx="5486400" cy="457200"/>
          </a:xfrm>
          <a:prstGeom prst="rect">
            <a:avLst/>
          </a:prstGeom>
          <a:noFill/>
          <a:ln/>
        </p:spPr>
        <p:txBody>
          <a:bodyPr wrap="square" lIns="0" tIns="0" rIns="0" bIns="0" rtlCol="0" anchor="ctr"/>
          <a:lstStyle/>
          <a:p>
            <a:pPr indent="0" marL="0">
              <a:buNone/>
            </a:pPr>
            <a:r>
              <a:rPr lang="en-US" sz="1600" b="1" spc="400" kern="0" dirty="0">
                <a:solidFill>
                  <a:srgbClr val="F9E795"/>
                </a:solidFill>
              </a:rPr>
              <a:t>PARTEA 4</a:t>
            </a:r>
            <a:endParaRPr lang="en-US" sz="1600" dirty="0"/>
          </a:p>
        </p:txBody>
      </p:sp>
      <p:sp>
        <p:nvSpPr>
          <p:cNvPr id="3" name="Numar mare"/>
          <p:cNvSpPr txBox="1"/>
          <p:nvPr/>
        </p:nvSpPr>
        <p:spPr>
          <a:xfrm>
            <a:off x="8503920" y="1097280"/>
            <a:ext cx="2926080" cy="3291840"/>
          </a:xfrm>
          <a:prstGeom prst="rect">
            <a:avLst/>
          </a:prstGeom>
          <a:noFill/>
          <a:ln/>
        </p:spPr>
        <p:txBody>
          <a:bodyPr wrap="square" lIns="0" tIns="0" rIns="0" bIns="0" rtlCol="0" anchor="ctr"/>
          <a:lstStyle/>
          <a:p>
            <a:pPr algn="r" indent="0" marL="0">
              <a:buNone/>
            </a:pPr>
            <a:r>
              <a:rPr lang="en-US" sz="20000" b="1" dirty="0">
                <a:solidFill>
                  <a:srgbClr val="FFFFFF">
                    <a:alpha val="15000"/>
                  </a:srgbClr>
                </a:solidFill>
              </a:rPr>
              <a:t>4</a:t>
            </a:r>
            <a:endParaRPr lang="en-US" sz="20000" dirty="0"/>
          </a:p>
        </p:txBody>
      </p:sp>
      <p:sp>
        <p:nvSpPr>
          <p:cNvPr id="4" name="Text 0"/>
          <p:cNvSpPr/>
          <p:nvPr>
            <p:ph idx="100" type="title" hasCustomPrompt="1"/>
          </p:nvPr>
        </p:nvSpPr>
        <p:spPr>
          <a:xfrm>
            <a:off x="731520" y="2377440"/>
            <a:ext cx="10698480" cy="1463040"/>
          </a:xfrm>
          <a:prstGeom prst="rect">
            <a:avLst/>
          </a:prstGeom>
          <a:noFill/>
          <a:ln/>
        </p:spPr>
        <p:txBody>
          <a:bodyPr wrap="square" lIns="0" tIns="0" rIns="0" bIns="0" rtlCol="0" anchor="ctr"/>
          <a:lstStyle/>
          <a:p>
            <a:pPr algn="l" indent="0" marL="0">
              <a:buNone/>
            </a:pPr>
            <a:r>
              <a:rPr lang="en-US" sz="3800" b="1" dirty="0">
                <a:solidFill>
                  <a:srgbClr val="FFFFFF"/>
                </a:solidFill>
              </a:rPr>
              <a:t>Tehnici motivaționale de predare</a:t>
            </a:r>
            <a:endParaRPr lang="en-US" sz="3800" dirty="0"/>
          </a:p>
        </p:txBody>
      </p:sp>
      <p:sp>
        <p:nvSpPr>
          <p:cNvPr id="5" name="Text 0"/>
          <p:cNvSpPr/>
          <p:nvPr>
            <p:ph idx="101" type="body" hasCustomPrompt="1"/>
          </p:nvPr>
        </p:nvSpPr>
        <p:spPr>
          <a:xfrm>
            <a:off x="731520" y="3931920"/>
            <a:ext cx="10698480" cy="822960"/>
          </a:xfrm>
          <a:prstGeom prst="rect">
            <a:avLst/>
          </a:prstGeom>
          <a:noFill/>
          <a:ln/>
        </p:spPr>
        <p:txBody>
          <a:bodyPr wrap="square" lIns="0" tIns="0" rIns="0" bIns="0" rtlCol="0" anchor="t"/>
          <a:lstStyle/>
          <a:p>
            <a:pPr algn="l" indent="0" marL="0">
              <a:buNone/>
            </a:pPr>
            <a:r>
              <a:rPr lang="en-US" sz="1800" dirty="0">
                <a:solidFill>
                  <a:srgbClr val="F9E795"/>
                </a:solidFill>
              </a:rPr>
              <a:t>Membrul 4  ·  7-8 minute</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Stabilirea obiectivelor</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Obiective concrete și măsurabile, nu „fă tot ce poți”</a:t>
            </a:r>
            <a:endParaRPr lang="en-US" sz="1600" dirty="0"/>
          </a:p>
          <a:p>
            <a:pPr marL="228600" indent="-228600">
              <a:spcAft>
                <a:spcPts val="1000"/>
              </a:spcAft>
              <a:buSzPct val="100000"/>
              <a:buChar char="•"/>
            </a:pPr>
            <a:r>
              <a:rPr lang="en-US" sz="1600" dirty="0">
                <a:solidFill>
                  <a:srgbClr val="1F2A44"/>
                </a:solidFill>
              </a:rPr>
              <a:t>Pe termen scurt (ora de azi), mediu (luna), lung (semestrul)</a:t>
            </a:r>
            <a:endParaRPr lang="en-US" sz="1600" dirty="0"/>
          </a:p>
          <a:p>
            <a:pPr marL="228600" indent="-228600">
              <a:spcAft>
                <a:spcPts val="1000"/>
              </a:spcAft>
              <a:buSzPct val="100000"/>
              <a:buChar char="•"/>
            </a:pPr>
            <a:r>
              <a:rPr lang="en-US" sz="1600" dirty="0">
                <a:solidFill>
                  <a:srgbClr val="1F2A44"/>
                </a:solidFill>
              </a:rPr>
              <a:t>Dificultate moderată: puțin peste ce poate acum</a:t>
            </a:r>
            <a:endParaRPr lang="en-US" sz="1600" dirty="0"/>
          </a:p>
          <a:p>
            <a:pPr marL="228600" indent="-228600">
              <a:spcAft>
                <a:spcPts val="1000"/>
              </a:spcAft>
              <a:buSzPct val="100000"/>
              <a:buChar char="•"/>
            </a:pPr>
            <a:r>
              <a:rPr lang="en-US" sz="1600" dirty="0">
                <a:solidFill>
                  <a:srgbClr val="1F2A44"/>
                </a:solidFill>
              </a:rPr>
              <a:t>Elevul își fixează singur o parte din obiective</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Card ob 0"/>
          <p:cNvSpPr/>
          <p:nvPr/>
        </p:nvSpPr>
        <p:spPr>
          <a:xfrm>
            <a:off x="7635240" y="2103120"/>
            <a:ext cx="3566160" cy="1097280"/>
          </a:xfrm>
          <a:prstGeom prst="roundRect">
            <a:avLst>
              <a:gd name="adj" fmla="val 8333"/>
            </a:avLst>
          </a:prstGeom>
          <a:solidFill>
            <a:srgbClr val="FDE2E3"/>
          </a:solidFill>
          <a:ln w="12700">
            <a:solidFill>
              <a:srgbClr val="FDE2E3"/>
            </a:solidFill>
            <a:prstDash val="solid"/>
          </a:ln>
        </p:spPr>
      </p:sp>
      <p:sp>
        <p:nvSpPr>
          <p:cNvPr id="6" name="Text ob 0"/>
          <p:cNvSpPr txBox="1"/>
          <p:nvPr/>
        </p:nvSpPr>
        <p:spPr>
          <a:xfrm>
            <a:off x="7772400" y="2194560"/>
            <a:ext cx="3291840" cy="914400"/>
          </a:xfrm>
          <a:prstGeom prst="rect">
            <a:avLst/>
          </a:prstGeom>
          <a:noFill/>
          <a:ln/>
        </p:spPr>
        <p:txBody>
          <a:bodyPr wrap="square" lIns="0" tIns="0" rIns="0" bIns="0" rtlCol="0" anchor="ctr"/>
          <a:lstStyle/>
          <a:p>
            <a:pPr indent="0" marL="0">
              <a:buNone/>
            </a:pPr>
            <a:r>
              <a:rPr lang="en-US" sz="1500" b="1" dirty="0">
                <a:solidFill>
                  <a:srgbClr val="A3262B"/>
                </a:solidFill>
              </a:rPr>
              <a:t>Vag</a:t>
            </a:r>
            <a:endParaRPr lang="en-US" sz="1500" dirty="0"/>
          </a:p>
          <a:p>
            <a:pPr indent="0" marL="0">
              <a:buNone/>
            </a:pPr>
            <a:r>
              <a:rPr lang="en-US" sz="1300" dirty="0">
                <a:solidFill>
                  <a:srgbClr val="A3262B"/>
                </a:solidFill>
              </a:rPr>
              <a:t>„fă tot ce poți”</a:t>
            </a:r>
            <a:endParaRPr lang="en-US" sz="1500" dirty="0"/>
          </a:p>
        </p:txBody>
      </p:sp>
      <p:sp>
        <p:nvSpPr>
          <p:cNvPr id="7" name="Card ob 1"/>
          <p:cNvSpPr/>
          <p:nvPr/>
        </p:nvSpPr>
        <p:spPr>
          <a:xfrm>
            <a:off x="7635240" y="3474720"/>
            <a:ext cx="3566160" cy="1097280"/>
          </a:xfrm>
          <a:prstGeom prst="roundRect">
            <a:avLst>
              <a:gd name="adj" fmla="val 8333"/>
            </a:avLst>
          </a:prstGeom>
          <a:solidFill>
            <a:srgbClr val="E6F4EA"/>
          </a:solidFill>
          <a:ln w="12700">
            <a:solidFill>
              <a:srgbClr val="E6F4EA"/>
            </a:solidFill>
            <a:prstDash val="solid"/>
          </a:ln>
        </p:spPr>
      </p:sp>
      <p:sp>
        <p:nvSpPr>
          <p:cNvPr id="8" name="Text ob 1"/>
          <p:cNvSpPr txBox="1"/>
          <p:nvPr/>
        </p:nvSpPr>
        <p:spPr>
          <a:xfrm>
            <a:off x="7772400" y="3566160"/>
            <a:ext cx="3291840" cy="914400"/>
          </a:xfrm>
          <a:prstGeom prst="rect">
            <a:avLst/>
          </a:prstGeom>
          <a:noFill/>
          <a:ln/>
        </p:spPr>
        <p:txBody>
          <a:bodyPr wrap="square" lIns="0" tIns="0" rIns="0" bIns="0" rtlCol="0" anchor="ctr"/>
          <a:lstStyle/>
          <a:p>
            <a:pPr indent="0" marL="0">
              <a:buNone/>
            </a:pPr>
            <a:r>
              <a:rPr lang="en-US" sz="1500" b="1" dirty="0">
                <a:solidFill>
                  <a:srgbClr val="1E6B3A"/>
                </a:solidFill>
              </a:rPr>
              <a:t>Concret</a:t>
            </a:r>
            <a:endParaRPr lang="en-US" sz="1500" dirty="0"/>
          </a:p>
          <a:p>
            <a:pPr indent="0" marL="0">
              <a:buNone/>
            </a:pPr>
            <a:r>
              <a:rPr lang="en-US" sz="1300" dirty="0">
                <a:solidFill>
                  <a:srgbClr val="1E6B3A"/>
                </a:solidFill>
              </a:rPr>
              <a:t>„10 flotări corecte”</a:t>
            </a:r>
            <a:endParaRPr lang="en-US" sz="1500" dirty="0"/>
          </a:p>
        </p:txBody>
      </p:sp>
      <p:sp>
        <p:nvSpPr>
          <p:cNvPr id="9" name="Eticheta scurt · mediu · lung"/>
          <p:cNvSpPr txBox="1"/>
          <p:nvPr/>
        </p:nvSpPr>
        <p:spPr>
          <a:xfrm>
            <a:off x="7635240" y="5029200"/>
            <a:ext cx="3566160" cy="457200"/>
          </a:xfrm>
          <a:prstGeom prst="rect">
            <a:avLst/>
          </a:prstGeom>
          <a:noFill/>
          <a:ln/>
        </p:spPr>
        <p:txBody>
          <a:bodyPr wrap="square" lIns="254" tIns="254" rIns="254" bIns="254" rtlCol="0" anchor="ctr"/>
          <a:lstStyle/>
          <a:p>
            <a:pPr algn="ctr" indent="0" marL="0">
              <a:buNone/>
            </a:pPr>
            <a:r>
              <a:rPr lang="en-US" sz="1400" b="1" dirty="0">
                <a:solidFill>
                  <a:srgbClr val="2F3C7E"/>
                </a:solidFill>
              </a:rPr>
              <a:t>scurt · mediu · lung</a:t>
            </a:r>
            <a:endParaRPr lang="en-US" sz="1400" dirty="0"/>
          </a:p>
        </p:txBody>
      </p:sp>
      <p:sp>
        <p:nvSpPr>
          <p:cNvPr id="10" name="Eticheta Locke &amp;amp; Latham"/>
          <p:cNvSpPr txBox="1"/>
          <p:nvPr/>
        </p:nvSpPr>
        <p:spPr>
          <a:xfrm>
            <a:off x="7635240" y="5486400"/>
            <a:ext cx="3566160" cy="365760"/>
          </a:xfrm>
          <a:prstGeom prst="rect">
            <a:avLst/>
          </a:prstGeom>
          <a:noFill/>
          <a:ln/>
        </p:spPr>
        <p:txBody>
          <a:bodyPr wrap="square" lIns="254" tIns="254" rIns="254" bIns="254" rtlCol="0" anchor="ctr"/>
          <a:lstStyle/>
          <a:p>
            <a:pPr algn="ctr" indent="0" marL="0">
              <a:buNone/>
            </a:pPr>
            <a:r>
              <a:rPr lang="en-US" sz="1100" i="1" dirty="0">
                <a:solidFill>
                  <a:srgbClr val="6B7280"/>
                </a:solidFill>
              </a:rPr>
              <a:t>Locke &amp; Latham</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Feedbackul și recunoașterea</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Imediat, concret, legat de comportament: „genunchii mai sus”, nu „mai bine”</a:t>
            </a:r>
            <a:endParaRPr lang="en-US" sz="1600" dirty="0"/>
          </a:p>
          <a:p>
            <a:pPr marL="228600" indent="-228600">
              <a:spcAft>
                <a:spcPts val="1000"/>
              </a:spcAft>
              <a:buSzPct val="100000"/>
              <a:buChar char="•"/>
            </a:pPr>
            <a:r>
              <a:rPr lang="en-US" sz="1600" dirty="0">
                <a:solidFill>
                  <a:srgbClr val="1F2A44"/>
                </a:solidFill>
              </a:rPr>
              <a:t>Efort și progres, nu talent: „se vede că ai exersat”</a:t>
            </a:r>
            <a:endParaRPr lang="en-US" sz="1600" dirty="0"/>
          </a:p>
          <a:p>
            <a:pPr marL="228600" indent="-228600">
              <a:spcAft>
                <a:spcPts val="1000"/>
              </a:spcAft>
              <a:buSzPct val="100000"/>
              <a:buChar char="•"/>
            </a:pPr>
            <a:r>
              <a:rPr lang="en-US" sz="1600" dirty="0">
                <a:solidFill>
                  <a:srgbClr val="1F2A44"/>
                </a:solidFill>
              </a:rPr>
              <a:t>Raport 3 la 1: trei observații pozitive la una corectivă</a:t>
            </a:r>
            <a:endParaRPr lang="en-US" sz="1600" dirty="0"/>
          </a:p>
          <a:p>
            <a:pPr marL="228600" indent="-228600">
              <a:spcAft>
                <a:spcPts val="1000"/>
              </a:spcAft>
              <a:buSzPct val="100000"/>
              <a:buChar char="•"/>
            </a:pPr>
            <a:r>
              <a:rPr lang="en-US" sz="1600" dirty="0">
                <a:solidFill>
                  <a:srgbClr val="1F2A44"/>
                </a:solidFill>
              </a:rPr>
              <a:t>Recompensele extrinseci: rar, pentru progres, nu pentru a fi primul</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Raport 3 la 1"/>
          <p:cNvSpPr txBox="1"/>
          <p:nvPr/>
        </p:nvSpPr>
        <p:spPr>
          <a:xfrm>
            <a:off x="7589520" y="2011680"/>
            <a:ext cx="3657600" cy="1188720"/>
          </a:xfrm>
          <a:prstGeom prst="rect">
            <a:avLst/>
          </a:prstGeom>
          <a:noFill/>
          <a:ln/>
        </p:spPr>
        <p:txBody>
          <a:bodyPr wrap="square" lIns="0" tIns="0" rIns="0" bIns="0" rtlCol="0" anchor="ctr"/>
          <a:lstStyle/>
          <a:p>
            <a:pPr algn="ctr" indent="0" marL="0">
              <a:buNone/>
            </a:pPr>
            <a:r>
              <a:rPr lang="en-US" sz="6000" b="1" dirty="0">
                <a:solidFill>
                  <a:srgbClr val="F96167"/>
                </a:solidFill>
              </a:rPr>
              <a:t>3 : 1</a:t>
            </a:r>
            <a:endParaRPr lang="en-US" sz="6000" dirty="0"/>
          </a:p>
        </p:txBody>
      </p:sp>
      <p:sp>
        <p:nvSpPr>
          <p:cNvPr id="6" name="Eticheta trei observații pozi"/>
          <p:cNvSpPr txBox="1"/>
          <p:nvPr/>
        </p:nvSpPr>
        <p:spPr>
          <a:xfrm>
            <a:off x="7589520" y="3200400"/>
            <a:ext cx="3657600" cy="731520"/>
          </a:xfrm>
          <a:prstGeom prst="rect">
            <a:avLst/>
          </a:prstGeom>
          <a:noFill/>
          <a:ln/>
        </p:spPr>
        <p:txBody>
          <a:bodyPr wrap="square" lIns="254" tIns="254" rIns="254" bIns="254" rtlCol="0" anchor="ctr"/>
          <a:lstStyle/>
          <a:p>
            <a:pPr algn="ctr" indent="0" marL="0">
              <a:buNone/>
            </a:pPr>
            <a:r>
              <a:rPr lang="en-US" sz="1300" dirty="0">
                <a:solidFill>
                  <a:srgbClr val="6B7280"/>
                </a:solidFill>
              </a:rPr>
              <a:t>trei observații pozitive</a:t>
            </a:r>
            <a:endParaRPr lang="en-US" sz="1300" dirty="0"/>
          </a:p>
          <a:p>
            <a:pPr algn="ctr" indent="0" marL="0">
              <a:buNone/>
            </a:pPr>
            <a:r>
              <a:rPr lang="en-US" sz="1300" dirty="0">
                <a:solidFill>
                  <a:srgbClr val="6B7280"/>
                </a:solidFill>
              </a:rPr>
              <a:t>la una corectivă</a:t>
            </a:r>
            <a:endParaRPr lang="en-US" sz="1300" dirty="0"/>
          </a:p>
        </p:txBody>
      </p:sp>
      <p:sp>
        <p:nvSpPr>
          <p:cNvPr id="7" name="Card efort"/>
          <p:cNvSpPr/>
          <p:nvPr/>
        </p:nvSpPr>
        <p:spPr>
          <a:xfrm>
            <a:off x="7635240" y="4114800"/>
            <a:ext cx="3566160" cy="1554480"/>
          </a:xfrm>
          <a:prstGeom prst="roundRect">
            <a:avLst>
              <a:gd name="adj" fmla="val 5882"/>
            </a:avLst>
          </a:prstGeom>
          <a:solidFill>
            <a:srgbClr val="2F3C7E"/>
          </a:solidFill>
          <a:ln w="12700">
            <a:solidFill>
              <a:srgbClr val="2F3C7E"/>
            </a:solidFill>
            <a:prstDash val="solid"/>
          </a:ln>
        </p:spPr>
      </p:sp>
      <p:sp>
        <p:nvSpPr>
          <p:cNvPr id="8" name="Text efort"/>
          <p:cNvSpPr txBox="1"/>
          <p:nvPr/>
        </p:nvSpPr>
        <p:spPr>
          <a:xfrm>
            <a:off x="7772400" y="4206240"/>
            <a:ext cx="3291840" cy="1371600"/>
          </a:xfrm>
          <a:prstGeom prst="rect">
            <a:avLst/>
          </a:prstGeom>
          <a:noFill/>
          <a:ln/>
        </p:spPr>
        <p:txBody>
          <a:bodyPr wrap="square" lIns="0" tIns="0" rIns="0" bIns="0" rtlCol="0" anchor="ctr"/>
          <a:lstStyle/>
          <a:p>
            <a:pPr algn="ctr" indent="0" marL="0">
              <a:buNone/>
            </a:pPr>
            <a:r>
              <a:rPr lang="en-US" sz="1600" b="1" dirty="0">
                <a:solidFill>
                  <a:srgbClr val="FFFFFF"/>
                </a:solidFill>
              </a:rPr>
              <a:t>„Se vede că ai exersat.”</a:t>
            </a:r>
            <a:endParaRPr lang="en-US" sz="1600" dirty="0"/>
          </a:p>
          <a:p>
            <a:pPr algn="ctr" indent="0" marL="0">
              <a:buNone/>
            </a:pPr>
            <a:r>
              <a:rPr lang="en-US" sz="1200" dirty="0">
                <a:solidFill>
                  <a:srgbClr val="F9E795"/>
                </a:solidFill>
              </a:rPr>
              <a:t>efort, nu talent</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Autonomie, varietate și joc</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Oferă alegeri: între două exerciții, ordinea stațiilor, partenerul</a:t>
            </a:r>
            <a:endParaRPr lang="en-US" sz="1600" dirty="0"/>
          </a:p>
          <a:p>
            <a:pPr marL="228600" indent="-228600">
              <a:spcAft>
                <a:spcPts val="1000"/>
              </a:spcAft>
              <a:buSzPct val="100000"/>
              <a:buChar char="•"/>
            </a:pPr>
            <a:r>
              <a:rPr lang="en-US" sz="1600" dirty="0">
                <a:solidFill>
                  <a:srgbClr val="1F2A44"/>
                </a:solidFill>
              </a:rPr>
              <a:t>Variază: altă structură a orei, alt joc, altă muzică</a:t>
            </a:r>
            <a:endParaRPr lang="en-US" sz="1600" dirty="0"/>
          </a:p>
          <a:p>
            <a:pPr marL="228600" indent="-228600">
              <a:spcAft>
                <a:spcPts val="1000"/>
              </a:spcAft>
              <a:buSzPct val="100000"/>
              <a:buChar char="•"/>
            </a:pPr>
            <a:r>
              <a:rPr lang="en-US" sz="1600" dirty="0">
                <a:solidFill>
                  <a:srgbClr val="1F2A44"/>
                </a:solidFill>
              </a:rPr>
              <a:t>Jocul: cel mai puternic motivator intrinsec la toate vârstele</a:t>
            </a:r>
            <a:endParaRPr lang="en-US" sz="1600" dirty="0"/>
          </a:p>
          <a:p>
            <a:pPr marL="228600" indent="-228600">
              <a:spcAft>
                <a:spcPts val="1000"/>
              </a:spcAft>
              <a:buSzPct val="100000"/>
              <a:buChar char="•"/>
            </a:pPr>
            <a:r>
              <a:rPr lang="en-US" sz="1600" dirty="0">
                <a:solidFill>
                  <a:srgbClr val="1F2A44"/>
                </a:solidFill>
              </a:rPr>
              <a:t>Învățarea prin descoperire: lasă elevul să găsească soluția</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Cerc trei 0"/>
          <p:cNvSpPr/>
          <p:nvPr/>
        </p:nvSpPr>
        <p:spPr>
          <a:xfrm>
            <a:off x="7680960" y="2011680"/>
            <a:ext cx="1005840" cy="1005840"/>
          </a:xfrm>
          <a:prstGeom prst="ellipse">
            <a:avLst/>
          </a:prstGeom>
          <a:solidFill>
            <a:srgbClr val="2F3C7E"/>
          </a:solidFill>
          <a:ln w="12700">
            <a:solidFill>
              <a:srgbClr val="2F3C7E"/>
            </a:solidFill>
            <a:prstDash val="solid"/>
          </a:ln>
        </p:spPr>
      </p:sp>
      <p:pic>
        <p:nvPicPr>
          <p:cNvPr id="6" name="Icon trei 0" descr="preencoded.png">    </p:cNvPr>
          <p:cNvPicPr>
            <a:picLocks noChangeAspect="1"/>
          </p:cNvPicPr>
          <p:nvPr/>
        </p:nvPicPr>
        <p:blipFill>
          <a:blip r:embed="rId1"/>
          <a:stretch>
            <a:fillRect/>
          </a:stretch>
        </p:blipFill>
        <p:spPr>
          <a:xfrm>
            <a:off x="7936992" y="2267712"/>
            <a:ext cx="493776" cy="493776"/>
          </a:xfrm>
          <a:prstGeom prst="rect">
            <a:avLst/>
          </a:prstGeom>
        </p:spPr>
      </p:pic>
      <p:sp>
        <p:nvSpPr>
          <p:cNvPr id="7" name="Eticheta Autonomie"/>
          <p:cNvSpPr txBox="1"/>
          <p:nvPr/>
        </p:nvSpPr>
        <p:spPr>
          <a:xfrm>
            <a:off x="8869680" y="2011680"/>
            <a:ext cx="2468880" cy="1005840"/>
          </a:xfrm>
          <a:prstGeom prst="rect">
            <a:avLst/>
          </a:prstGeom>
          <a:noFill/>
          <a:ln/>
        </p:spPr>
        <p:txBody>
          <a:bodyPr wrap="square" lIns="254" tIns="254" rIns="254" bIns="254" rtlCol="0" anchor="ctr"/>
          <a:lstStyle/>
          <a:p>
            <a:pPr algn="l" indent="0" marL="0">
              <a:buNone/>
            </a:pPr>
            <a:r>
              <a:rPr lang="en-US" sz="1800" b="1" dirty="0">
                <a:solidFill>
                  <a:srgbClr val="1F2A44"/>
                </a:solidFill>
              </a:rPr>
              <a:t>Autonomie</a:t>
            </a:r>
            <a:endParaRPr lang="en-US" sz="1800" dirty="0"/>
          </a:p>
        </p:txBody>
      </p:sp>
      <p:sp>
        <p:nvSpPr>
          <p:cNvPr id="8" name="Cerc trei 1"/>
          <p:cNvSpPr/>
          <p:nvPr/>
        </p:nvSpPr>
        <p:spPr>
          <a:xfrm>
            <a:off x="7680960" y="3337560"/>
            <a:ext cx="1005840" cy="1005840"/>
          </a:xfrm>
          <a:prstGeom prst="ellipse">
            <a:avLst/>
          </a:prstGeom>
          <a:solidFill>
            <a:srgbClr val="F96167"/>
          </a:solidFill>
          <a:ln w="12700">
            <a:solidFill>
              <a:srgbClr val="F96167"/>
            </a:solidFill>
            <a:prstDash val="solid"/>
          </a:ln>
        </p:spPr>
      </p:sp>
      <p:pic>
        <p:nvPicPr>
          <p:cNvPr id="9" name="Icon trei 1" descr="preencoded.png">    </p:cNvPr>
          <p:cNvPicPr>
            <a:picLocks noChangeAspect="1"/>
          </p:cNvPicPr>
          <p:nvPr/>
        </p:nvPicPr>
        <p:blipFill>
          <a:blip r:embed="rId2"/>
          <a:stretch>
            <a:fillRect/>
          </a:stretch>
        </p:blipFill>
        <p:spPr>
          <a:xfrm>
            <a:off x="7936992" y="3593592"/>
            <a:ext cx="493776" cy="493776"/>
          </a:xfrm>
          <a:prstGeom prst="rect">
            <a:avLst/>
          </a:prstGeom>
        </p:spPr>
      </p:pic>
      <p:sp>
        <p:nvSpPr>
          <p:cNvPr id="10" name="Eticheta Varietate"/>
          <p:cNvSpPr txBox="1"/>
          <p:nvPr/>
        </p:nvSpPr>
        <p:spPr>
          <a:xfrm>
            <a:off x="8869680" y="3337560"/>
            <a:ext cx="2468880" cy="1005840"/>
          </a:xfrm>
          <a:prstGeom prst="rect">
            <a:avLst/>
          </a:prstGeom>
          <a:noFill/>
          <a:ln/>
        </p:spPr>
        <p:txBody>
          <a:bodyPr wrap="square" lIns="254" tIns="254" rIns="254" bIns="254" rtlCol="0" anchor="ctr"/>
          <a:lstStyle/>
          <a:p>
            <a:pPr algn="l" indent="0" marL="0">
              <a:buNone/>
            </a:pPr>
            <a:r>
              <a:rPr lang="en-US" sz="1800" b="1" dirty="0">
                <a:solidFill>
                  <a:srgbClr val="1F2A44"/>
                </a:solidFill>
              </a:rPr>
              <a:t>Varietate</a:t>
            </a:r>
            <a:endParaRPr lang="en-US" sz="1800" dirty="0"/>
          </a:p>
        </p:txBody>
      </p:sp>
      <p:sp>
        <p:nvSpPr>
          <p:cNvPr id="11" name="Cerc trei 2"/>
          <p:cNvSpPr/>
          <p:nvPr/>
        </p:nvSpPr>
        <p:spPr>
          <a:xfrm>
            <a:off x="7680960" y="4663440"/>
            <a:ext cx="1005840" cy="1005840"/>
          </a:xfrm>
          <a:prstGeom prst="ellipse">
            <a:avLst/>
          </a:prstGeom>
          <a:solidFill>
            <a:srgbClr val="2F3C7E"/>
          </a:solidFill>
          <a:ln w="12700">
            <a:solidFill>
              <a:srgbClr val="2F3C7E"/>
            </a:solidFill>
            <a:prstDash val="solid"/>
          </a:ln>
        </p:spPr>
      </p:sp>
      <p:pic>
        <p:nvPicPr>
          <p:cNvPr id="12" name="Icon trei 2" descr="preencoded.png">    </p:cNvPr>
          <p:cNvPicPr>
            <a:picLocks noChangeAspect="1"/>
          </p:cNvPicPr>
          <p:nvPr/>
        </p:nvPicPr>
        <p:blipFill>
          <a:blip r:embed="rId3"/>
          <a:stretch>
            <a:fillRect/>
          </a:stretch>
        </p:blipFill>
        <p:spPr>
          <a:xfrm>
            <a:off x="7936992" y="4919472"/>
            <a:ext cx="493776" cy="493776"/>
          </a:xfrm>
          <a:prstGeom prst="rect">
            <a:avLst/>
          </a:prstGeom>
        </p:spPr>
      </p:pic>
      <p:sp>
        <p:nvSpPr>
          <p:cNvPr id="13" name="Eticheta Joc"/>
          <p:cNvSpPr txBox="1"/>
          <p:nvPr/>
        </p:nvSpPr>
        <p:spPr>
          <a:xfrm>
            <a:off x="8869680" y="4663440"/>
            <a:ext cx="2468880" cy="1005840"/>
          </a:xfrm>
          <a:prstGeom prst="rect">
            <a:avLst/>
          </a:prstGeom>
          <a:noFill/>
          <a:ln/>
        </p:spPr>
        <p:txBody>
          <a:bodyPr wrap="square" lIns="254" tIns="254" rIns="254" bIns="254" rtlCol="0" anchor="ctr"/>
          <a:lstStyle/>
          <a:p>
            <a:pPr algn="l" indent="0" marL="0">
              <a:buNone/>
            </a:pPr>
            <a:r>
              <a:rPr lang="en-US" sz="1800" b="1" dirty="0">
                <a:solidFill>
                  <a:srgbClr val="1F2A44"/>
                </a:solidFill>
              </a:rPr>
              <a:t>Joc</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Profesorul ca model și climatul emoțional</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Entuziasmul profesorului este contagios; la fel și plictiseala</a:t>
            </a:r>
            <a:endParaRPr lang="en-US" sz="1600" dirty="0"/>
          </a:p>
          <a:p>
            <a:pPr marL="228600" indent="-228600">
              <a:spcAft>
                <a:spcPts val="1000"/>
              </a:spcAft>
              <a:buSzPct val="100000"/>
              <a:buChar char="•"/>
            </a:pPr>
            <a:r>
              <a:rPr lang="en-US" sz="1600" dirty="0">
                <a:solidFill>
                  <a:srgbClr val="1F2A44"/>
                </a:solidFill>
              </a:rPr>
              <a:t>Umor, nume folosite, atenție la fiecare: nevoia de relaționare</a:t>
            </a:r>
            <a:endParaRPr lang="en-US" sz="1600" dirty="0"/>
          </a:p>
          <a:p>
            <a:pPr marL="228600" indent="-228600">
              <a:spcAft>
                <a:spcPts val="1000"/>
              </a:spcAft>
              <a:buSzPct val="100000"/>
              <a:buChar char="•"/>
            </a:pPr>
            <a:r>
              <a:rPr lang="en-US" sz="1600" dirty="0">
                <a:solidFill>
                  <a:srgbClr val="1F2A44"/>
                </a:solidFill>
              </a:rPr>
              <a:t>Greșeala este normală și necesară, nu motiv de rușine</a:t>
            </a:r>
            <a:endParaRPr lang="en-US" sz="1600" dirty="0"/>
          </a:p>
          <a:p>
            <a:pPr marL="228600" indent="-228600">
              <a:spcAft>
                <a:spcPts val="1000"/>
              </a:spcAft>
              <a:buSzPct val="100000"/>
              <a:buChar char="•"/>
            </a:pPr>
            <a:r>
              <a:rPr lang="en-US" sz="1600" dirty="0">
                <a:solidFill>
                  <a:srgbClr val="1F2A44"/>
                </a:solidFill>
              </a:rPr>
              <a:t>Fără ridiculizare, fără comparații publice</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pic>
        <p:nvPicPr>
          <p:cNvPr id="5" name="Icon profesor" descr="preencoded.png">    </p:cNvPr>
          <p:cNvPicPr>
            <a:picLocks noChangeAspect="1"/>
          </p:cNvPicPr>
          <p:nvPr/>
        </p:nvPicPr>
        <p:blipFill>
          <a:blip r:embed="rId1"/>
          <a:stretch>
            <a:fillRect/>
          </a:stretch>
        </p:blipFill>
        <p:spPr>
          <a:xfrm>
            <a:off x="8732520" y="2011680"/>
            <a:ext cx="1371600" cy="1371600"/>
          </a:xfrm>
          <a:prstGeom prst="rect">
            <a:avLst/>
          </a:prstGeom>
        </p:spPr>
      </p:pic>
      <p:sp>
        <p:nvSpPr>
          <p:cNvPr id="6" name="Eticheta Entuziasmul e contag"/>
          <p:cNvSpPr txBox="1"/>
          <p:nvPr/>
        </p:nvSpPr>
        <p:spPr>
          <a:xfrm>
            <a:off x="7680960" y="3566160"/>
            <a:ext cx="3474720" cy="914400"/>
          </a:xfrm>
          <a:prstGeom prst="rect">
            <a:avLst/>
          </a:prstGeom>
          <a:noFill/>
          <a:ln/>
        </p:spPr>
        <p:txBody>
          <a:bodyPr wrap="square" lIns="254" tIns="254" rIns="254" bIns="254" rtlCol="0" anchor="ctr"/>
          <a:lstStyle/>
          <a:p>
            <a:pPr algn="ctr" indent="0" marL="0">
              <a:buNone/>
            </a:pPr>
            <a:r>
              <a:rPr lang="en-US" sz="1500" b="1" dirty="0">
                <a:solidFill>
                  <a:srgbClr val="2F3C7E"/>
                </a:solidFill>
              </a:rPr>
              <a:t>Entuziasmul e contagios.</a:t>
            </a:r>
            <a:endParaRPr lang="en-US" sz="1500" dirty="0"/>
          </a:p>
          <a:p>
            <a:pPr algn="ctr" indent="0" marL="0">
              <a:buNone/>
            </a:pPr>
            <a:r>
              <a:rPr lang="en-US" sz="1500" b="1" dirty="0">
                <a:solidFill>
                  <a:srgbClr val="2F3C7E"/>
                </a:solidFill>
              </a:rPr>
              <a:t>Și plictiseala la fel.</a:t>
            </a:r>
            <a:endParaRPr lang="en-US" sz="1500" dirty="0"/>
          </a:p>
        </p:txBody>
      </p:sp>
      <p:sp>
        <p:nvSpPr>
          <p:cNvPr id="7" name="Card interzis"/>
          <p:cNvSpPr/>
          <p:nvPr/>
        </p:nvSpPr>
        <p:spPr>
          <a:xfrm>
            <a:off x="7635240" y="4663440"/>
            <a:ext cx="3566160" cy="1097280"/>
          </a:xfrm>
          <a:prstGeom prst="roundRect">
            <a:avLst>
              <a:gd name="adj" fmla="val 8333"/>
            </a:avLst>
          </a:prstGeom>
          <a:solidFill>
            <a:srgbClr val="FDE2E3"/>
          </a:solidFill>
          <a:ln w="12700">
            <a:solidFill>
              <a:srgbClr val="FDE2E3"/>
            </a:solidFill>
            <a:prstDash val="solid"/>
          </a:ln>
        </p:spPr>
      </p:sp>
      <p:sp>
        <p:nvSpPr>
          <p:cNvPr id="8" name="Eticheta fără ridiculizare fă"/>
          <p:cNvSpPr txBox="1"/>
          <p:nvPr/>
        </p:nvSpPr>
        <p:spPr>
          <a:xfrm>
            <a:off x="7635240" y="4663440"/>
            <a:ext cx="3566160" cy="1097280"/>
          </a:xfrm>
          <a:prstGeom prst="rect">
            <a:avLst/>
          </a:prstGeom>
          <a:noFill/>
          <a:ln/>
        </p:spPr>
        <p:txBody>
          <a:bodyPr wrap="square" lIns="254" tIns="254" rIns="254" bIns="254" rtlCol="0" anchor="ctr"/>
          <a:lstStyle/>
          <a:p>
            <a:pPr algn="ctr" indent="0" marL="0">
              <a:buNone/>
            </a:pPr>
            <a:r>
              <a:rPr lang="en-US" sz="1300" b="1" dirty="0">
                <a:solidFill>
                  <a:srgbClr val="A3262B"/>
                </a:solidFill>
              </a:rPr>
              <a:t>fără ridiculizare</a:t>
            </a:r>
            <a:endParaRPr lang="en-US" sz="1300" dirty="0"/>
          </a:p>
          <a:p>
            <a:pPr algn="ctr" indent="0" marL="0">
              <a:buNone/>
            </a:pPr>
            <a:r>
              <a:rPr lang="en-US" sz="1300" b="1" dirty="0">
                <a:solidFill>
                  <a:srgbClr val="A3262B"/>
                </a:solidFill>
              </a:rPr>
              <a:t>fără comparații publice</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Studiu de caz: elevul care „nu vrea”</a:t>
            </a:r>
            <a:endParaRPr lang="en-US" sz="3200" dirty="0"/>
          </a:p>
        </p:txBody>
      </p:sp>
      <p:sp>
        <p:nvSpPr>
          <p:cNvPr id="3" name="Puncte"/>
          <p:cNvSpPr txBox="1"/>
          <p:nvPr/>
        </p:nvSpPr>
        <p:spPr>
          <a:xfrm>
            <a:off x="640080" y="1645920"/>
            <a:ext cx="6309360" cy="448056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A44"/>
                </a:solidFill>
              </a:rPr>
              <a:t>Andrei, 14 ani, refuză să participe, stă pe margine, „nu-mi place sportul”</a:t>
            </a:r>
            <a:endParaRPr lang="en-US" sz="1600" dirty="0"/>
          </a:p>
          <a:p>
            <a:pPr marL="228600" indent="-228600">
              <a:spcAft>
                <a:spcPts val="1000"/>
              </a:spcAft>
              <a:buSzPct val="100000"/>
              <a:buChar char="•"/>
            </a:pPr>
            <a:r>
              <a:rPr lang="en-US" sz="1600" dirty="0">
                <a:solidFill>
                  <a:srgbClr val="1F2A44"/>
                </a:solidFill>
              </a:rPr>
              <a:t>Diagnostic: experiențe repetate de eșec public, autoeficacitate scăzută, teamă de ridicol</a:t>
            </a:r>
            <a:endParaRPr lang="en-US" sz="1600" dirty="0"/>
          </a:p>
          <a:p>
            <a:pPr marL="228600" indent="-228600">
              <a:spcAft>
                <a:spcPts val="1000"/>
              </a:spcAft>
              <a:buSzPct val="100000"/>
              <a:buChar char="•"/>
            </a:pPr>
            <a:r>
              <a:rPr lang="en-US" sz="1600" dirty="0">
                <a:solidFill>
                  <a:srgbClr val="1F2A44"/>
                </a:solidFill>
              </a:rPr>
              <a:t>Intervenție: sarcini cu reușită garantată, rol în echipă (arbitru, apoi jucător), feedback pe efort, fără expunere publică</a:t>
            </a:r>
            <a:endParaRPr lang="en-US" sz="1600" dirty="0"/>
          </a:p>
          <a:p>
            <a:pPr marL="228600" indent="-228600">
              <a:spcAft>
                <a:spcPts val="1000"/>
              </a:spcAft>
              <a:buSzPct val="100000"/>
              <a:buChar char="•"/>
            </a:pPr>
            <a:r>
              <a:rPr lang="en-US" sz="1600" dirty="0">
                <a:solidFill>
                  <a:srgbClr val="1F2A44"/>
                </a:solidFill>
              </a:rPr>
              <a:t>Rezultat în 6 săptămâni: participă, propune el jocuri</a:t>
            </a:r>
            <a:endParaRPr lang="en-US" sz="1600" dirty="0"/>
          </a:p>
        </p:txBody>
      </p:sp>
      <p:sp>
        <p:nvSpPr>
          <p:cNvPr id="4" name="Panou vizual"/>
          <p:cNvSpPr/>
          <p:nvPr/>
        </p:nvSpPr>
        <p:spPr>
          <a:xfrm>
            <a:off x="7315200" y="1645920"/>
            <a:ext cx="4206240" cy="4480560"/>
          </a:xfrm>
          <a:prstGeom prst="roundRect">
            <a:avLst>
              <a:gd name="adj" fmla="val 3261"/>
            </a:avLst>
          </a:prstGeom>
          <a:solidFill>
            <a:srgbClr val="F3F4F8"/>
          </a:solidFill>
          <a:ln w="12700">
            <a:solidFill>
              <a:srgbClr val="F3F4F8"/>
            </a:solidFill>
            <a:prstDash val="solid"/>
          </a:ln>
        </p:spPr>
      </p:sp>
      <p:sp>
        <p:nvSpPr>
          <p:cNvPr id="5" name="Pas caz 0"/>
          <p:cNvSpPr/>
          <p:nvPr/>
        </p:nvSpPr>
        <p:spPr>
          <a:xfrm>
            <a:off x="7635240" y="2103120"/>
            <a:ext cx="548640" cy="548640"/>
          </a:xfrm>
          <a:prstGeom prst="ellipse">
            <a:avLst/>
          </a:prstGeom>
          <a:solidFill>
            <a:srgbClr val="2F3C7E"/>
          </a:solidFill>
          <a:ln w="12700">
            <a:solidFill>
              <a:srgbClr val="2F3C7E"/>
            </a:solidFill>
            <a:prstDash val="solid"/>
          </a:ln>
        </p:spPr>
      </p:sp>
      <p:sp>
        <p:nvSpPr>
          <p:cNvPr id="6" name="Eticheta 1"/>
          <p:cNvSpPr txBox="1"/>
          <p:nvPr/>
        </p:nvSpPr>
        <p:spPr>
          <a:xfrm>
            <a:off x="7635240" y="2103120"/>
            <a:ext cx="548640" cy="548640"/>
          </a:xfrm>
          <a:prstGeom prst="rect">
            <a:avLst/>
          </a:prstGeom>
          <a:noFill/>
          <a:ln/>
        </p:spPr>
        <p:txBody>
          <a:bodyPr wrap="square" lIns="254" tIns="254" rIns="254" bIns="254" rtlCol="0" anchor="ctr"/>
          <a:lstStyle/>
          <a:p>
            <a:pPr algn="ctr" indent="0" marL="0">
              <a:buNone/>
            </a:pPr>
            <a:r>
              <a:rPr lang="en-US" sz="1400" b="1" dirty="0">
                <a:solidFill>
                  <a:srgbClr val="FFFFFF"/>
                </a:solidFill>
              </a:rPr>
              <a:t>1</a:t>
            </a:r>
            <a:endParaRPr lang="en-US" sz="1400" dirty="0"/>
          </a:p>
        </p:txBody>
      </p:sp>
      <p:sp>
        <p:nvSpPr>
          <p:cNvPr id="7" name="Eticheta Săpt. 1-2: lucru ind"/>
          <p:cNvSpPr txBox="1"/>
          <p:nvPr/>
        </p:nvSpPr>
        <p:spPr>
          <a:xfrm>
            <a:off x="8321040" y="1965960"/>
            <a:ext cx="2926080" cy="822960"/>
          </a:xfrm>
          <a:prstGeom prst="rect">
            <a:avLst/>
          </a:prstGeom>
          <a:noFill/>
          <a:ln/>
        </p:spPr>
        <p:txBody>
          <a:bodyPr wrap="square" lIns="254" tIns="254" rIns="254" bIns="254" rtlCol="0" anchor="ctr"/>
          <a:lstStyle/>
          <a:p>
            <a:pPr algn="l" indent="0" marL="0">
              <a:buNone/>
            </a:pPr>
            <a:r>
              <a:rPr lang="en-US" sz="1200" dirty="0">
                <a:solidFill>
                  <a:srgbClr val="1F2A44"/>
                </a:solidFill>
              </a:rPr>
              <a:t>Săpt. 1-2: lucru individual, reușită garantată</a:t>
            </a:r>
            <a:endParaRPr lang="en-US" sz="1200" dirty="0"/>
          </a:p>
        </p:txBody>
      </p:sp>
      <p:sp>
        <p:nvSpPr>
          <p:cNvPr id="8" name="Pas caz 1"/>
          <p:cNvSpPr/>
          <p:nvPr/>
        </p:nvSpPr>
        <p:spPr>
          <a:xfrm>
            <a:off x="7635240" y="3127248"/>
            <a:ext cx="548640" cy="548640"/>
          </a:xfrm>
          <a:prstGeom prst="ellipse">
            <a:avLst/>
          </a:prstGeom>
          <a:solidFill>
            <a:srgbClr val="2F3C7E"/>
          </a:solidFill>
          <a:ln w="12700">
            <a:solidFill>
              <a:srgbClr val="2F3C7E"/>
            </a:solidFill>
            <a:prstDash val="solid"/>
          </a:ln>
        </p:spPr>
      </p:sp>
      <p:sp>
        <p:nvSpPr>
          <p:cNvPr id="9" name="Eticheta 2"/>
          <p:cNvSpPr txBox="1"/>
          <p:nvPr/>
        </p:nvSpPr>
        <p:spPr>
          <a:xfrm>
            <a:off x="7635240" y="3127248"/>
            <a:ext cx="548640" cy="548640"/>
          </a:xfrm>
          <a:prstGeom prst="rect">
            <a:avLst/>
          </a:prstGeom>
          <a:noFill/>
          <a:ln/>
        </p:spPr>
        <p:txBody>
          <a:bodyPr wrap="square" lIns="254" tIns="254" rIns="254" bIns="254" rtlCol="0" anchor="ctr"/>
          <a:lstStyle/>
          <a:p>
            <a:pPr algn="ctr" indent="0" marL="0">
              <a:buNone/>
            </a:pPr>
            <a:r>
              <a:rPr lang="en-US" sz="1400" b="1" dirty="0">
                <a:solidFill>
                  <a:srgbClr val="FFFFFF"/>
                </a:solidFill>
              </a:rPr>
              <a:t>2</a:t>
            </a:r>
            <a:endParaRPr lang="en-US" sz="1400" dirty="0"/>
          </a:p>
        </p:txBody>
      </p:sp>
      <p:sp>
        <p:nvSpPr>
          <p:cNvPr id="10" name="Eticheta Săpt. 3-4: rol de ar"/>
          <p:cNvSpPr txBox="1"/>
          <p:nvPr/>
        </p:nvSpPr>
        <p:spPr>
          <a:xfrm>
            <a:off x="8321040" y="2990088"/>
            <a:ext cx="2926080" cy="822960"/>
          </a:xfrm>
          <a:prstGeom prst="rect">
            <a:avLst/>
          </a:prstGeom>
          <a:noFill/>
          <a:ln/>
        </p:spPr>
        <p:txBody>
          <a:bodyPr wrap="square" lIns="254" tIns="254" rIns="254" bIns="254" rtlCol="0" anchor="ctr"/>
          <a:lstStyle/>
          <a:p>
            <a:pPr algn="l" indent="0" marL="0">
              <a:buNone/>
            </a:pPr>
            <a:r>
              <a:rPr lang="en-US" sz="1200" dirty="0">
                <a:solidFill>
                  <a:srgbClr val="1F2A44"/>
                </a:solidFill>
              </a:rPr>
              <a:t>Săpt. 3-4: rol de arbitru, apoi jucător</a:t>
            </a:r>
            <a:endParaRPr lang="en-US" sz="1200" dirty="0"/>
          </a:p>
        </p:txBody>
      </p:sp>
      <p:sp>
        <p:nvSpPr>
          <p:cNvPr id="11" name="Pas caz 2"/>
          <p:cNvSpPr/>
          <p:nvPr/>
        </p:nvSpPr>
        <p:spPr>
          <a:xfrm>
            <a:off x="7635240" y="4151376"/>
            <a:ext cx="548640" cy="548640"/>
          </a:xfrm>
          <a:prstGeom prst="ellipse">
            <a:avLst/>
          </a:prstGeom>
          <a:solidFill>
            <a:srgbClr val="2F3C7E"/>
          </a:solidFill>
          <a:ln w="12700">
            <a:solidFill>
              <a:srgbClr val="2F3C7E"/>
            </a:solidFill>
            <a:prstDash val="solid"/>
          </a:ln>
        </p:spPr>
      </p:sp>
      <p:sp>
        <p:nvSpPr>
          <p:cNvPr id="12" name="Eticheta 3"/>
          <p:cNvSpPr txBox="1"/>
          <p:nvPr/>
        </p:nvSpPr>
        <p:spPr>
          <a:xfrm>
            <a:off x="7635240" y="4151376"/>
            <a:ext cx="548640" cy="548640"/>
          </a:xfrm>
          <a:prstGeom prst="rect">
            <a:avLst/>
          </a:prstGeom>
          <a:noFill/>
          <a:ln/>
        </p:spPr>
        <p:txBody>
          <a:bodyPr wrap="square" lIns="254" tIns="254" rIns="254" bIns="254" rtlCol="0" anchor="ctr"/>
          <a:lstStyle/>
          <a:p>
            <a:pPr algn="ctr" indent="0" marL="0">
              <a:buNone/>
            </a:pPr>
            <a:r>
              <a:rPr lang="en-US" sz="1400" b="1" dirty="0">
                <a:solidFill>
                  <a:srgbClr val="FFFFFF"/>
                </a:solidFill>
              </a:rPr>
              <a:t>3</a:t>
            </a:r>
            <a:endParaRPr lang="en-US" sz="1400" dirty="0"/>
          </a:p>
        </p:txBody>
      </p:sp>
      <p:sp>
        <p:nvSpPr>
          <p:cNvPr id="13" name="Eticheta Săpt. 5-6: feedback "/>
          <p:cNvSpPr txBox="1"/>
          <p:nvPr/>
        </p:nvSpPr>
        <p:spPr>
          <a:xfrm>
            <a:off x="8321040" y="4014216"/>
            <a:ext cx="2926080" cy="822960"/>
          </a:xfrm>
          <a:prstGeom prst="rect">
            <a:avLst/>
          </a:prstGeom>
          <a:noFill/>
          <a:ln/>
        </p:spPr>
        <p:txBody>
          <a:bodyPr wrap="square" lIns="254" tIns="254" rIns="254" bIns="254" rtlCol="0" anchor="ctr"/>
          <a:lstStyle/>
          <a:p>
            <a:pPr algn="l" indent="0" marL="0">
              <a:buNone/>
            </a:pPr>
            <a:r>
              <a:rPr lang="en-US" sz="1200" dirty="0">
                <a:solidFill>
                  <a:srgbClr val="1F2A44"/>
                </a:solidFill>
              </a:rPr>
              <a:t>Săpt. 5-6: feedback pe efort, echipe mixte</a:t>
            </a:r>
            <a:endParaRPr lang="en-US" sz="1200" dirty="0"/>
          </a:p>
        </p:txBody>
      </p:sp>
      <p:sp>
        <p:nvSpPr>
          <p:cNvPr id="14" name="Pas caz 3"/>
          <p:cNvSpPr/>
          <p:nvPr/>
        </p:nvSpPr>
        <p:spPr>
          <a:xfrm>
            <a:off x="7635240" y="5175504"/>
            <a:ext cx="548640" cy="548640"/>
          </a:xfrm>
          <a:prstGeom prst="ellipse">
            <a:avLst/>
          </a:prstGeom>
          <a:solidFill>
            <a:srgbClr val="F96167"/>
          </a:solidFill>
          <a:ln w="12700">
            <a:solidFill>
              <a:srgbClr val="F96167"/>
            </a:solidFill>
            <a:prstDash val="solid"/>
          </a:ln>
        </p:spPr>
      </p:sp>
      <p:sp>
        <p:nvSpPr>
          <p:cNvPr id="15" name="Eticheta ✓"/>
          <p:cNvSpPr txBox="1"/>
          <p:nvPr/>
        </p:nvSpPr>
        <p:spPr>
          <a:xfrm>
            <a:off x="7635240" y="5175504"/>
            <a:ext cx="548640" cy="548640"/>
          </a:xfrm>
          <a:prstGeom prst="rect">
            <a:avLst/>
          </a:prstGeom>
          <a:noFill/>
          <a:ln/>
        </p:spPr>
        <p:txBody>
          <a:bodyPr wrap="square" lIns="254" tIns="254" rIns="254" bIns="254" rtlCol="0" anchor="ctr"/>
          <a:lstStyle/>
          <a:p>
            <a:pPr algn="ctr" indent="0" marL="0">
              <a:buNone/>
            </a:pPr>
            <a:r>
              <a:rPr lang="en-US" sz="1400" b="1" dirty="0">
                <a:solidFill>
                  <a:srgbClr val="FFFFFF"/>
                </a:solidFill>
              </a:rPr>
              <a:t>✓</a:t>
            </a:r>
            <a:endParaRPr lang="en-US" sz="1400" dirty="0"/>
          </a:p>
        </p:txBody>
      </p:sp>
      <p:sp>
        <p:nvSpPr>
          <p:cNvPr id="16" name="Eticheta Rezultat: propune el"/>
          <p:cNvSpPr txBox="1"/>
          <p:nvPr/>
        </p:nvSpPr>
        <p:spPr>
          <a:xfrm>
            <a:off x="8321040" y="5038344"/>
            <a:ext cx="2926080" cy="822960"/>
          </a:xfrm>
          <a:prstGeom prst="rect">
            <a:avLst/>
          </a:prstGeom>
          <a:noFill/>
          <a:ln/>
        </p:spPr>
        <p:txBody>
          <a:bodyPr wrap="square" lIns="254" tIns="254" rIns="254" bIns="254" rtlCol="0" anchor="ctr"/>
          <a:lstStyle/>
          <a:p>
            <a:pPr algn="l" indent="0" marL="0">
              <a:buNone/>
            </a:pPr>
            <a:r>
              <a:rPr lang="en-US" sz="1200" dirty="0">
                <a:solidFill>
                  <a:srgbClr val="1F2A44"/>
                </a:solidFill>
              </a:rPr>
              <a:t>Rezultat: propune el un joc</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Eticheta joc"/>
          <p:cNvSpPr txBox="1"/>
          <p:nvPr/>
        </p:nvSpPr>
        <p:spPr>
          <a:xfrm>
            <a:off x="731520" y="1463040"/>
            <a:ext cx="7315200" cy="457200"/>
          </a:xfrm>
          <a:prstGeom prst="rect">
            <a:avLst/>
          </a:prstGeom>
          <a:noFill/>
          <a:ln/>
        </p:spPr>
        <p:txBody>
          <a:bodyPr wrap="square" lIns="0" tIns="0" rIns="0" bIns="0" rtlCol="0" anchor="ctr"/>
          <a:lstStyle/>
          <a:p>
            <a:pPr indent="0" marL="0">
              <a:buNone/>
            </a:pPr>
            <a:r>
              <a:rPr lang="en-US" sz="1600" b="1" spc="400" kern="0" dirty="0">
                <a:solidFill>
                  <a:srgbClr val="F9E795"/>
                </a:solidFill>
              </a:rPr>
              <a:t>ACTIVITATE PRACTICĂ</a:t>
            </a:r>
            <a:endParaRPr lang="en-US" sz="1600" dirty="0"/>
          </a:p>
        </p:txBody>
      </p:sp>
      <p:sp>
        <p:nvSpPr>
          <p:cNvPr id="3" name="Text 0"/>
          <p:cNvSpPr/>
          <p:nvPr>
            <p:ph idx="100" type="title" hasCustomPrompt="1"/>
          </p:nvPr>
        </p:nvSpPr>
        <p:spPr>
          <a:xfrm>
            <a:off x="731520" y="2377440"/>
            <a:ext cx="10698480" cy="1463040"/>
          </a:xfrm>
          <a:prstGeom prst="rect">
            <a:avLst/>
          </a:prstGeom>
          <a:noFill/>
          <a:ln/>
        </p:spPr>
        <p:txBody>
          <a:bodyPr wrap="square" lIns="0" tIns="0" rIns="0" bIns="0" rtlCol="0" anchor="ctr"/>
          <a:lstStyle/>
          <a:p>
            <a:pPr algn="l" indent="0" marL="0">
              <a:buNone/>
            </a:pPr>
            <a:r>
              <a:rPr lang="en-US" sz="3800" b="1" dirty="0">
                <a:solidFill>
                  <a:srgbClr val="FFFFFF"/>
                </a:solidFill>
              </a:rPr>
              <a:t>Cursa motivației</a:t>
            </a:r>
            <a:endParaRPr lang="en-US" sz="3800" dirty="0"/>
          </a:p>
        </p:txBody>
      </p:sp>
      <p:sp>
        <p:nvSpPr>
          <p:cNvPr id="4" name="Text 0"/>
          <p:cNvSpPr/>
          <p:nvPr>
            <p:ph idx="101" type="body" hasCustomPrompt="1"/>
          </p:nvPr>
        </p:nvSpPr>
        <p:spPr>
          <a:xfrm>
            <a:off x="731520" y="3931920"/>
            <a:ext cx="10698480" cy="822960"/>
          </a:xfrm>
          <a:prstGeom prst="rect">
            <a:avLst/>
          </a:prstGeom>
          <a:noFill/>
          <a:ln/>
        </p:spPr>
        <p:txBody>
          <a:bodyPr wrap="square" lIns="0" tIns="0" rIns="0" bIns="0" rtlCol="0" anchor="t"/>
          <a:lstStyle/>
          <a:p>
            <a:pPr algn="l" indent="0" marL="0">
              <a:buNone/>
            </a:pPr>
            <a:r>
              <a:rPr lang="en-US" sz="1800" dirty="0">
                <a:solidFill>
                  <a:srgbClr val="F9E795"/>
                </a:solidFill>
              </a:rPr>
              <a:t>Toată echipa  ·  10-15 minute  ·  circuit cu 4 stații, fiecare o tehnică motivațională</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Cele patru stații</a:t>
            </a:r>
            <a:endParaRPr lang="en-US" sz="3200" dirty="0"/>
          </a:p>
        </p:txBody>
      </p:sp>
      <p:sp>
        <p:nvSpPr>
          <p:cNvPr id="3" name="Card statie 1"/>
          <p:cNvSpPr/>
          <p:nvPr/>
        </p:nvSpPr>
        <p:spPr>
          <a:xfrm>
            <a:off x="640080" y="1645920"/>
            <a:ext cx="5349240" cy="2103120"/>
          </a:xfrm>
          <a:prstGeom prst="roundRect">
            <a:avLst>
              <a:gd name="adj" fmla="val 5217"/>
            </a:avLst>
          </a:prstGeom>
          <a:solidFill>
            <a:srgbClr val="F3F4F8"/>
          </a:solidFill>
          <a:ln w="12700">
            <a:solidFill>
              <a:srgbClr val="F3F4F8"/>
            </a:solidFill>
            <a:prstDash val="solid"/>
          </a:ln>
        </p:spPr>
      </p:sp>
      <p:sp>
        <p:nvSpPr>
          <p:cNvPr id="4" name="Cerc statie 1"/>
          <p:cNvSpPr/>
          <p:nvPr/>
        </p:nvSpPr>
        <p:spPr>
          <a:xfrm>
            <a:off x="868680" y="1874520"/>
            <a:ext cx="640080" cy="640080"/>
          </a:xfrm>
          <a:prstGeom prst="ellipse">
            <a:avLst/>
          </a:prstGeom>
          <a:solidFill>
            <a:srgbClr val="2F3C7E"/>
          </a:solidFill>
          <a:ln w="12700">
            <a:solidFill>
              <a:srgbClr val="2F3C7E"/>
            </a:solidFill>
            <a:prstDash val="solid"/>
          </a:ln>
        </p:spPr>
      </p:sp>
      <p:pic>
        <p:nvPicPr>
          <p:cNvPr id="5" name="Icon statie 1" descr="preencoded.png">    </p:cNvPr>
          <p:cNvPicPr>
            <a:picLocks noChangeAspect="1"/>
          </p:cNvPicPr>
          <p:nvPr/>
        </p:nvPicPr>
        <p:blipFill>
          <a:blip r:embed="rId1"/>
          <a:stretch>
            <a:fillRect/>
          </a:stretch>
        </p:blipFill>
        <p:spPr>
          <a:xfrm>
            <a:off x="1033272" y="2039112"/>
            <a:ext cx="310896" cy="310896"/>
          </a:xfrm>
          <a:prstGeom prst="rect">
            <a:avLst/>
          </a:prstGeom>
        </p:spPr>
      </p:pic>
      <p:sp>
        <p:nvSpPr>
          <p:cNvPr id="6" name="Nume statie 1"/>
          <p:cNvSpPr txBox="1"/>
          <p:nvPr/>
        </p:nvSpPr>
        <p:spPr>
          <a:xfrm>
            <a:off x="1691640" y="1828800"/>
            <a:ext cx="4114800" cy="365760"/>
          </a:xfrm>
          <a:prstGeom prst="rect">
            <a:avLst/>
          </a:prstGeom>
          <a:noFill/>
          <a:ln/>
        </p:spPr>
        <p:txBody>
          <a:bodyPr wrap="square" lIns="0" tIns="0" rIns="0" bIns="0" rtlCol="0" anchor="ctr"/>
          <a:lstStyle/>
          <a:p>
            <a:pPr indent="0" marL="0">
              <a:buNone/>
            </a:pPr>
            <a:r>
              <a:rPr lang="en-US" sz="1600" b="1" dirty="0">
                <a:solidFill>
                  <a:srgbClr val="2F3C7E"/>
                </a:solidFill>
              </a:rPr>
              <a:t>Obiectivul meu</a:t>
            </a:r>
            <a:endParaRPr lang="en-US" sz="1600" dirty="0"/>
          </a:p>
        </p:txBody>
      </p:sp>
      <p:sp>
        <p:nvSpPr>
          <p:cNvPr id="7" name="Tehnica statie 1"/>
          <p:cNvSpPr txBox="1"/>
          <p:nvPr/>
        </p:nvSpPr>
        <p:spPr>
          <a:xfrm>
            <a:off x="1691640" y="2194560"/>
            <a:ext cx="4114800" cy="274320"/>
          </a:xfrm>
          <a:prstGeom prst="rect">
            <a:avLst/>
          </a:prstGeom>
          <a:noFill/>
          <a:ln/>
        </p:spPr>
        <p:txBody>
          <a:bodyPr wrap="square" lIns="0" tIns="0" rIns="0" bIns="0" rtlCol="0" anchor="ctr"/>
          <a:lstStyle/>
          <a:p>
            <a:pPr indent="0" marL="0">
              <a:buNone/>
            </a:pPr>
            <a:r>
              <a:rPr lang="en-US" sz="1100" i="1" dirty="0">
                <a:solidFill>
                  <a:srgbClr val="6B7280"/>
                </a:solidFill>
              </a:rPr>
              <a:t>Stabilirea obiectivelor și autonomia</a:t>
            </a:r>
            <a:endParaRPr lang="en-US" sz="1100" dirty="0"/>
          </a:p>
        </p:txBody>
      </p:sp>
      <p:sp>
        <p:nvSpPr>
          <p:cNvPr id="8" name="Desfasurare statie 1"/>
          <p:cNvSpPr txBox="1"/>
          <p:nvPr/>
        </p:nvSpPr>
        <p:spPr>
          <a:xfrm>
            <a:off x="868680" y="2560320"/>
            <a:ext cx="4937760" cy="1097280"/>
          </a:xfrm>
          <a:prstGeom prst="rect">
            <a:avLst/>
          </a:prstGeom>
          <a:noFill/>
          <a:ln/>
        </p:spPr>
        <p:txBody>
          <a:bodyPr wrap="square" lIns="0" tIns="0" rIns="0" bIns="0" rtlCol="0" anchor="t"/>
          <a:lstStyle/>
          <a:p>
            <a:pPr indent="0" marL="0">
              <a:buNone/>
            </a:pPr>
            <a:r>
              <a:rPr lang="en-US" sz="1100" dirty="0">
                <a:solidFill>
                  <a:srgbClr val="1F2A44"/>
                </a:solidFill>
              </a:rPr>
              <a:t>Fiecare participant își alege singur un obiectiv de 60 de secunde (număr de genuflexiuni, sărituri, pase la perete) și îl scrie pe foaie. Apoi îl execută. Comparația e doar cu propriul obiectiv, nu cu colegii.</a:t>
            </a:r>
            <a:endParaRPr lang="en-US" sz="1100" dirty="0"/>
          </a:p>
        </p:txBody>
      </p:sp>
      <p:sp>
        <p:nvSpPr>
          <p:cNvPr id="9" name="Card statie 2"/>
          <p:cNvSpPr/>
          <p:nvPr/>
        </p:nvSpPr>
        <p:spPr>
          <a:xfrm>
            <a:off x="6217920" y="1645920"/>
            <a:ext cx="5349240" cy="2103120"/>
          </a:xfrm>
          <a:prstGeom prst="roundRect">
            <a:avLst>
              <a:gd name="adj" fmla="val 5217"/>
            </a:avLst>
          </a:prstGeom>
          <a:solidFill>
            <a:srgbClr val="F3F4F8"/>
          </a:solidFill>
          <a:ln w="12700">
            <a:solidFill>
              <a:srgbClr val="F3F4F8"/>
            </a:solidFill>
            <a:prstDash val="solid"/>
          </a:ln>
        </p:spPr>
      </p:sp>
      <p:sp>
        <p:nvSpPr>
          <p:cNvPr id="10" name="Cerc statie 2"/>
          <p:cNvSpPr/>
          <p:nvPr/>
        </p:nvSpPr>
        <p:spPr>
          <a:xfrm>
            <a:off x="6446520" y="1874520"/>
            <a:ext cx="640080" cy="640080"/>
          </a:xfrm>
          <a:prstGeom prst="ellipse">
            <a:avLst/>
          </a:prstGeom>
          <a:solidFill>
            <a:srgbClr val="F96167"/>
          </a:solidFill>
          <a:ln w="12700">
            <a:solidFill>
              <a:srgbClr val="F96167"/>
            </a:solidFill>
            <a:prstDash val="solid"/>
          </a:ln>
        </p:spPr>
      </p:sp>
      <p:pic>
        <p:nvPicPr>
          <p:cNvPr id="11" name="Icon statie 2" descr="preencoded.png">    </p:cNvPr>
          <p:cNvPicPr>
            <a:picLocks noChangeAspect="1"/>
          </p:cNvPicPr>
          <p:nvPr/>
        </p:nvPicPr>
        <p:blipFill>
          <a:blip r:embed="rId2"/>
          <a:stretch>
            <a:fillRect/>
          </a:stretch>
        </p:blipFill>
        <p:spPr>
          <a:xfrm>
            <a:off x="6611112" y="2039112"/>
            <a:ext cx="310896" cy="310896"/>
          </a:xfrm>
          <a:prstGeom prst="rect">
            <a:avLst/>
          </a:prstGeom>
        </p:spPr>
      </p:pic>
      <p:sp>
        <p:nvSpPr>
          <p:cNvPr id="12" name="Nume statie 2"/>
          <p:cNvSpPr txBox="1"/>
          <p:nvPr/>
        </p:nvSpPr>
        <p:spPr>
          <a:xfrm>
            <a:off x="7269480" y="1828800"/>
            <a:ext cx="4114800" cy="365760"/>
          </a:xfrm>
          <a:prstGeom prst="rect">
            <a:avLst/>
          </a:prstGeom>
          <a:noFill/>
          <a:ln/>
        </p:spPr>
        <p:txBody>
          <a:bodyPr wrap="square" lIns="0" tIns="0" rIns="0" bIns="0" rtlCol="0" anchor="ctr"/>
          <a:lstStyle/>
          <a:p>
            <a:pPr indent="0" marL="0">
              <a:buNone/>
            </a:pPr>
            <a:r>
              <a:rPr lang="en-US" sz="1600" b="1" dirty="0">
                <a:solidFill>
                  <a:srgbClr val="2F3C7E"/>
                </a:solidFill>
              </a:rPr>
              <a:t>Trei la unu</a:t>
            </a:r>
            <a:endParaRPr lang="en-US" sz="1600" dirty="0"/>
          </a:p>
        </p:txBody>
      </p:sp>
      <p:sp>
        <p:nvSpPr>
          <p:cNvPr id="13" name="Tehnica statie 2"/>
          <p:cNvSpPr txBox="1"/>
          <p:nvPr/>
        </p:nvSpPr>
        <p:spPr>
          <a:xfrm>
            <a:off x="7269480" y="2194560"/>
            <a:ext cx="4114800" cy="274320"/>
          </a:xfrm>
          <a:prstGeom prst="rect">
            <a:avLst/>
          </a:prstGeom>
          <a:noFill/>
          <a:ln/>
        </p:spPr>
        <p:txBody>
          <a:bodyPr wrap="square" lIns="0" tIns="0" rIns="0" bIns="0" rtlCol="0" anchor="ctr"/>
          <a:lstStyle/>
          <a:p>
            <a:pPr indent="0" marL="0">
              <a:buNone/>
            </a:pPr>
            <a:r>
              <a:rPr lang="en-US" sz="1100" i="1" dirty="0">
                <a:solidFill>
                  <a:srgbClr val="6B7280"/>
                </a:solidFill>
              </a:rPr>
              <a:t>Feedbackul pe efort</a:t>
            </a:r>
            <a:endParaRPr lang="en-US" sz="1100" dirty="0"/>
          </a:p>
        </p:txBody>
      </p:sp>
      <p:sp>
        <p:nvSpPr>
          <p:cNvPr id="14" name="Desfasurare statie 2"/>
          <p:cNvSpPr txBox="1"/>
          <p:nvPr/>
        </p:nvSpPr>
        <p:spPr>
          <a:xfrm>
            <a:off x="6446520" y="2560320"/>
            <a:ext cx="4937760" cy="1097280"/>
          </a:xfrm>
          <a:prstGeom prst="rect">
            <a:avLst/>
          </a:prstGeom>
          <a:noFill/>
          <a:ln/>
        </p:spPr>
        <p:txBody>
          <a:bodyPr wrap="square" lIns="0" tIns="0" rIns="0" bIns="0" rtlCol="0" anchor="t"/>
          <a:lstStyle/>
          <a:p>
            <a:pPr indent="0" marL="0">
              <a:buNone/>
            </a:pPr>
            <a:r>
              <a:rPr lang="en-US" sz="1100" dirty="0">
                <a:solidFill>
                  <a:srgbClr val="1F2A44"/>
                </a:solidFill>
              </a:rPr>
              <a:t>În perechi: unul execută un exercițiu simplu (de exemplu aruncare la țintă de 5 ori), celălalt trebuie să dea trei observații pozitive concrete și una de corecție, apoi se schimbă rolurile. Interzis: „bravo” și „mai bine” fără detalii.</a:t>
            </a:r>
            <a:endParaRPr lang="en-US" sz="1100" dirty="0"/>
          </a:p>
        </p:txBody>
      </p:sp>
      <p:sp>
        <p:nvSpPr>
          <p:cNvPr id="15" name="Card statie 3"/>
          <p:cNvSpPr/>
          <p:nvPr/>
        </p:nvSpPr>
        <p:spPr>
          <a:xfrm>
            <a:off x="640080" y="3977640"/>
            <a:ext cx="5349240" cy="2103120"/>
          </a:xfrm>
          <a:prstGeom prst="roundRect">
            <a:avLst>
              <a:gd name="adj" fmla="val 5217"/>
            </a:avLst>
          </a:prstGeom>
          <a:solidFill>
            <a:srgbClr val="F3F4F8"/>
          </a:solidFill>
          <a:ln w="12700">
            <a:solidFill>
              <a:srgbClr val="F3F4F8"/>
            </a:solidFill>
            <a:prstDash val="solid"/>
          </a:ln>
        </p:spPr>
      </p:sp>
      <p:sp>
        <p:nvSpPr>
          <p:cNvPr id="16" name="Cerc statie 3"/>
          <p:cNvSpPr/>
          <p:nvPr/>
        </p:nvSpPr>
        <p:spPr>
          <a:xfrm>
            <a:off x="868680" y="4206240"/>
            <a:ext cx="640080" cy="640080"/>
          </a:xfrm>
          <a:prstGeom prst="ellipse">
            <a:avLst/>
          </a:prstGeom>
          <a:solidFill>
            <a:srgbClr val="2F3C7E"/>
          </a:solidFill>
          <a:ln w="12700">
            <a:solidFill>
              <a:srgbClr val="2F3C7E"/>
            </a:solidFill>
            <a:prstDash val="solid"/>
          </a:ln>
        </p:spPr>
      </p:sp>
      <p:pic>
        <p:nvPicPr>
          <p:cNvPr id="17" name="Icon statie 3" descr="preencoded.png">    </p:cNvPr>
          <p:cNvPicPr>
            <a:picLocks noChangeAspect="1"/>
          </p:cNvPicPr>
          <p:nvPr/>
        </p:nvPicPr>
        <p:blipFill>
          <a:blip r:embed="rId3"/>
          <a:stretch>
            <a:fillRect/>
          </a:stretch>
        </p:blipFill>
        <p:spPr>
          <a:xfrm>
            <a:off x="1033272" y="4370832"/>
            <a:ext cx="310896" cy="310896"/>
          </a:xfrm>
          <a:prstGeom prst="rect">
            <a:avLst/>
          </a:prstGeom>
        </p:spPr>
      </p:pic>
      <p:sp>
        <p:nvSpPr>
          <p:cNvPr id="18" name="Nume statie 3"/>
          <p:cNvSpPr txBox="1"/>
          <p:nvPr/>
        </p:nvSpPr>
        <p:spPr>
          <a:xfrm>
            <a:off x="1691640" y="4160520"/>
            <a:ext cx="4114800" cy="365760"/>
          </a:xfrm>
          <a:prstGeom prst="rect">
            <a:avLst/>
          </a:prstGeom>
          <a:noFill/>
          <a:ln/>
        </p:spPr>
        <p:txBody>
          <a:bodyPr wrap="square" lIns="0" tIns="0" rIns="0" bIns="0" rtlCol="0" anchor="ctr"/>
          <a:lstStyle/>
          <a:p>
            <a:pPr indent="0" marL="0">
              <a:buNone/>
            </a:pPr>
            <a:r>
              <a:rPr lang="en-US" sz="1600" b="1" dirty="0">
                <a:solidFill>
                  <a:srgbClr val="2F3C7E"/>
                </a:solidFill>
              </a:rPr>
              <a:t>Adevărat sau fals, în mișcare</a:t>
            </a:r>
            <a:endParaRPr lang="en-US" sz="1600" dirty="0"/>
          </a:p>
        </p:txBody>
      </p:sp>
      <p:sp>
        <p:nvSpPr>
          <p:cNvPr id="19" name="Tehnica statie 3"/>
          <p:cNvSpPr txBox="1"/>
          <p:nvPr/>
        </p:nvSpPr>
        <p:spPr>
          <a:xfrm>
            <a:off x="1691640" y="4526280"/>
            <a:ext cx="4114800" cy="274320"/>
          </a:xfrm>
          <a:prstGeom prst="rect">
            <a:avLst/>
          </a:prstGeom>
          <a:noFill/>
          <a:ln/>
        </p:spPr>
        <p:txBody>
          <a:bodyPr wrap="square" lIns="0" tIns="0" rIns="0" bIns="0" rtlCol="0" anchor="ctr"/>
          <a:lstStyle/>
          <a:p>
            <a:pPr indent="0" marL="0">
              <a:buNone/>
            </a:pPr>
            <a:r>
              <a:rPr lang="en-US" sz="1100" i="1" dirty="0">
                <a:solidFill>
                  <a:srgbClr val="6B7280"/>
                </a:solidFill>
              </a:rPr>
              <a:t>Jocul și învățarea prin descoperire</a:t>
            </a:r>
            <a:endParaRPr lang="en-US" sz="1100" dirty="0"/>
          </a:p>
        </p:txBody>
      </p:sp>
      <p:sp>
        <p:nvSpPr>
          <p:cNvPr id="20" name="Desfasurare statie 3"/>
          <p:cNvSpPr txBox="1"/>
          <p:nvPr/>
        </p:nvSpPr>
        <p:spPr>
          <a:xfrm>
            <a:off x="868680" y="4892040"/>
            <a:ext cx="4937760" cy="1097280"/>
          </a:xfrm>
          <a:prstGeom prst="rect">
            <a:avLst/>
          </a:prstGeom>
          <a:noFill/>
          <a:ln/>
        </p:spPr>
        <p:txBody>
          <a:bodyPr wrap="square" lIns="0" tIns="0" rIns="0" bIns="0" rtlCol="0" anchor="t"/>
          <a:lstStyle/>
          <a:p>
            <a:pPr indent="0" marL="0">
              <a:buNone/>
            </a:pPr>
            <a:r>
              <a:rPr lang="en-US" sz="1100" dirty="0">
                <a:solidFill>
                  <a:srgbClr val="1F2A44"/>
                </a:solidFill>
              </a:rPr>
              <a:t>Coordonatorul citește afirmații din prezentare („Motivația extrinsecă este dăunătoare”, „Lauda talentului crește perseverența”, „Sarcinile complexe cer motivație moderată”). Participanții aleargă la conul din stânga pentru adevărat, din dreapta pentru fals. Cine greșește explică de ce a crezut așa, grupul corectează.</a:t>
            </a:r>
            <a:endParaRPr lang="en-US" sz="1100" dirty="0"/>
          </a:p>
        </p:txBody>
      </p:sp>
      <p:sp>
        <p:nvSpPr>
          <p:cNvPr id="21" name="Card statie 4"/>
          <p:cNvSpPr/>
          <p:nvPr/>
        </p:nvSpPr>
        <p:spPr>
          <a:xfrm>
            <a:off x="6217920" y="3977640"/>
            <a:ext cx="5349240" cy="2103120"/>
          </a:xfrm>
          <a:prstGeom prst="roundRect">
            <a:avLst>
              <a:gd name="adj" fmla="val 5217"/>
            </a:avLst>
          </a:prstGeom>
          <a:solidFill>
            <a:srgbClr val="F3F4F8"/>
          </a:solidFill>
          <a:ln w="12700">
            <a:solidFill>
              <a:srgbClr val="F3F4F8"/>
            </a:solidFill>
            <a:prstDash val="solid"/>
          </a:ln>
        </p:spPr>
      </p:sp>
      <p:sp>
        <p:nvSpPr>
          <p:cNvPr id="22" name="Cerc statie 4"/>
          <p:cNvSpPr/>
          <p:nvPr/>
        </p:nvSpPr>
        <p:spPr>
          <a:xfrm>
            <a:off x="6446520" y="4206240"/>
            <a:ext cx="640080" cy="640080"/>
          </a:xfrm>
          <a:prstGeom prst="ellipse">
            <a:avLst/>
          </a:prstGeom>
          <a:solidFill>
            <a:srgbClr val="F96167"/>
          </a:solidFill>
          <a:ln w="12700">
            <a:solidFill>
              <a:srgbClr val="F96167"/>
            </a:solidFill>
            <a:prstDash val="solid"/>
          </a:ln>
        </p:spPr>
      </p:sp>
      <p:pic>
        <p:nvPicPr>
          <p:cNvPr id="23" name="Icon statie 4" descr="preencoded.png">    </p:cNvPr>
          <p:cNvPicPr>
            <a:picLocks noChangeAspect="1"/>
          </p:cNvPicPr>
          <p:nvPr/>
        </p:nvPicPr>
        <p:blipFill>
          <a:blip r:embed="rId4"/>
          <a:stretch>
            <a:fillRect/>
          </a:stretch>
        </p:blipFill>
        <p:spPr>
          <a:xfrm>
            <a:off x="6611112" y="4370832"/>
            <a:ext cx="310896" cy="310896"/>
          </a:xfrm>
          <a:prstGeom prst="rect">
            <a:avLst/>
          </a:prstGeom>
        </p:spPr>
      </p:pic>
      <p:sp>
        <p:nvSpPr>
          <p:cNvPr id="24" name="Nume statie 4"/>
          <p:cNvSpPr txBox="1"/>
          <p:nvPr/>
        </p:nvSpPr>
        <p:spPr>
          <a:xfrm>
            <a:off x="7269480" y="4160520"/>
            <a:ext cx="4114800" cy="365760"/>
          </a:xfrm>
          <a:prstGeom prst="rect">
            <a:avLst/>
          </a:prstGeom>
          <a:noFill/>
          <a:ln/>
        </p:spPr>
        <p:txBody>
          <a:bodyPr wrap="square" lIns="0" tIns="0" rIns="0" bIns="0" rtlCol="0" anchor="ctr"/>
          <a:lstStyle/>
          <a:p>
            <a:pPr indent="0" marL="0">
              <a:buNone/>
            </a:pPr>
            <a:r>
              <a:rPr lang="en-US" sz="1600" b="1" dirty="0">
                <a:solidFill>
                  <a:srgbClr val="2F3C7E"/>
                </a:solidFill>
              </a:rPr>
              <a:t>Piramida vie</a:t>
            </a:r>
            <a:endParaRPr lang="en-US" sz="1600" dirty="0"/>
          </a:p>
        </p:txBody>
      </p:sp>
      <p:sp>
        <p:nvSpPr>
          <p:cNvPr id="25" name="Tehnica statie 4"/>
          <p:cNvSpPr txBox="1"/>
          <p:nvPr/>
        </p:nvSpPr>
        <p:spPr>
          <a:xfrm>
            <a:off x="7269480" y="4526280"/>
            <a:ext cx="4114800" cy="274320"/>
          </a:xfrm>
          <a:prstGeom prst="rect">
            <a:avLst/>
          </a:prstGeom>
          <a:noFill/>
          <a:ln/>
        </p:spPr>
        <p:txBody>
          <a:bodyPr wrap="square" lIns="0" tIns="0" rIns="0" bIns="0" rtlCol="0" anchor="ctr"/>
          <a:lstStyle/>
          <a:p>
            <a:pPr indent="0" marL="0">
              <a:buNone/>
            </a:pPr>
            <a:r>
              <a:rPr lang="en-US" sz="1100" i="1" dirty="0">
                <a:solidFill>
                  <a:srgbClr val="6B7280"/>
                </a:solidFill>
              </a:rPr>
              <a:t>Maslow și climatul de siguranță</a:t>
            </a:r>
            <a:endParaRPr lang="en-US" sz="1100" dirty="0"/>
          </a:p>
        </p:txBody>
      </p:sp>
      <p:sp>
        <p:nvSpPr>
          <p:cNvPr id="26" name="Desfasurare statie 4"/>
          <p:cNvSpPr txBox="1"/>
          <p:nvPr/>
        </p:nvSpPr>
        <p:spPr>
          <a:xfrm>
            <a:off x="6446520" y="4892040"/>
            <a:ext cx="4937760" cy="1097280"/>
          </a:xfrm>
          <a:prstGeom prst="rect">
            <a:avLst/>
          </a:prstGeom>
          <a:noFill/>
          <a:ln/>
        </p:spPr>
        <p:txBody>
          <a:bodyPr wrap="square" lIns="0" tIns="0" rIns="0" bIns="0" rtlCol="0" anchor="t"/>
          <a:lstStyle/>
          <a:p>
            <a:pPr indent="0" marL="0">
              <a:buNone/>
            </a:pPr>
            <a:r>
              <a:rPr lang="en-US" sz="1100" dirty="0">
                <a:solidFill>
                  <a:srgbClr val="1F2A44"/>
                </a:solidFill>
              </a:rPr>
              <a:t>Echipa primește cartonașe cu situații din sala de sport („un elev e luat în râs când ratează”, „profesorul știe numele tuturor”, „sala e rece și nu au apă”, „elevul primește diplomă pentru progres”) și trebuie să le așeze pe treapta corectă a piramidei lui Maslow, desenată pe jos cu conuri. Discuție: ce trebuie rezolvat întâi.</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Ce rămâne</a:t>
            </a:r>
            <a:endParaRPr lang="en-US" sz="3200" dirty="0"/>
          </a:p>
        </p:txBody>
      </p:sp>
      <p:sp>
        <p:nvSpPr>
          <p:cNvPr id="3" name="Card concluzie 1"/>
          <p:cNvSpPr/>
          <p:nvPr/>
        </p:nvSpPr>
        <p:spPr>
          <a:xfrm>
            <a:off x="640080" y="1645920"/>
            <a:ext cx="5349240" cy="2011680"/>
          </a:xfrm>
          <a:prstGeom prst="roundRect">
            <a:avLst>
              <a:gd name="adj" fmla="val 5455"/>
            </a:avLst>
          </a:prstGeom>
          <a:solidFill>
            <a:srgbClr val="F3F4F8"/>
          </a:solidFill>
          <a:ln w="12700">
            <a:solidFill>
              <a:srgbClr val="F3F4F8"/>
            </a:solidFill>
            <a:prstDash val="solid"/>
          </a:ln>
        </p:spPr>
      </p:sp>
      <p:sp>
        <p:nvSpPr>
          <p:cNvPr id="4" name="Numar concluzie 1"/>
          <p:cNvSpPr txBox="1"/>
          <p:nvPr/>
        </p:nvSpPr>
        <p:spPr>
          <a:xfrm>
            <a:off x="914400" y="1874520"/>
            <a:ext cx="914400" cy="731520"/>
          </a:xfrm>
          <a:prstGeom prst="rect">
            <a:avLst/>
          </a:prstGeom>
          <a:noFill/>
          <a:ln/>
        </p:spPr>
        <p:txBody>
          <a:bodyPr wrap="square" lIns="0" tIns="0" rIns="0" bIns="0" rtlCol="0" anchor="ctr"/>
          <a:lstStyle/>
          <a:p>
            <a:pPr indent="0" marL="0">
              <a:buNone/>
            </a:pPr>
            <a:r>
              <a:rPr lang="en-US" sz="4000" b="1" dirty="0">
                <a:solidFill>
                  <a:srgbClr val="F96167"/>
                </a:solidFill>
              </a:rPr>
              <a:t>1</a:t>
            </a:r>
            <a:endParaRPr lang="en-US" sz="4000" dirty="0"/>
          </a:p>
        </p:txBody>
      </p:sp>
      <p:sp>
        <p:nvSpPr>
          <p:cNvPr id="5" name="Titlu concluzie 1"/>
          <p:cNvSpPr txBox="1"/>
          <p:nvPr/>
        </p:nvSpPr>
        <p:spPr>
          <a:xfrm>
            <a:off x="914400" y="2560320"/>
            <a:ext cx="4846320" cy="457200"/>
          </a:xfrm>
          <a:prstGeom prst="rect">
            <a:avLst/>
          </a:prstGeom>
          <a:noFill/>
          <a:ln/>
        </p:spPr>
        <p:txBody>
          <a:bodyPr wrap="square" lIns="0" tIns="0" rIns="0" bIns="0" rtlCol="0" anchor="ctr"/>
          <a:lstStyle/>
          <a:p>
            <a:pPr indent="0" marL="0">
              <a:buNone/>
            </a:pPr>
            <a:r>
              <a:rPr lang="en-US" sz="1600" b="1" dirty="0">
                <a:solidFill>
                  <a:srgbClr val="2F3C7E"/>
                </a:solidFill>
              </a:rPr>
              <a:t>Motivația transformă capacitatea în rezultat</a:t>
            </a:r>
            <a:endParaRPr lang="en-US" sz="1600" dirty="0"/>
          </a:p>
        </p:txBody>
      </p:sp>
      <p:sp>
        <p:nvSpPr>
          <p:cNvPr id="6" name="Text concluzie 1"/>
          <p:cNvSpPr txBox="1"/>
          <p:nvPr/>
        </p:nvSpPr>
        <p:spPr>
          <a:xfrm>
            <a:off x="914400" y="3017520"/>
            <a:ext cx="4846320" cy="548640"/>
          </a:xfrm>
          <a:prstGeom prst="rect">
            <a:avLst/>
          </a:prstGeom>
          <a:noFill/>
          <a:ln/>
        </p:spPr>
        <p:txBody>
          <a:bodyPr wrap="square" lIns="0" tIns="0" rIns="0" bIns="0" rtlCol="0" anchor="ctr"/>
          <a:lstStyle/>
          <a:p>
            <a:pPr indent="0" marL="0">
              <a:buNone/>
            </a:pPr>
            <a:r>
              <a:rPr lang="en-US" sz="1200" dirty="0">
                <a:solidFill>
                  <a:srgbClr val="6B7280"/>
                </a:solidFill>
              </a:rPr>
              <a:t>fără ea, talentul rămâne nefolosit</a:t>
            </a:r>
            <a:endParaRPr lang="en-US" sz="1200" dirty="0"/>
          </a:p>
        </p:txBody>
      </p:sp>
      <p:sp>
        <p:nvSpPr>
          <p:cNvPr id="7" name="Card concluzie 2"/>
          <p:cNvSpPr/>
          <p:nvPr/>
        </p:nvSpPr>
        <p:spPr>
          <a:xfrm>
            <a:off x="6217920" y="1645920"/>
            <a:ext cx="5349240" cy="2011680"/>
          </a:xfrm>
          <a:prstGeom prst="roundRect">
            <a:avLst>
              <a:gd name="adj" fmla="val 5455"/>
            </a:avLst>
          </a:prstGeom>
          <a:solidFill>
            <a:srgbClr val="F3F4F8"/>
          </a:solidFill>
          <a:ln w="12700">
            <a:solidFill>
              <a:srgbClr val="F3F4F8"/>
            </a:solidFill>
            <a:prstDash val="solid"/>
          </a:ln>
        </p:spPr>
      </p:sp>
      <p:sp>
        <p:nvSpPr>
          <p:cNvPr id="8" name="Numar concluzie 2"/>
          <p:cNvSpPr txBox="1"/>
          <p:nvPr/>
        </p:nvSpPr>
        <p:spPr>
          <a:xfrm>
            <a:off x="6492240" y="1874520"/>
            <a:ext cx="914400" cy="731520"/>
          </a:xfrm>
          <a:prstGeom prst="rect">
            <a:avLst/>
          </a:prstGeom>
          <a:noFill/>
          <a:ln/>
        </p:spPr>
        <p:txBody>
          <a:bodyPr wrap="square" lIns="0" tIns="0" rIns="0" bIns="0" rtlCol="0" anchor="ctr"/>
          <a:lstStyle/>
          <a:p>
            <a:pPr indent="0" marL="0">
              <a:buNone/>
            </a:pPr>
            <a:r>
              <a:rPr lang="en-US" sz="4000" b="1" dirty="0">
                <a:solidFill>
                  <a:srgbClr val="F96167"/>
                </a:solidFill>
              </a:rPr>
              <a:t>2</a:t>
            </a:r>
            <a:endParaRPr lang="en-US" sz="4000" dirty="0"/>
          </a:p>
        </p:txBody>
      </p:sp>
      <p:sp>
        <p:nvSpPr>
          <p:cNvPr id="9" name="Titlu concluzie 2"/>
          <p:cNvSpPr txBox="1"/>
          <p:nvPr/>
        </p:nvSpPr>
        <p:spPr>
          <a:xfrm>
            <a:off x="6492240" y="2560320"/>
            <a:ext cx="4846320" cy="457200"/>
          </a:xfrm>
          <a:prstGeom prst="rect">
            <a:avLst/>
          </a:prstGeom>
          <a:noFill/>
          <a:ln/>
        </p:spPr>
        <p:txBody>
          <a:bodyPr wrap="square" lIns="0" tIns="0" rIns="0" bIns="0" rtlCol="0" anchor="ctr"/>
          <a:lstStyle/>
          <a:p>
            <a:pPr indent="0" marL="0">
              <a:buNone/>
            </a:pPr>
            <a:r>
              <a:rPr lang="en-US" sz="1600" b="1" dirty="0">
                <a:solidFill>
                  <a:srgbClr val="2F3C7E"/>
                </a:solidFill>
              </a:rPr>
              <a:t>Fiecare teorie dă un instrument</a:t>
            </a:r>
            <a:endParaRPr lang="en-US" sz="1600" dirty="0"/>
          </a:p>
        </p:txBody>
      </p:sp>
      <p:sp>
        <p:nvSpPr>
          <p:cNvPr id="10" name="Text concluzie 2"/>
          <p:cNvSpPr txBox="1"/>
          <p:nvPr/>
        </p:nvSpPr>
        <p:spPr>
          <a:xfrm>
            <a:off x="6492240" y="3017520"/>
            <a:ext cx="4846320" cy="548640"/>
          </a:xfrm>
          <a:prstGeom prst="rect">
            <a:avLst/>
          </a:prstGeom>
          <a:noFill/>
          <a:ln/>
        </p:spPr>
        <p:txBody>
          <a:bodyPr wrap="square" lIns="0" tIns="0" rIns="0" bIns="0" rtlCol="0" anchor="ctr"/>
          <a:lstStyle/>
          <a:p>
            <a:pPr indent="0" marL="0">
              <a:buNone/>
            </a:pPr>
            <a:r>
              <a:rPr lang="en-US" sz="1200" dirty="0">
                <a:solidFill>
                  <a:srgbClr val="6B7280"/>
                </a:solidFill>
              </a:rPr>
              <a:t>feedback, siguranță, atribuire, autonomie, progresie</a:t>
            </a:r>
            <a:endParaRPr lang="en-US" sz="1200" dirty="0"/>
          </a:p>
        </p:txBody>
      </p:sp>
      <p:sp>
        <p:nvSpPr>
          <p:cNvPr id="11" name="Card concluzie 3"/>
          <p:cNvSpPr/>
          <p:nvPr/>
        </p:nvSpPr>
        <p:spPr>
          <a:xfrm>
            <a:off x="640080" y="3931920"/>
            <a:ext cx="5349240" cy="2011680"/>
          </a:xfrm>
          <a:prstGeom prst="roundRect">
            <a:avLst>
              <a:gd name="adj" fmla="val 5455"/>
            </a:avLst>
          </a:prstGeom>
          <a:solidFill>
            <a:srgbClr val="F3F4F8"/>
          </a:solidFill>
          <a:ln w="12700">
            <a:solidFill>
              <a:srgbClr val="F3F4F8"/>
            </a:solidFill>
            <a:prstDash val="solid"/>
          </a:ln>
        </p:spPr>
      </p:sp>
      <p:sp>
        <p:nvSpPr>
          <p:cNvPr id="12" name="Numar concluzie 3"/>
          <p:cNvSpPr txBox="1"/>
          <p:nvPr/>
        </p:nvSpPr>
        <p:spPr>
          <a:xfrm>
            <a:off x="914400" y="4160520"/>
            <a:ext cx="914400" cy="731520"/>
          </a:xfrm>
          <a:prstGeom prst="rect">
            <a:avLst/>
          </a:prstGeom>
          <a:noFill/>
          <a:ln/>
        </p:spPr>
        <p:txBody>
          <a:bodyPr wrap="square" lIns="0" tIns="0" rIns="0" bIns="0" rtlCol="0" anchor="ctr"/>
          <a:lstStyle/>
          <a:p>
            <a:pPr indent="0" marL="0">
              <a:buNone/>
            </a:pPr>
            <a:r>
              <a:rPr lang="en-US" sz="4000" b="1" dirty="0">
                <a:solidFill>
                  <a:srgbClr val="F96167"/>
                </a:solidFill>
              </a:rPr>
              <a:t>3</a:t>
            </a:r>
            <a:endParaRPr lang="en-US" sz="4000" dirty="0"/>
          </a:p>
        </p:txBody>
      </p:sp>
      <p:sp>
        <p:nvSpPr>
          <p:cNvPr id="13" name="Titlu concluzie 3"/>
          <p:cNvSpPr txBox="1"/>
          <p:nvPr/>
        </p:nvSpPr>
        <p:spPr>
          <a:xfrm>
            <a:off x="914400" y="4846320"/>
            <a:ext cx="4846320" cy="457200"/>
          </a:xfrm>
          <a:prstGeom prst="rect">
            <a:avLst/>
          </a:prstGeom>
          <a:noFill/>
          <a:ln/>
        </p:spPr>
        <p:txBody>
          <a:bodyPr wrap="square" lIns="0" tIns="0" rIns="0" bIns="0" rtlCol="0" anchor="ctr"/>
          <a:lstStyle/>
          <a:p>
            <a:pPr indent="0" marL="0">
              <a:buNone/>
            </a:pPr>
            <a:r>
              <a:rPr lang="en-US" sz="1600" b="1" dirty="0">
                <a:solidFill>
                  <a:srgbClr val="2F3C7E"/>
                </a:solidFill>
              </a:rPr>
              <a:t>Climatul se construiește în fiecare oră</a:t>
            </a:r>
            <a:endParaRPr lang="en-US" sz="1600" dirty="0"/>
          </a:p>
        </p:txBody>
      </p:sp>
      <p:sp>
        <p:nvSpPr>
          <p:cNvPr id="14" name="Text concluzie 3"/>
          <p:cNvSpPr txBox="1"/>
          <p:nvPr/>
        </p:nvSpPr>
        <p:spPr>
          <a:xfrm>
            <a:off x="914400" y="5303520"/>
            <a:ext cx="4846320" cy="548640"/>
          </a:xfrm>
          <a:prstGeom prst="rect">
            <a:avLst/>
          </a:prstGeom>
          <a:noFill/>
          <a:ln/>
        </p:spPr>
        <p:txBody>
          <a:bodyPr wrap="square" lIns="0" tIns="0" rIns="0" bIns="0" rtlCol="0" anchor="ctr"/>
          <a:lstStyle/>
          <a:p>
            <a:pPr indent="0" marL="0">
              <a:buNone/>
            </a:pPr>
            <a:r>
              <a:rPr lang="en-US" sz="1200" dirty="0">
                <a:solidFill>
                  <a:srgbClr val="6B7280"/>
                </a:solidFill>
              </a:rPr>
              <a:t>măiestrie, nu ego: modelul TARGET</a:t>
            </a:r>
            <a:endParaRPr lang="en-US" sz="1200" dirty="0"/>
          </a:p>
        </p:txBody>
      </p:sp>
      <p:sp>
        <p:nvSpPr>
          <p:cNvPr id="15" name="Card concluzie 4"/>
          <p:cNvSpPr/>
          <p:nvPr/>
        </p:nvSpPr>
        <p:spPr>
          <a:xfrm>
            <a:off x="6217920" y="3931920"/>
            <a:ext cx="5349240" cy="2011680"/>
          </a:xfrm>
          <a:prstGeom prst="roundRect">
            <a:avLst>
              <a:gd name="adj" fmla="val 5455"/>
            </a:avLst>
          </a:prstGeom>
          <a:solidFill>
            <a:srgbClr val="2F3C7E"/>
          </a:solidFill>
          <a:ln w="12700">
            <a:solidFill>
              <a:srgbClr val="2F3C7E"/>
            </a:solidFill>
            <a:prstDash val="solid"/>
          </a:ln>
        </p:spPr>
      </p:sp>
      <p:sp>
        <p:nvSpPr>
          <p:cNvPr id="16" name="Numar concluzie 4"/>
          <p:cNvSpPr txBox="1"/>
          <p:nvPr/>
        </p:nvSpPr>
        <p:spPr>
          <a:xfrm>
            <a:off x="6492240" y="4160520"/>
            <a:ext cx="914400" cy="731520"/>
          </a:xfrm>
          <a:prstGeom prst="rect">
            <a:avLst/>
          </a:prstGeom>
          <a:noFill/>
          <a:ln/>
        </p:spPr>
        <p:txBody>
          <a:bodyPr wrap="square" lIns="0" tIns="0" rIns="0" bIns="0" rtlCol="0" anchor="ctr"/>
          <a:lstStyle/>
          <a:p>
            <a:pPr indent="0" marL="0">
              <a:buNone/>
            </a:pPr>
            <a:r>
              <a:rPr lang="en-US" sz="4000" b="1" dirty="0">
                <a:solidFill>
                  <a:srgbClr val="F9E795"/>
                </a:solidFill>
              </a:rPr>
              <a:t>4</a:t>
            </a:r>
            <a:endParaRPr lang="en-US" sz="4000" dirty="0"/>
          </a:p>
        </p:txBody>
      </p:sp>
      <p:sp>
        <p:nvSpPr>
          <p:cNvPr id="17" name="Titlu concluzie 4"/>
          <p:cNvSpPr txBox="1"/>
          <p:nvPr/>
        </p:nvSpPr>
        <p:spPr>
          <a:xfrm>
            <a:off x="6492240" y="4846320"/>
            <a:ext cx="4846320" cy="457200"/>
          </a:xfrm>
          <a:prstGeom prst="rect">
            <a:avLst/>
          </a:prstGeom>
          <a:noFill/>
          <a:ln/>
        </p:spPr>
        <p:txBody>
          <a:bodyPr wrap="square" lIns="0" tIns="0" rIns="0" bIns="0" rtlCol="0" anchor="ctr"/>
          <a:lstStyle/>
          <a:p>
            <a:pPr indent="0" marL="0">
              <a:buNone/>
            </a:pPr>
            <a:r>
              <a:rPr lang="en-US" sz="1600" b="1" dirty="0">
                <a:solidFill>
                  <a:srgbClr val="FFFFFF"/>
                </a:solidFill>
              </a:rPr>
              <a:t>Profesorul nu împinge, creează condiții</a:t>
            </a:r>
            <a:endParaRPr lang="en-US" sz="1600" dirty="0"/>
          </a:p>
        </p:txBody>
      </p:sp>
      <p:sp>
        <p:nvSpPr>
          <p:cNvPr id="18" name="Text concluzie 4"/>
          <p:cNvSpPr txBox="1"/>
          <p:nvPr/>
        </p:nvSpPr>
        <p:spPr>
          <a:xfrm>
            <a:off x="6492240" y="5303520"/>
            <a:ext cx="4846320" cy="548640"/>
          </a:xfrm>
          <a:prstGeom prst="rect">
            <a:avLst/>
          </a:prstGeom>
          <a:noFill/>
          <a:ln/>
        </p:spPr>
        <p:txBody>
          <a:bodyPr wrap="square" lIns="0" tIns="0" rIns="0" bIns="0" rtlCol="0" anchor="ctr"/>
          <a:lstStyle/>
          <a:p>
            <a:pPr indent="0" marL="0">
              <a:buNone/>
            </a:pPr>
            <a:r>
              <a:rPr lang="en-US" sz="1200" dirty="0">
                <a:solidFill>
                  <a:srgbClr val="E8EAF3"/>
                </a:solidFill>
              </a:rPr>
              <a:t>elevii se motivează singuri când au autonomie, competență și apartenență</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914400"/>
          </a:xfrm>
          <a:prstGeom prst="rect">
            <a:avLst/>
          </a:prstGeom>
          <a:noFill/>
          <a:ln/>
        </p:spPr>
        <p:txBody>
          <a:bodyPr wrap="square" lIns="0" tIns="0" rIns="0" bIns="0" rtlCol="0" anchor="ctr"/>
          <a:lstStyle/>
          <a:p>
            <a:pPr algn="l" indent="0" marL="0">
              <a:buNone/>
            </a:pPr>
            <a:r>
              <a:rPr lang="en-US" sz="3200" b="1" dirty="0">
                <a:solidFill>
                  <a:srgbClr val="2F3C7E"/>
                </a:solidFill>
              </a:rPr>
              <a:t>Bibliografie</a:t>
            </a:r>
            <a:endParaRPr lang="en-US" sz="3200" dirty="0"/>
          </a:p>
        </p:txBody>
      </p:sp>
      <p:sp>
        <p:nvSpPr>
          <p:cNvPr id="3" name="Bibliografie col 1"/>
          <p:cNvSpPr txBox="1"/>
          <p:nvPr/>
        </p:nvSpPr>
        <p:spPr>
          <a:xfrm>
            <a:off x="640080" y="1554480"/>
            <a:ext cx="5349240" cy="4754880"/>
          </a:xfrm>
          <a:prstGeom prst="rect">
            <a:avLst/>
          </a:prstGeom>
          <a:noFill/>
          <a:ln/>
        </p:spPr>
        <p:txBody>
          <a:bodyPr wrap="square" lIns="0" tIns="0" rIns="0" bIns="0" rtlCol="0" anchor="t"/>
          <a:lstStyle/>
          <a:p>
            <a:pPr indent="0" marL="0">
              <a:spcAft>
                <a:spcPts val="500"/>
              </a:spcAft>
              <a:buNone/>
            </a:pPr>
            <a:r>
              <a:rPr lang="en-US" sz="1000" dirty="0">
                <a:solidFill>
                  <a:srgbClr val="1F2A44"/>
                </a:solidFill>
              </a:rPr>
              <a:t>Ames, C. (1992). Classrooms: Goals, structures, and student motivation. Journal of Educational Psychology, 84(3), 261-271.</a:t>
            </a:r>
            <a:endParaRPr lang="en-US" sz="1000" dirty="0"/>
          </a:p>
          <a:p>
            <a:pPr indent="0" marL="0">
              <a:spcAft>
                <a:spcPts val="500"/>
              </a:spcAft>
              <a:buNone/>
            </a:pPr>
            <a:r>
              <a:rPr lang="en-US" sz="1000" dirty="0">
                <a:solidFill>
                  <a:srgbClr val="1F2A44"/>
                </a:solidFill>
              </a:rPr>
              <a:t>Bandura, A. (1997). Self-Efficacy: The Exercise of Control. New York: W. H. Freeman.</a:t>
            </a:r>
            <a:endParaRPr lang="en-US" sz="1000" dirty="0"/>
          </a:p>
          <a:p>
            <a:pPr indent="0" marL="0">
              <a:spcAft>
                <a:spcPts val="500"/>
              </a:spcAft>
              <a:buNone/>
            </a:pPr>
            <a:r>
              <a:rPr lang="en-US" sz="1000" dirty="0">
                <a:solidFill>
                  <a:srgbClr val="1F2A44"/>
                </a:solidFill>
              </a:rPr>
              <a:t>Cosmovici, A., Iacob, L. (coord.) (1999). Psihologie școlară. Iași: Polirom.</a:t>
            </a:r>
            <a:endParaRPr lang="en-US" sz="1000" dirty="0"/>
          </a:p>
          <a:p>
            <a:pPr indent="0" marL="0">
              <a:spcAft>
                <a:spcPts val="500"/>
              </a:spcAft>
              <a:buNone/>
            </a:pPr>
            <a:r>
              <a:rPr lang="en-US" sz="1000" dirty="0">
                <a:solidFill>
                  <a:srgbClr val="1F2A44"/>
                </a:solidFill>
              </a:rPr>
              <a:t>Deci, E. L., Ryan, R. M. (1985). Intrinsic Motivation and Self-Determination in Human Behavior. New York: Plenum Press.</a:t>
            </a:r>
            <a:endParaRPr lang="en-US" sz="1000" dirty="0"/>
          </a:p>
          <a:p>
            <a:pPr indent="0" marL="0">
              <a:spcAft>
                <a:spcPts val="500"/>
              </a:spcAft>
              <a:buNone/>
            </a:pPr>
            <a:r>
              <a:rPr lang="en-US" sz="1000" dirty="0">
                <a:solidFill>
                  <a:srgbClr val="1F2A44"/>
                </a:solidFill>
              </a:rPr>
              <a:t>Deci, E. L., Ryan, R. M. (2000). The „what” and „why” of goal pursuits: Human needs and the self-determination of behavior. Psychological Inquiry, 11(4), 227-268.</a:t>
            </a:r>
            <a:endParaRPr lang="en-US" sz="1000" dirty="0"/>
          </a:p>
          <a:p>
            <a:pPr indent="0" marL="0">
              <a:spcAft>
                <a:spcPts val="500"/>
              </a:spcAft>
              <a:buNone/>
            </a:pPr>
            <a:r>
              <a:rPr lang="en-US" sz="1000" dirty="0">
                <a:solidFill>
                  <a:srgbClr val="1F2A44"/>
                </a:solidFill>
              </a:rPr>
              <a:t>Duda, J. L. (2001). Achievement goal research in sport: Pushing the boundaries and clarifying some misunderstandings. În G. C. Roberts (ed.), Advances in Motivation in Sport and Exercise. Champaign, IL: Human Kinetics.</a:t>
            </a:r>
            <a:endParaRPr lang="en-US" sz="1000" dirty="0"/>
          </a:p>
          <a:p>
            <a:pPr indent="0" marL="0">
              <a:spcAft>
                <a:spcPts val="500"/>
              </a:spcAft>
              <a:buNone/>
            </a:pPr>
            <a:r>
              <a:rPr lang="en-US" sz="1000" dirty="0">
                <a:solidFill>
                  <a:srgbClr val="1F2A44"/>
                </a:solidFill>
              </a:rPr>
              <a:t>Dweck, C. S. (2006). Mindset: The New Psychology of Success. New York: Random House.</a:t>
            </a:r>
            <a:endParaRPr lang="en-US" sz="1000" dirty="0"/>
          </a:p>
          <a:p>
            <a:pPr indent="0" marL="0">
              <a:spcAft>
                <a:spcPts val="500"/>
              </a:spcAft>
              <a:buNone/>
            </a:pPr>
            <a:r>
              <a:rPr lang="en-US" sz="1000" dirty="0">
                <a:solidFill>
                  <a:srgbClr val="1F2A44"/>
                </a:solidFill>
              </a:rPr>
              <a:t>Epstein, J. (1989). Family structures and student motivation: A developmental perspective. În C. Ames, R. Ames (eds.), Research on Motivation in Education, vol. 3. San Diego: Academic Press.</a:t>
            </a:r>
            <a:endParaRPr lang="en-US" sz="1000" dirty="0"/>
          </a:p>
          <a:p>
            <a:pPr indent="0" marL="0">
              <a:spcAft>
                <a:spcPts val="500"/>
              </a:spcAft>
              <a:buNone/>
            </a:pPr>
            <a:r>
              <a:rPr lang="en-US" sz="1000" dirty="0">
                <a:solidFill>
                  <a:srgbClr val="1F2A44"/>
                </a:solidFill>
              </a:rPr>
              <a:t>Epuran, M., Holdevici, I., Tonița, F. (2001). Psihologia sportului de performanță. Teorie și practică. București: FEST.</a:t>
            </a:r>
            <a:endParaRPr lang="en-US" sz="1000" dirty="0"/>
          </a:p>
        </p:txBody>
      </p:sp>
      <p:sp>
        <p:nvSpPr>
          <p:cNvPr id="4" name="Bibliografie col 2"/>
          <p:cNvSpPr txBox="1"/>
          <p:nvPr/>
        </p:nvSpPr>
        <p:spPr>
          <a:xfrm>
            <a:off x="6217920" y="1554480"/>
            <a:ext cx="5349240" cy="4754880"/>
          </a:xfrm>
          <a:prstGeom prst="rect">
            <a:avLst/>
          </a:prstGeom>
          <a:noFill/>
          <a:ln/>
        </p:spPr>
        <p:txBody>
          <a:bodyPr wrap="square" lIns="0" tIns="0" rIns="0" bIns="0" rtlCol="0" anchor="t"/>
          <a:lstStyle/>
          <a:p>
            <a:pPr indent="0" marL="0">
              <a:spcAft>
                <a:spcPts val="500"/>
              </a:spcAft>
              <a:buNone/>
            </a:pPr>
            <a:r>
              <a:rPr lang="en-US" sz="1000" dirty="0">
                <a:solidFill>
                  <a:srgbClr val="1F2A44"/>
                </a:solidFill>
              </a:rPr>
              <a:t>Golu, M. (2005). Fundamentele psihologiei, vol. II. București: Editura Fundației România de Mâine.</a:t>
            </a:r>
            <a:endParaRPr lang="en-US" sz="1000" dirty="0"/>
          </a:p>
          <a:p>
            <a:pPr indent="0" marL="0">
              <a:spcAft>
                <a:spcPts val="500"/>
              </a:spcAft>
              <a:buNone/>
            </a:pPr>
            <a:r>
              <a:rPr lang="en-US" sz="1000" dirty="0">
                <a:solidFill>
                  <a:srgbClr val="1F2A44"/>
                </a:solidFill>
              </a:rPr>
              <a:t>Locke, E. A., Latham, G. P. (2002). Building a practically useful theory of goal setting and task motivation. American Psychologist, 57(9), 705-717.</a:t>
            </a:r>
            <a:endParaRPr lang="en-US" sz="1000" dirty="0"/>
          </a:p>
          <a:p>
            <a:pPr indent="0" marL="0">
              <a:spcAft>
                <a:spcPts val="500"/>
              </a:spcAft>
              <a:buNone/>
            </a:pPr>
            <a:r>
              <a:rPr lang="en-US" sz="1000" dirty="0">
                <a:solidFill>
                  <a:srgbClr val="1F2A44"/>
                </a:solidFill>
              </a:rPr>
              <a:t>Maslow, A. H. (1954). Motivation and Personality. New York: Harper &amp; Row.</a:t>
            </a:r>
            <a:endParaRPr lang="en-US" sz="1000" dirty="0"/>
          </a:p>
          <a:p>
            <a:pPr indent="0" marL="0">
              <a:spcAft>
                <a:spcPts val="500"/>
              </a:spcAft>
              <a:buNone/>
            </a:pPr>
            <a:r>
              <a:rPr lang="en-US" sz="1000" dirty="0">
                <a:solidFill>
                  <a:srgbClr val="1F2A44"/>
                </a:solidFill>
              </a:rPr>
              <a:t>Neacșu, I. (1978). Motivație și învățare. București: Editura Didactică și Pedagogică.</a:t>
            </a:r>
            <a:endParaRPr lang="en-US" sz="1000" dirty="0"/>
          </a:p>
          <a:p>
            <a:pPr indent="0" marL="0">
              <a:spcAft>
                <a:spcPts val="500"/>
              </a:spcAft>
              <a:buNone/>
            </a:pPr>
            <a:r>
              <a:rPr lang="en-US" sz="1000" dirty="0">
                <a:solidFill>
                  <a:srgbClr val="1F2A44"/>
                </a:solidFill>
              </a:rPr>
              <a:t>Pintrich, P. R., Schunk, D. H. (2002). Motivation in Education: Theory, Research, and Applications (ed. a 2-a). Upper Saddle River, NJ: Merrill Prentice Hall.</a:t>
            </a:r>
            <a:endParaRPr lang="en-US" sz="1000" dirty="0"/>
          </a:p>
          <a:p>
            <a:pPr indent="0" marL="0">
              <a:spcAft>
                <a:spcPts val="500"/>
              </a:spcAft>
              <a:buNone/>
            </a:pPr>
            <a:r>
              <a:rPr lang="en-US" sz="1000" dirty="0">
                <a:solidFill>
                  <a:srgbClr val="1F2A44"/>
                </a:solidFill>
              </a:rPr>
              <a:t>Weiner, B. (1985). An attributional theory of achievement motivation and emotion. Psychological Review, 92(4), 548-573.</a:t>
            </a:r>
            <a:endParaRPr lang="en-US" sz="1000" dirty="0"/>
          </a:p>
          <a:p>
            <a:pPr indent="0" marL="0">
              <a:spcAft>
                <a:spcPts val="500"/>
              </a:spcAft>
              <a:buNone/>
            </a:pPr>
            <a:r>
              <a:rPr lang="en-US" sz="1000" dirty="0">
                <a:solidFill>
                  <a:srgbClr val="1F2A44"/>
                </a:solidFill>
              </a:rPr>
              <a:t>Yerkes, R. M., Dodson, J. D. (1908). The relation of strength of stimulus to rapidity of habit-formation. Journal of Comparative Neurology and Psychology, 18, 459-482.</a:t>
            </a:r>
            <a:endParaRPr lang="en-US" sz="1000" dirty="0"/>
          </a:p>
          <a:p>
            <a:pPr indent="0" marL="0">
              <a:spcAft>
                <a:spcPts val="500"/>
              </a:spcAft>
              <a:buNone/>
            </a:pPr>
            <a:r>
              <a:rPr lang="en-US" sz="1000" dirty="0">
                <a:solidFill>
                  <a:srgbClr val="1F2A44"/>
                </a:solidFill>
              </a:rPr>
              <a:t>Zlate, M. (2000). Fundamentele psihologiei. București: Pro Humanitate.</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Motivatie EFS">
  <a:themeElements>
    <a:clrScheme name="Motivatie EFS">
      <a:dk1>
        <a:srgbClr val="1F2A44"/>
      </a:dk1>
      <a:lt1>
        <a:srgbClr val="FFFFFF"/>
      </a:lt1>
      <a:dk2>
        <a:srgbClr val="2F3C7E"/>
      </a:dk2>
      <a:lt2>
        <a:srgbClr val="F3F4F8"/>
      </a:lt2>
      <a:accent1>
        <a:srgbClr val="F96167"/>
      </a:accent1>
      <a:accent2>
        <a:srgbClr val="F9E795"/>
      </a:accent2>
      <a:accent3>
        <a:srgbClr val="2F3C7E"/>
      </a:accent3>
      <a:accent4>
        <a:srgbClr val="6B7280"/>
      </a:accent4>
      <a:accent5>
        <a:srgbClr val="FDE2E3"/>
      </a:accent5>
      <a:accent6>
        <a:srgbClr val="E8EAF3"/>
      </a:accent6>
      <a:hlink>
        <a:srgbClr val="2F3C7E"/>
      </a:hlink>
      <a:folHlink>
        <a:srgbClr val="6B7280"/>
      </a:folHlink>
    </a:clrScheme>
    <a:fontScheme name="Motivatie EF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Motivația și rolul ei în activitatea umană</dc:title>
  <dc:subject>PptxGenJS Presentation</dc:subject>
  <dc:creator>Grupa 5104 SPM</dc:creator>
  <cp:lastModifiedBy>Grupa 5104 SPM</cp:lastModifiedBy>
  <cp:revision>1</cp:revision>
  <dcterms:created xsi:type="dcterms:W3CDTF">2026-10-21T16:48:31Z</dcterms:created>
  <dcterms:modified xsi:type="dcterms:W3CDTF">2026-10-21T16:48:31Z</dcterms:modified>
</cp:coreProperties>
</file>